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6" d="100"/>
          <a:sy n="136" d="100"/>
        </p:scale>
        <p:origin x="88"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Applied / Computing</c:v>
                </c:pt>
              </c:strCache>
            </c:strRef>
          </c:tx>
          <c:spPr>
            <a:ln w="25400" cap="flat">
              <a:solidFill>
                <a:srgbClr val="2D6A9F"/>
              </a:solidFill>
              <a:prstDash val="solid"/>
              <a:round/>
            </a:ln>
            <a:effectLst/>
          </c:spPr>
          <c:marker>
            <c:symbol val="circle"/>
            <c:size val="6"/>
            <c:spPr>
              <a:solidFill>
                <a:srgbClr val="2D6A9F"/>
              </a:solidFill>
              <a:ln w="9525" cap="flat">
                <a:solidFill>
                  <a:srgbClr val="2D6A9F"/>
                </a:solidFill>
                <a:prstDash val="solid"/>
                <a:round/>
              </a:ln>
              <a:effectLst/>
            </c:spPr>
          </c:marker>
          <c:xVal>
            <c:numRef>
              <c:f>Sheet1!$A$2:$A$7</c:f>
              <c:numCache>
                <c:formatCode>General</c:formatCode>
                <c:ptCount val="6"/>
                <c:pt idx="0">
                  <c:v>2.5099999999999998</c:v>
                </c:pt>
                <c:pt idx="1">
                  <c:v>1.59</c:v>
                </c:pt>
                <c:pt idx="2">
                  <c:v>-1.46</c:v>
                </c:pt>
                <c:pt idx="3">
                  <c:v>0.61</c:v>
                </c:pt>
                <c:pt idx="4">
                  <c:v>0.23</c:v>
                </c:pt>
                <c:pt idx="5">
                  <c:v>-0.94</c:v>
                </c:pt>
              </c:numCache>
            </c:numRef>
          </c:xVal>
          <c:yVal>
            <c:numRef>
              <c:f>Sheet1!$B$2:$B$7</c:f>
              <c:numCache>
                <c:formatCode>General</c:formatCode>
                <c:ptCount val="6"/>
                <c:pt idx="0">
                  <c:v>37.92</c:v>
                </c:pt>
                <c:pt idx="1">
                  <c:v>31.05</c:v>
                </c:pt>
                <c:pt idx="2">
                  <c:v>28.67</c:v>
                </c:pt>
                <c:pt idx="3">
                  <c:v>33.33</c:v>
                </c:pt>
                <c:pt idx="4">
                  <c:v>28.94</c:v>
                </c:pt>
                <c:pt idx="5">
                  <c:v>44.64</c:v>
                </c:pt>
              </c:numCache>
            </c:numRef>
          </c:yVal>
          <c:smooth val="0"/>
          <c:extLst>
            <c:ext xmlns:c16="http://schemas.microsoft.com/office/drawing/2014/chart" uri="{C3380CC4-5D6E-409C-BE32-E72D297353CC}">
              <c16:uniqueId val="{00000000-3E7F-465E-917F-7C6C985D4884}"/>
            </c:ext>
          </c:extLst>
        </c:ser>
        <c:ser>
          <c:idx val="1"/>
          <c:order val="1"/>
          <c:tx>
            <c:strRef>
              <c:f>Sheet1!$C$1</c:f>
              <c:strCache>
                <c:ptCount val="1"/>
                <c:pt idx="0">
                  <c:v>X_Life</c:v>
                </c:pt>
              </c:strCache>
            </c:strRef>
          </c:tx>
          <c:spPr>
            <a:ln w="25400" cap="flat">
              <a:solidFill>
                <a:srgbClr val="2D6A9F"/>
              </a:solidFill>
              <a:prstDash val="solid"/>
              <a:round/>
            </a:ln>
            <a:effectLst/>
          </c:spPr>
          <c:marker>
            <c:symbol val="circle"/>
            <c:size val="6"/>
            <c:spPr>
              <a:solidFill>
                <a:srgbClr val="2D6A9F"/>
              </a:solidFill>
              <a:ln w="9525" cap="flat">
                <a:solidFill>
                  <a:srgbClr val="2D6A9F"/>
                </a:solidFill>
                <a:prstDash val="solid"/>
                <a:round/>
              </a:ln>
              <a:effectLst/>
            </c:spPr>
          </c:marker>
          <c:xVal>
            <c:numRef>
              <c:f>Sheet1!$A$2:$A$7</c:f>
              <c:numCache>
                <c:formatCode>General</c:formatCode>
                <c:ptCount val="6"/>
                <c:pt idx="0">
                  <c:v>2.5099999999999998</c:v>
                </c:pt>
                <c:pt idx="1">
                  <c:v>1.59</c:v>
                </c:pt>
                <c:pt idx="2">
                  <c:v>-1.46</c:v>
                </c:pt>
                <c:pt idx="3">
                  <c:v>0.61</c:v>
                </c:pt>
                <c:pt idx="4">
                  <c:v>0.23</c:v>
                </c:pt>
                <c:pt idx="5">
                  <c:v>-0.94</c:v>
                </c:pt>
              </c:numCache>
            </c:numRef>
          </c:xVal>
          <c:yVal>
            <c:numRef>
              <c:f>Sheet1!$C$2:$C$7</c:f>
              <c:numCache>
                <c:formatCode>General</c:formatCode>
                <c:ptCount val="6"/>
                <c:pt idx="0">
                  <c:v>0.96</c:v>
                </c:pt>
                <c:pt idx="1">
                  <c:v>0.88</c:v>
                </c:pt>
                <c:pt idx="2">
                  <c:v>0.22</c:v>
                </c:pt>
                <c:pt idx="3">
                  <c:v>0.3</c:v>
                </c:pt>
                <c:pt idx="4">
                  <c:v>-0.12</c:v>
                </c:pt>
                <c:pt idx="5">
                  <c:v>-0.13</c:v>
                </c:pt>
              </c:numCache>
            </c:numRef>
          </c:yVal>
          <c:smooth val="0"/>
          <c:extLst>
            <c:ext xmlns:c16="http://schemas.microsoft.com/office/drawing/2014/chart" uri="{C3380CC4-5D6E-409C-BE32-E72D297353CC}">
              <c16:uniqueId val="{00000001-3E7F-465E-917F-7C6C985D4884}"/>
            </c:ext>
          </c:extLst>
        </c:ser>
        <c:ser>
          <c:idx val="2"/>
          <c:order val="2"/>
          <c:tx>
            <c:strRef>
              <c:f>Sheet1!$D$1</c:f>
              <c:strCache>
                <c:ptCount val="1"/>
                <c:pt idx="0">
                  <c:v>Life / Earth / Physical Sci.</c:v>
                </c:pt>
              </c:strCache>
            </c:strRef>
          </c:tx>
          <c:spPr>
            <a:ln w="25400" cap="flat">
              <a:solidFill>
                <a:srgbClr val="DC2626"/>
              </a:solidFill>
              <a:prstDash val="solid"/>
              <a:round/>
            </a:ln>
            <a:effectLst/>
          </c:spPr>
          <c:marker>
            <c:symbol val="circle"/>
            <c:size val="6"/>
            <c:spPr>
              <a:solidFill>
                <a:srgbClr val="DC2626"/>
              </a:solidFill>
              <a:ln w="9525" cap="flat">
                <a:solidFill>
                  <a:srgbClr val="DC2626"/>
                </a:solidFill>
                <a:prstDash val="solid"/>
                <a:round/>
              </a:ln>
              <a:effectLst/>
            </c:spPr>
          </c:marker>
          <c:xVal>
            <c:numRef>
              <c:f>Sheet1!$A$2:$A$7</c:f>
              <c:numCache>
                <c:formatCode>General</c:formatCode>
                <c:ptCount val="6"/>
                <c:pt idx="0">
                  <c:v>2.5099999999999998</c:v>
                </c:pt>
                <c:pt idx="1">
                  <c:v>1.59</c:v>
                </c:pt>
                <c:pt idx="2">
                  <c:v>-1.46</c:v>
                </c:pt>
                <c:pt idx="3">
                  <c:v>0.61</c:v>
                </c:pt>
                <c:pt idx="4">
                  <c:v>0.23</c:v>
                </c:pt>
                <c:pt idx="5">
                  <c:v>-0.94</c:v>
                </c:pt>
              </c:numCache>
            </c:numRef>
          </c:xVal>
          <c:yVal>
            <c:numRef>
              <c:f>Sheet1!$D$2:$D$7</c:f>
              <c:numCache>
                <c:formatCode>General</c:formatCode>
                <c:ptCount val="6"/>
                <c:pt idx="0">
                  <c:v>30.99</c:v>
                </c:pt>
                <c:pt idx="1">
                  <c:v>35.159999999999997</c:v>
                </c:pt>
                <c:pt idx="2">
                  <c:v>39.49</c:v>
                </c:pt>
                <c:pt idx="3">
                  <c:v>26.7</c:v>
                </c:pt>
                <c:pt idx="4">
                  <c:v>36.409999999999997</c:v>
                </c:pt>
                <c:pt idx="5">
                  <c:v>27.98</c:v>
                </c:pt>
              </c:numCache>
            </c:numRef>
          </c:yVal>
          <c:smooth val="0"/>
          <c:extLst>
            <c:ext xmlns:c16="http://schemas.microsoft.com/office/drawing/2014/chart" uri="{C3380CC4-5D6E-409C-BE32-E72D297353CC}">
              <c16:uniqueId val="{00000002-3E7F-465E-917F-7C6C985D4884}"/>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Category Growth (% point change)</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Win Rate (%)</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Award Among Winners ($)</c:v>
                </c:pt>
              </c:strCache>
            </c:strRef>
          </c:tx>
          <c:spPr>
            <a:solidFill>
              <a:srgbClr val="2D6A9F"/>
            </a:solidFill>
            <a:effectLst/>
          </c:spPr>
          <c:invertIfNegative val="0"/>
          <c:dLbls>
            <c:numFmt formatCode="#,##0" sourceLinked="0"/>
            <c:spPr>
              <a:noFill/>
              <a:ln>
                <a:noFill/>
              </a:ln>
              <a:effectLst/>
            </c:spPr>
            <c:txPr>
              <a:bodyPr/>
              <a:lstStyle/>
              <a:p>
                <a:pPr>
                  <a:defRPr sz="800" b="0" i="0" u="none" strike="noStrike">
                    <a:solidFill>
                      <a:srgbClr val="64748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Earth &amp; Env. Sciences</c:v>
                </c:pt>
                <c:pt idx="1">
                  <c:v>Energy: Chemical</c:v>
                </c:pt>
                <c:pt idx="2">
                  <c:v>Embedded Systems</c:v>
                </c:pt>
                <c:pt idx="3">
                  <c:v>Env. Engineering</c:v>
                </c:pt>
                <c:pt idx="4">
                  <c:v>Translational Med.</c:v>
                </c:pt>
                <c:pt idx="5">
                  <c:v>Behavioral &amp; Social</c:v>
                </c:pt>
                <c:pt idx="6">
                  <c:v>Eng. Mechanics</c:v>
                </c:pt>
                <c:pt idx="7">
                  <c:v>Systems Software</c:v>
                </c:pt>
                <c:pt idx="8">
                  <c:v>Biochemistry</c:v>
                </c:pt>
                <c:pt idx="9">
                  <c:v>Chemistry</c:v>
                </c:pt>
              </c:strCache>
            </c:strRef>
          </c:cat>
          <c:val>
            <c:numRef>
              <c:f>Sheet1!$B$2:$B$11</c:f>
              <c:numCache>
                <c:formatCode>General</c:formatCode>
                <c:ptCount val="10"/>
                <c:pt idx="0">
                  <c:v>10382</c:v>
                </c:pt>
                <c:pt idx="1">
                  <c:v>8302</c:v>
                </c:pt>
                <c:pt idx="2">
                  <c:v>7740</c:v>
                </c:pt>
                <c:pt idx="3">
                  <c:v>7432</c:v>
                </c:pt>
                <c:pt idx="4">
                  <c:v>6819</c:v>
                </c:pt>
                <c:pt idx="5">
                  <c:v>6300</c:v>
                </c:pt>
                <c:pt idx="6">
                  <c:v>6223</c:v>
                </c:pt>
                <c:pt idx="7">
                  <c:v>5792</c:v>
                </c:pt>
                <c:pt idx="8">
                  <c:v>5182</c:v>
                </c:pt>
                <c:pt idx="9">
                  <c:v>4975</c:v>
                </c:pt>
              </c:numCache>
            </c:numRef>
          </c:val>
          <c:extLst>
            <c:ext xmlns:c16="http://schemas.microsoft.com/office/drawing/2014/chart" uri="{C3380CC4-5D6E-409C-BE32-E72D297353CC}">
              <c16:uniqueId val="{00000000-81A4-49A4-B213-C03D26BEE3D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Avg Award ($)</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6766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873A"/>
          </a:solidFill>
          <a:ln w="12700">
            <a:solidFill>
              <a:srgbClr val="E8873A"/>
            </a:solidFill>
            <a:prstDash val="solid"/>
          </a:ln>
        </p:spPr>
        <p:txBody>
          <a:bodyPr/>
          <a:lstStyle/>
          <a:p>
            <a:endParaRPr lang="en-US"/>
          </a:p>
        </p:txBody>
      </p:sp>
      <p:sp>
        <p:nvSpPr>
          <p:cNvPr id="3" name="Text 1"/>
          <p:cNvSpPr/>
          <p:nvPr/>
        </p:nvSpPr>
        <p:spPr>
          <a:xfrm>
            <a:off x="502920" y="457200"/>
            <a:ext cx="8412480" cy="274320"/>
          </a:xfrm>
          <a:prstGeom prst="rect">
            <a:avLst/>
          </a:prstGeom>
          <a:noFill/>
          <a:ln/>
        </p:spPr>
        <p:txBody>
          <a:bodyPr wrap="square" lIns="0" tIns="0" rIns="0" bIns="0" rtlCol="0" anchor="ctr"/>
          <a:lstStyle/>
          <a:p>
            <a:pPr marL="0" indent="0">
              <a:buNone/>
            </a:pPr>
            <a:r>
              <a:rPr lang="en-US" sz="1000" dirty="0">
                <a:solidFill>
                  <a:srgbClr val="8BAED4"/>
                </a:solidFill>
                <a:latin typeface="Calibri" pitchFamily="34" charset="0"/>
                <a:ea typeface="Calibri" pitchFamily="34" charset="-122"/>
                <a:cs typeface="Calibri" pitchFamily="34" charset="-120"/>
              </a:rPr>
              <a:t>INFO 4707  ·  Spring 2026  ·  University of North Texas</a:t>
            </a:r>
            <a:endParaRPr lang="en-US" sz="1000" dirty="0"/>
          </a:p>
        </p:txBody>
      </p:sp>
      <p:sp>
        <p:nvSpPr>
          <p:cNvPr id="4" name="Text 2"/>
          <p:cNvSpPr/>
          <p:nvPr/>
        </p:nvSpPr>
        <p:spPr>
          <a:xfrm>
            <a:off x="502920" y="1005840"/>
            <a:ext cx="8046720" cy="173736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Visualizing International Science</a:t>
            </a:r>
            <a:endParaRPr lang="en-US" sz="3800" dirty="0"/>
          </a:p>
          <a:p>
            <a:pPr marL="0" indent="0">
              <a:buNone/>
            </a:pPr>
            <a:r>
              <a:rPr lang="en-US" sz="3800" b="1" dirty="0">
                <a:solidFill>
                  <a:srgbClr val="FFFFFF"/>
                </a:solidFill>
                <a:latin typeface="Georgia" pitchFamily="34" charset="0"/>
                <a:ea typeface="Georgia" pitchFamily="34" charset="-122"/>
                <a:cs typeface="Georgia" pitchFamily="34" charset="-120"/>
              </a:rPr>
              <a:t>and Engineering Fair Trends</a:t>
            </a:r>
            <a:endParaRPr lang="en-US" sz="3800" dirty="0"/>
          </a:p>
        </p:txBody>
      </p:sp>
      <p:sp>
        <p:nvSpPr>
          <p:cNvPr id="5" name="Text 3"/>
          <p:cNvSpPr/>
          <p:nvPr/>
        </p:nvSpPr>
        <p:spPr>
          <a:xfrm>
            <a:off x="502920" y="2697480"/>
            <a:ext cx="3657600" cy="502920"/>
          </a:xfrm>
          <a:prstGeom prst="rect">
            <a:avLst/>
          </a:prstGeom>
          <a:noFill/>
          <a:ln/>
        </p:spPr>
        <p:txBody>
          <a:bodyPr wrap="square" lIns="0" tIns="0" rIns="0" bIns="0" rtlCol="0" anchor="ctr"/>
          <a:lstStyle/>
          <a:p>
            <a:pPr marL="0" indent="0">
              <a:buNone/>
            </a:pPr>
            <a:r>
              <a:rPr lang="en-US" sz="2200" b="1" dirty="0">
                <a:solidFill>
                  <a:srgbClr val="E8873A"/>
                </a:solidFill>
                <a:latin typeface="Georgia" pitchFamily="34" charset="0"/>
                <a:ea typeface="Georgia" pitchFamily="34" charset="-122"/>
                <a:cs typeface="Georgia" pitchFamily="34" charset="-120"/>
              </a:rPr>
              <a:t>2014 – 2024</a:t>
            </a:r>
            <a:endParaRPr lang="en-US" sz="2200" dirty="0"/>
          </a:p>
        </p:txBody>
      </p:sp>
      <p:sp>
        <p:nvSpPr>
          <p:cNvPr id="6" name="Text 4"/>
          <p:cNvSpPr/>
          <p:nvPr/>
        </p:nvSpPr>
        <p:spPr>
          <a:xfrm>
            <a:off x="502920" y="3383280"/>
            <a:ext cx="4572000" cy="3200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Sophie Krajmalnik</a:t>
            </a:r>
            <a:endParaRPr lang="en-US" sz="1400" dirty="0"/>
          </a:p>
        </p:txBody>
      </p:sp>
      <p:sp>
        <p:nvSpPr>
          <p:cNvPr id="7" name="Text 5"/>
          <p:cNvSpPr/>
          <p:nvPr/>
        </p:nvSpPr>
        <p:spPr>
          <a:xfrm>
            <a:off x="502920" y="3931920"/>
            <a:ext cx="2011680" cy="365760"/>
          </a:xfrm>
          <a:prstGeom prst="rect">
            <a:avLst/>
          </a:prstGeom>
          <a:noFill/>
          <a:ln/>
        </p:spPr>
        <p:txBody>
          <a:bodyPr wrap="square" lIns="0" tIns="0" rIns="0" bIns="0" rtlCol="0" anchor="ctr"/>
          <a:lstStyle/>
          <a:p>
            <a:pPr marL="0" indent="0">
              <a:buNone/>
            </a:pPr>
            <a:r>
              <a:rPr lang="en-US" sz="1800" b="1" dirty="0">
                <a:solidFill>
                  <a:srgbClr val="E8873A"/>
                </a:solidFill>
                <a:latin typeface="Georgia" pitchFamily="34" charset="0"/>
                <a:ea typeface="Georgia" pitchFamily="34" charset="-122"/>
                <a:cs typeface="Georgia" pitchFamily="34" charset="-120"/>
              </a:rPr>
              <a:t>14,873</a:t>
            </a:r>
            <a:endParaRPr lang="en-US" sz="1800" dirty="0"/>
          </a:p>
        </p:txBody>
      </p:sp>
      <p:sp>
        <p:nvSpPr>
          <p:cNvPr id="8" name="Text 6"/>
          <p:cNvSpPr/>
          <p:nvPr/>
        </p:nvSpPr>
        <p:spPr>
          <a:xfrm>
            <a:off x="502920" y="4315968"/>
            <a:ext cx="2011680" cy="228600"/>
          </a:xfrm>
          <a:prstGeom prst="rect">
            <a:avLst/>
          </a:prstGeom>
          <a:noFill/>
          <a:ln/>
        </p:spPr>
        <p:txBody>
          <a:bodyPr wrap="square" lIns="0" tIns="0" rIns="0" bIns="0" rtlCol="0" anchor="ctr"/>
          <a:lstStyle/>
          <a:p>
            <a:pPr marL="0" indent="0">
              <a:buNone/>
            </a:pPr>
            <a:r>
              <a:rPr lang="en-US" sz="900" dirty="0">
                <a:solidFill>
                  <a:srgbClr val="8BAED4"/>
                </a:solidFill>
                <a:latin typeface="Calibri" pitchFamily="34" charset="0"/>
                <a:ea typeface="Calibri" pitchFamily="34" charset="-122"/>
                <a:cs typeface="Calibri" pitchFamily="34" charset="-120"/>
              </a:rPr>
              <a:t>Projects Analyzed</a:t>
            </a:r>
            <a:endParaRPr lang="en-US" sz="900" dirty="0"/>
          </a:p>
        </p:txBody>
      </p:sp>
      <p:sp>
        <p:nvSpPr>
          <p:cNvPr id="9" name="Text 7"/>
          <p:cNvSpPr/>
          <p:nvPr/>
        </p:nvSpPr>
        <p:spPr>
          <a:xfrm>
            <a:off x="2651760" y="3931920"/>
            <a:ext cx="2011680" cy="365760"/>
          </a:xfrm>
          <a:prstGeom prst="rect">
            <a:avLst/>
          </a:prstGeom>
          <a:noFill/>
          <a:ln/>
        </p:spPr>
        <p:txBody>
          <a:bodyPr wrap="square" lIns="0" tIns="0" rIns="0" bIns="0" rtlCol="0" anchor="ctr"/>
          <a:lstStyle/>
          <a:p>
            <a:pPr marL="0" indent="0">
              <a:buNone/>
            </a:pPr>
            <a:r>
              <a:rPr lang="en-US" sz="1800" b="1" dirty="0">
                <a:solidFill>
                  <a:srgbClr val="E8873A"/>
                </a:solidFill>
                <a:latin typeface="Georgia" pitchFamily="34" charset="0"/>
                <a:ea typeface="Georgia" pitchFamily="34" charset="-122"/>
                <a:cs typeface="Georgia" pitchFamily="34" charset="-120"/>
              </a:rPr>
              <a:t>2014–2024</a:t>
            </a:r>
            <a:endParaRPr lang="en-US" sz="1800" dirty="0"/>
          </a:p>
        </p:txBody>
      </p:sp>
      <p:sp>
        <p:nvSpPr>
          <p:cNvPr id="10" name="Text 8"/>
          <p:cNvSpPr/>
          <p:nvPr/>
        </p:nvSpPr>
        <p:spPr>
          <a:xfrm>
            <a:off x="2651760" y="4315968"/>
            <a:ext cx="2011680" cy="228600"/>
          </a:xfrm>
          <a:prstGeom prst="rect">
            <a:avLst/>
          </a:prstGeom>
          <a:noFill/>
          <a:ln/>
        </p:spPr>
        <p:txBody>
          <a:bodyPr wrap="square" lIns="0" tIns="0" rIns="0" bIns="0" rtlCol="0" anchor="ctr"/>
          <a:lstStyle/>
          <a:p>
            <a:pPr marL="0" indent="0">
              <a:buNone/>
            </a:pPr>
            <a:r>
              <a:rPr lang="en-US" sz="900" dirty="0">
                <a:solidFill>
                  <a:srgbClr val="8BAED4"/>
                </a:solidFill>
                <a:latin typeface="Calibri" pitchFamily="34" charset="0"/>
                <a:ea typeface="Calibri" pitchFamily="34" charset="-122"/>
                <a:cs typeface="Calibri" pitchFamily="34" charset="-120"/>
              </a:rPr>
              <a:t>Years Covered</a:t>
            </a:r>
            <a:endParaRPr lang="en-US" sz="900" dirty="0"/>
          </a:p>
        </p:txBody>
      </p:sp>
      <p:sp>
        <p:nvSpPr>
          <p:cNvPr id="11" name="Text 9"/>
          <p:cNvSpPr/>
          <p:nvPr/>
        </p:nvSpPr>
        <p:spPr>
          <a:xfrm>
            <a:off x="4800600" y="3931920"/>
            <a:ext cx="2011680" cy="365760"/>
          </a:xfrm>
          <a:prstGeom prst="rect">
            <a:avLst/>
          </a:prstGeom>
          <a:noFill/>
          <a:ln/>
        </p:spPr>
        <p:txBody>
          <a:bodyPr wrap="square" lIns="0" tIns="0" rIns="0" bIns="0" rtlCol="0" anchor="ctr"/>
          <a:lstStyle/>
          <a:p>
            <a:pPr marL="0" indent="0">
              <a:buNone/>
            </a:pPr>
            <a:r>
              <a:rPr lang="en-US" sz="1800" b="1" dirty="0">
                <a:solidFill>
                  <a:srgbClr val="E8873A"/>
                </a:solidFill>
                <a:latin typeface="Georgia" pitchFamily="34" charset="0"/>
                <a:ea typeface="Georgia" pitchFamily="34" charset="-122"/>
                <a:cs typeface="Georgia" pitchFamily="34" charset="-120"/>
              </a:rPr>
              <a:t>90</a:t>
            </a:r>
            <a:endParaRPr lang="en-US" sz="1800" dirty="0"/>
          </a:p>
        </p:txBody>
      </p:sp>
      <p:sp>
        <p:nvSpPr>
          <p:cNvPr id="12" name="Text 10"/>
          <p:cNvSpPr/>
          <p:nvPr/>
        </p:nvSpPr>
        <p:spPr>
          <a:xfrm>
            <a:off x="4800600" y="4315968"/>
            <a:ext cx="2011680" cy="228600"/>
          </a:xfrm>
          <a:prstGeom prst="rect">
            <a:avLst/>
          </a:prstGeom>
          <a:noFill/>
          <a:ln/>
        </p:spPr>
        <p:txBody>
          <a:bodyPr wrap="square" lIns="0" tIns="0" rIns="0" bIns="0" rtlCol="0" anchor="ctr"/>
          <a:lstStyle/>
          <a:p>
            <a:pPr marL="0" indent="0">
              <a:buNone/>
            </a:pPr>
            <a:r>
              <a:rPr lang="en-US" sz="900" dirty="0">
                <a:solidFill>
                  <a:srgbClr val="8BAED4"/>
                </a:solidFill>
                <a:latin typeface="Calibri" pitchFamily="34" charset="0"/>
                <a:ea typeface="Calibri" pitchFamily="34" charset="-122"/>
                <a:cs typeface="Calibri" pitchFamily="34" charset="-120"/>
              </a:rPr>
              <a:t>Countries</a:t>
            </a:r>
            <a:endParaRPr lang="en-US" sz="900" dirty="0"/>
          </a:p>
        </p:txBody>
      </p:sp>
      <p:sp>
        <p:nvSpPr>
          <p:cNvPr id="13" name="Text 11"/>
          <p:cNvSpPr/>
          <p:nvPr/>
        </p:nvSpPr>
        <p:spPr>
          <a:xfrm>
            <a:off x="6949440" y="3931920"/>
            <a:ext cx="2011680" cy="365760"/>
          </a:xfrm>
          <a:prstGeom prst="rect">
            <a:avLst/>
          </a:prstGeom>
          <a:noFill/>
          <a:ln/>
        </p:spPr>
        <p:txBody>
          <a:bodyPr wrap="square" lIns="0" tIns="0" rIns="0" bIns="0" rtlCol="0" anchor="ctr"/>
          <a:lstStyle/>
          <a:p>
            <a:pPr marL="0" indent="0">
              <a:buNone/>
            </a:pPr>
            <a:r>
              <a:rPr lang="en-US" sz="1800" b="1" dirty="0">
                <a:solidFill>
                  <a:srgbClr val="E8873A"/>
                </a:solidFill>
                <a:latin typeface="Georgia" pitchFamily="34" charset="0"/>
                <a:ea typeface="Georgia" pitchFamily="34" charset="-122"/>
                <a:cs typeface="Georgia" pitchFamily="34" charset="-120"/>
              </a:rPr>
              <a:t>25</a:t>
            </a:r>
            <a:endParaRPr lang="en-US" sz="1800" dirty="0"/>
          </a:p>
        </p:txBody>
      </p:sp>
      <p:sp>
        <p:nvSpPr>
          <p:cNvPr id="14" name="Text 12"/>
          <p:cNvSpPr/>
          <p:nvPr/>
        </p:nvSpPr>
        <p:spPr>
          <a:xfrm>
            <a:off x="6949440" y="4315968"/>
            <a:ext cx="2011680" cy="228600"/>
          </a:xfrm>
          <a:prstGeom prst="rect">
            <a:avLst/>
          </a:prstGeom>
          <a:noFill/>
          <a:ln/>
        </p:spPr>
        <p:txBody>
          <a:bodyPr wrap="square" lIns="0" tIns="0" rIns="0" bIns="0" rtlCol="0" anchor="ctr"/>
          <a:lstStyle/>
          <a:p>
            <a:pPr marL="0" indent="0">
              <a:buNone/>
            </a:pPr>
            <a:r>
              <a:rPr lang="en-US" sz="900" dirty="0">
                <a:solidFill>
                  <a:srgbClr val="8BAED4"/>
                </a:solidFill>
                <a:latin typeface="Calibri" pitchFamily="34" charset="0"/>
                <a:ea typeface="Calibri" pitchFamily="34" charset="-122"/>
                <a:cs typeface="Calibri" pitchFamily="34" charset="-120"/>
              </a:rPr>
              <a:t>ISEF Categories</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26739"/>
    </mc:Choice>
    <mc:Fallback xmlns="">
      <p:transition spd="slow" advTm="2673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BACKGROUND</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is ISEF?</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pinnacle of pre-college science competition worldwide</a:t>
            </a:r>
            <a:endParaRPr lang="en-US" sz="1200" dirty="0"/>
          </a:p>
        </p:txBody>
      </p:sp>
      <p:sp>
        <p:nvSpPr>
          <p:cNvPr id="6" name="Text 4"/>
          <p:cNvSpPr/>
          <p:nvPr/>
        </p:nvSpPr>
        <p:spPr>
          <a:xfrm>
            <a:off x="457200" y="1371600"/>
            <a:ext cx="4754880" cy="3474720"/>
          </a:xfrm>
          <a:prstGeom prst="rect">
            <a:avLst/>
          </a:prstGeom>
          <a:noFill/>
          <a:ln/>
        </p:spPr>
        <p:txBody>
          <a:bodyPr wrap="square"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The International Science and Engineering Fair (ISEF) is the world's largest international pre-college science competition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held in 1950, now sponsored by Regeneron since 2020</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~1,700 finalists from 75+ countries compete annually after advancing through regional and national selections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Students submit original research projects with abstracts, compete for $9M+ in prizes and scholarships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Finalists represent the top ~0.03% of the estimated 7 million students who participate in affiliated local fairs</a:t>
            </a:r>
            <a:endParaRPr lang="en-US" sz="1100" dirty="0"/>
          </a:p>
        </p:txBody>
      </p:sp>
      <p:sp>
        <p:nvSpPr>
          <p:cNvPr id="7" name="Shape 5"/>
          <p:cNvSpPr/>
          <p:nvPr/>
        </p:nvSpPr>
        <p:spPr>
          <a:xfrm>
            <a:off x="5394960" y="1371600"/>
            <a:ext cx="1783080" cy="1005840"/>
          </a:xfrm>
          <a:prstGeom prst="rect">
            <a:avLst/>
          </a:prstGeom>
          <a:solidFill>
            <a:srgbClr val="2D6A9F"/>
          </a:solidFill>
          <a:ln w="12700">
            <a:solidFill>
              <a:srgbClr val="2D6A9F"/>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5394960" y="1444752"/>
            <a:ext cx="1783080" cy="553212"/>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$9M+</a:t>
            </a:r>
            <a:endParaRPr lang="en-US" sz="3200" dirty="0"/>
          </a:p>
        </p:txBody>
      </p:sp>
      <p:sp>
        <p:nvSpPr>
          <p:cNvPr id="9" name="Text 7"/>
          <p:cNvSpPr/>
          <p:nvPr/>
        </p:nvSpPr>
        <p:spPr>
          <a:xfrm>
            <a:off x="5394960" y="1924812"/>
            <a:ext cx="1783080" cy="42245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Awarded Annually</a:t>
            </a:r>
            <a:endParaRPr lang="en-US" sz="1000" dirty="0"/>
          </a:p>
        </p:txBody>
      </p:sp>
      <p:sp>
        <p:nvSpPr>
          <p:cNvPr id="10" name="Shape 8"/>
          <p:cNvSpPr/>
          <p:nvPr/>
        </p:nvSpPr>
        <p:spPr>
          <a:xfrm>
            <a:off x="7315200" y="1371600"/>
            <a:ext cx="1554480" cy="100584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7315200" y="1444752"/>
            <a:ext cx="1554480" cy="553212"/>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75+</a:t>
            </a:r>
            <a:endParaRPr lang="en-US" sz="3200" dirty="0"/>
          </a:p>
        </p:txBody>
      </p:sp>
      <p:sp>
        <p:nvSpPr>
          <p:cNvPr id="12" name="Text 10"/>
          <p:cNvSpPr/>
          <p:nvPr/>
        </p:nvSpPr>
        <p:spPr>
          <a:xfrm>
            <a:off x="7315200" y="1924812"/>
            <a:ext cx="1554480" cy="42245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Countries</a:t>
            </a:r>
            <a:endParaRPr lang="en-US" sz="1000" dirty="0"/>
          </a:p>
        </p:txBody>
      </p:sp>
      <p:sp>
        <p:nvSpPr>
          <p:cNvPr id="13" name="Shape 11"/>
          <p:cNvSpPr/>
          <p:nvPr/>
        </p:nvSpPr>
        <p:spPr>
          <a:xfrm>
            <a:off x="5394960" y="2514600"/>
            <a:ext cx="1783080" cy="1005840"/>
          </a:xfrm>
          <a:prstGeom prst="rect">
            <a:avLst/>
          </a:prstGeom>
          <a:solidFill>
            <a:srgbClr val="E8873A"/>
          </a:solidFill>
          <a:ln w="12700">
            <a:solidFill>
              <a:srgbClr val="E8873A"/>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5394960" y="2587752"/>
            <a:ext cx="1783080" cy="553212"/>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1,700</a:t>
            </a:r>
            <a:endParaRPr lang="en-US" sz="3200" dirty="0"/>
          </a:p>
        </p:txBody>
      </p:sp>
      <p:sp>
        <p:nvSpPr>
          <p:cNvPr id="15" name="Text 13"/>
          <p:cNvSpPr/>
          <p:nvPr/>
        </p:nvSpPr>
        <p:spPr>
          <a:xfrm>
            <a:off x="5394960" y="3067812"/>
            <a:ext cx="1783080" cy="42245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Finalists / Year</a:t>
            </a:r>
            <a:endParaRPr lang="en-US" sz="1000" dirty="0"/>
          </a:p>
        </p:txBody>
      </p:sp>
      <p:sp>
        <p:nvSpPr>
          <p:cNvPr id="16" name="Shape 14"/>
          <p:cNvSpPr/>
          <p:nvPr/>
        </p:nvSpPr>
        <p:spPr>
          <a:xfrm>
            <a:off x="7315200" y="2514600"/>
            <a:ext cx="1554480" cy="1005840"/>
          </a:xfrm>
          <a:prstGeom prst="rect">
            <a:avLst/>
          </a:prstGeom>
          <a:solidFill>
            <a:srgbClr val="2D6A9F"/>
          </a:solidFill>
          <a:ln w="12700">
            <a:solidFill>
              <a:srgbClr val="2D6A9F"/>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7315200" y="2587752"/>
            <a:ext cx="1554480" cy="553212"/>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22</a:t>
            </a:r>
            <a:endParaRPr lang="en-US" sz="3200" dirty="0"/>
          </a:p>
        </p:txBody>
      </p:sp>
      <p:sp>
        <p:nvSpPr>
          <p:cNvPr id="18" name="Text 16"/>
          <p:cNvSpPr/>
          <p:nvPr/>
        </p:nvSpPr>
        <p:spPr>
          <a:xfrm>
            <a:off x="7315200" y="3067812"/>
            <a:ext cx="1554480" cy="42245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Categories</a:t>
            </a:r>
            <a:endParaRPr lang="en-US" sz="1000" dirty="0"/>
          </a:p>
        </p:txBody>
      </p:sp>
      <p:sp>
        <p:nvSpPr>
          <p:cNvPr id="19" name="Shape 17"/>
          <p:cNvSpPr/>
          <p:nvPr/>
        </p:nvSpPr>
        <p:spPr>
          <a:xfrm>
            <a:off x="5394960" y="3703320"/>
            <a:ext cx="3474720" cy="1143000"/>
          </a:xfrm>
          <a:prstGeom prst="rect">
            <a:avLst/>
          </a:prstGeom>
          <a:solidFill>
            <a:srgbClr val="F4F7FB"/>
          </a:solidFill>
          <a:ln w="19050">
            <a:solidFill>
              <a:srgbClr val="5B9BD5"/>
            </a:solidFill>
            <a:prstDash val="solid"/>
          </a:ln>
          <a:effectLst>
            <a:outerShdw blurRad="101600" dist="38100" dir="8100000" algn="bl" rotWithShape="0">
              <a:srgbClr val="000000">
                <a:alpha val="12000"/>
              </a:srgbClr>
            </a:outerShdw>
          </a:effectLst>
        </p:spPr>
        <p:txBody>
          <a:bodyPr/>
          <a:lstStyle/>
          <a:p>
            <a:endParaRPr lang="en-US"/>
          </a:p>
        </p:txBody>
      </p:sp>
      <p:sp>
        <p:nvSpPr>
          <p:cNvPr id="20" name="Text 18"/>
          <p:cNvSpPr/>
          <p:nvPr/>
        </p:nvSpPr>
        <p:spPr>
          <a:xfrm>
            <a:off x="5486400" y="3767328"/>
            <a:ext cx="3200400" cy="274320"/>
          </a:xfrm>
          <a:prstGeom prst="rect">
            <a:avLst/>
          </a:prstGeom>
          <a:noFill/>
          <a:ln/>
        </p:spPr>
        <p:txBody>
          <a:bodyPr wrap="square" lIns="0" tIns="0" rIns="0" bIns="0" rtlCol="0" anchor="ctr"/>
          <a:lstStyle/>
          <a:p>
            <a:pPr marL="0" indent="0">
              <a:buNone/>
            </a:pPr>
            <a:r>
              <a:rPr lang="en-US" sz="1000" b="1" dirty="0">
                <a:solidFill>
                  <a:srgbClr val="2D6A9F"/>
                </a:solidFill>
                <a:latin typeface="Calibri" pitchFamily="34" charset="0"/>
                <a:ea typeface="Calibri" pitchFamily="34" charset="-122"/>
                <a:cs typeface="Calibri" pitchFamily="34" charset="-120"/>
              </a:rPr>
              <a:t>Research Gap</a:t>
            </a:r>
            <a:endParaRPr lang="en-US" sz="1000" dirty="0"/>
          </a:p>
        </p:txBody>
      </p:sp>
      <p:sp>
        <p:nvSpPr>
          <p:cNvPr id="21" name="Text 19"/>
          <p:cNvSpPr/>
          <p:nvPr/>
        </p:nvSpPr>
        <p:spPr>
          <a:xfrm>
            <a:off x="5486400" y="4041648"/>
            <a:ext cx="3291840" cy="6858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Existing literature focuses on student experience and motivation — not on what topics students choose, how those topics shift over time, or whether topic choice predicts success.</a:t>
            </a:r>
            <a:endParaRPr lang="en-US" sz="950" dirty="0"/>
          </a:p>
        </p:txBody>
      </p:sp>
    </p:spTree>
  </p:cSld>
  <p:clrMapOvr>
    <a:masterClrMapping/>
  </p:clrMapOvr>
  <mc:AlternateContent xmlns:mc="http://schemas.openxmlformats.org/markup-compatibility/2006" xmlns:p14="http://schemas.microsoft.com/office/powerpoint/2010/main">
    <mc:Choice Requires="p14">
      <p:transition spd="slow" p14:dur="2000" advTm="71401"/>
    </mc:Choice>
    <mc:Fallback xmlns="">
      <p:transition spd="slow" advTm="7140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RESEARCH QUESTION</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Three Hypotheses Tested</a:t>
            </a:r>
            <a:endParaRPr lang="en-US" sz="2800" dirty="0"/>
          </a:p>
        </p:txBody>
      </p:sp>
      <p:sp>
        <p:nvSpPr>
          <p:cNvPr id="5" name="Text 3"/>
          <p:cNvSpPr/>
          <p:nvPr/>
        </p:nvSpPr>
        <p:spPr>
          <a:xfrm>
            <a:off x="457200" y="1234440"/>
            <a:ext cx="8412480" cy="5029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To what extent do patterns of topic popularity in ISEF abstracts correlate with competitive outcomes — and does winning often mean winning big?</a:t>
            </a:r>
            <a:endParaRPr lang="en-US" sz="1300" dirty="0"/>
          </a:p>
        </p:txBody>
      </p:sp>
      <p:sp>
        <p:nvSpPr>
          <p:cNvPr id="6" name="Shape 4"/>
          <p:cNvSpPr/>
          <p:nvPr/>
        </p:nvSpPr>
        <p:spPr>
          <a:xfrm>
            <a:off x="457200" y="1874520"/>
            <a:ext cx="2743200" cy="274320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457200" y="1874520"/>
            <a:ext cx="2743200" cy="457200"/>
          </a:xfrm>
          <a:prstGeom prst="rect">
            <a:avLst/>
          </a:prstGeom>
          <a:solidFill>
            <a:srgbClr val="2D6A9F"/>
          </a:solidFill>
          <a:ln w="12700">
            <a:solidFill>
              <a:srgbClr val="2D6A9F"/>
            </a:solidFill>
            <a:prstDash val="solid"/>
          </a:ln>
        </p:spPr>
        <p:txBody>
          <a:bodyPr/>
          <a:lstStyle/>
          <a:p>
            <a:endParaRPr lang="en-US"/>
          </a:p>
        </p:txBody>
      </p:sp>
      <p:sp>
        <p:nvSpPr>
          <p:cNvPr id="8" name="Text 6"/>
          <p:cNvSpPr/>
          <p:nvPr/>
        </p:nvSpPr>
        <p:spPr>
          <a:xfrm>
            <a:off x="594360" y="1911096"/>
            <a:ext cx="457200" cy="347472"/>
          </a:xfrm>
          <a:prstGeom prst="rect">
            <a:avLst/>
          </a:prstGeom>
          <a:noFill/>
          <a:ln/>
        </p:spPr>
        <p:txBody>
          <a:bodyPr wrap="square" lIns="0" tIns="0" rIns="0" bIns="0" rtlCol="0" anchor="ctr"/>
          <a:lstStyle/>
          <a:p>
            <a:pPr marL="0" indent="0">
              <a:buNone/>
            </a:pPr>
            <a:r>
              <a:rPr lang="en-US" sz="1400" b="1" dirty="0">
                <a:solidFill>
                  <a:srgbClr val="E8873A"/>
                </a:solidFill>
                <a:latin typeface="Georgia" pitchFamily="34" charset="0"/>
                <a:ea typeface="Georgia" pitchFamily="34" charset="-122"/>
                <a:cs typeface="Georgia" pitchFamily="34" charset="-120"/>
              </a:rPr>
              <a:t>H1</a:t>
            </a:r>
            <a:endParaRPr lang="en-US" sz="1400" dirty="0"/>
          </a:p>
        </p:txBody>
      </p:sp>
      <p:sp>
        <p:nvSpPr>
          <p:cNvPr id="9" name="Text 7"/>
          <p:cNvSpPr/>
          <p:nvPr/>
        </p:nvSpPr>
        <p:spPr>
          <a:xfrm>
            <a:off x="1051560" y="1920240"/>
            <a:ext cx="20116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AI / ML Rise</a:t>
            </a:r>
            <a:endParaRPr lang="en-US" sz="1100" dirty="0"/>
          </a:p>
        </p:txBody>
      </p:sp>
      <p:sp>
        <p:nvSpPr>
          <p:cNvPr id="10" name="Text 8"/>
          <p:cNvSpPr/>
          <p:nvPr/>
        </p:nvSpPr>
        <p:spPr>
          <a:xfrm>
            <a:off x="594360" y="2423160"/>
            <a:ext cx="2468880" cy="21031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AI, machine learning, and computing topics have grown significantly as a share of ISEF submissions from 2014–2024.</a:t>
            </a:r>
            <a:endParaRPr lang="en-US" sz="1100" dirty="0"/>
          </a:p>
        </p:txBody>
      </p:sp>
      <p:sp>
        <p:nvSpPr>
          <p:cNvPr id="11" name="Shape 9"/>
          <p:cNvSpPr/>
          <p:nvPr/>
        </p:nvSpPr>
        <p:spPr>
          <a:xfrm>
            <a:off x="3355848" y="1874520"/>
            <a:ext cx="2743200" cy="274320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355848" y="1874520"/>
            <a:ext cx="2743200" cy="457200"/>
          </a:xfrm>
          <a:prstGeom prst="rect">
            <a:avLst/>
          </a:prstGeom>
          <a:solidFill>
            <a:srgbClr val="2D6A9F"/>
          </a:solidFill>
          <a:ln w="12700">
            <a:solidFill>
              <a:srgbClr val="2D6A9F"/>
            </a:solidFill>
            <a:prstDash val="solid"/>
          </a:ln>
        </p:spPr>
        <p:txBody>
          <a:bodyPr/>
          <a:lstStyle/>
          <a:p>
            <a:endParaRPr lang="en-US"/>
          </a:p>
        </p:txBody>
      </p:sp>
      <p:sp>
        <p:nvSpPr>
          <p:cNvPr id="13" name="Text 11"/>
          <p:cNvSpPr/>
          <p:nvPr/>
        </p:nvSpPr>
        <p:spPr>
          <a:xfrm>
            <a:off x="3493008" y="1911096"/>
            <a:ext cx="457200" cy="347472"/>
          </a:xfrm>
          <a:prstGeom prst="rect">
            <a:avLst/>
          </a:prstGeom>
          <a:noFill/>
          <a:ln/>
        </p:spPr>
        <p:txBody>
          <a:bodyPr wrap="square" lIns="0" tIns="0" rIns="0" bIns="0" rtlCol="0" anchor="ctr"/>
          <a:lstStyle/>
          <a:p>
            <a:pPr marL="0" indent="0">
              <a:buNone/>
            </a:pPr>
            <a:r>
              <a:rPr lang="en-US" sz="1400" b="1" dirty="0">
                <a:solidFill>
                  <a:srgbClr val="E8873A"/>
                </a:solidFill>
                <a:latin typeface="Georgia" pitchFamily="34" charset="0"/>
                <a:ea typeface="Georgia" pitchFamily="34" charset="-122"/>
                <a:cs typeface="Georgia" pitchFamily="34" charset="-120"/>
              </a:rPr>
              <a:t>H2</a:t>
            </a:r>
            <a:endParaRPr lang="en-US" sz="1400" dirty="0"/>
          </a:p>
        </p:txBody>
      </p:sp>
      <p:sp>
        <p:nvSpPr>
          <p:cNvPr id="14" name="Text 12"/>
          <p:cNvSpPr/>
          <p:nvPr/>
        </p:nvSpPr>
        <p:spPr>
          <a:xfrm>
            <a:off x="3950208" y="1920240"/>
            <a:ext cx="20116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Award Independence</a:t>
            </a:r>
            <a:endParaRPr lang="en-US" sz="1100" dirty="0"/>
          </a:p>
        </p:txBody>
      </p:sp>
      <p:sp>
        <p:nvSpPr>
          <p:cNvPr id="15" name="Text 13"/>
          <p:cNvSpPr/>
          <p:nvPr/>
        </p:nvSpPr>
        <p:spPr>
          <a:xfrm>
            <a:off x="3493008" y="2423160"/>
            <a:ext cx="2468880" cy="21031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Certain ISEF categories receive systematically larger award dollar amounts, regardless of how often they win.</a:t>
            </a:r>
            <a:endParaRPr lang="en-US" sz="1100" dirty="0"/>
          </a:p>
        </p:txBody>
      </p:sp>
      <p:sp>
        <p:nvSpPr>
          <p:cNvPr id="16" name="Shape 14"/>
          <p:cNvSpPr/>
          <p:nvPr/>
        </p:nvSpPr>
        <p:spPr>
          <a:xfrm>
            <a:off x="6254496" y="1874520"/>
            <a:ext cx="2743200" cy="274320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254496" y="1874520"/>
            <a:ext cx="2743200" cy="457200"/>
          </a:xfrm>
          <a:prstGeom prst="rect">
            <a:avLst/>
          </a:prstGeom>
          <a:solidFill>
            <a:srgbClr val="2D6A9F"/>
          </a:solidFill>
          <a:ln w="12700">
            <a:solidFill>
              <a:srgbClr val="2D6A9F"/>
            </a:solidFill>
            <a:prstDash val="solid"/>
          </a:ln>
        </p:spPr>
        <p:txBody>
          <a:bodyPr/>
          <a:lstStyle/>
          <a:p>
            <a:endParaRPr lang="en-US"/>
          </a:p>
        </p:txBody>
      </p:sp>
      <p:sp>
        <p:nvSpPr>
          <p:cNvPr id="18" name="Text 16"/>
          <p:cNvSpPr/>
          <p:nvPr/>
        </p:nvSpPr>
        <p:spPr>
          <a:xfrm>
            <a:off x="6391656" y="1911096"/>
            <a:ext cx="457200" cy="347472"/>
          </a:xfrm>
          <a:prstGeom prst="rect">
            <a:avLst/>
          </a:prstGeom>
          <a:noFill/>
          <a:ln/>
        </p:spPr>
        <p:txBody>
          <a:bodyPr wrap="square" lIns="0" tIns="0" rIns="0" bIns="0" rtlCol="0" anchor="ctr"/>
          <a:lstStyle/>
          <a:p>
            <a:pPr marL="0" indent="0">
              <a:buNone/>
            </a:pPr>
            <a:r>
              <a:rPr lang="en-US" sz="1400" b="1" dirty="0">
                <a:solidFill>
                  <a:srgbClr val="E8873A"/>
                </a:solidFill>
                <a:latin typeface="Georgia" pitchFamily="34" charset="0"/>
                <a:ea typeface="Georgia" pitchFamily="34" charset="-122"/>
                <a:cs typeface="Georgia" pitchFamily="34" charset="-120"/>
              </a:rPr>
              <a:t>H3</a:t>
            </a:r>
            <a:endParaRPr lang="en-US" sz="1400" dirty="0"/>
          </a:p>
        </p:txBody>
      </p:sp>
      <p:sp>
        <p:nvSpPr>
          <p:cNvPr id="19" name="Text 17"/>
          <p:cNvSpPr/>
          <p:nvPr/>
        </p:nvSpPr>
        <p:spPr>
          <a:xfrm>
            <a:off x="6848856" y="1920240"/>
            <a:ext cx="20116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Trend ≠ Win Rate</a:t>
            </a:r>
            <a:endParaRPr lang="en-US" sz="1100" dirty="0"/>
          </a:p>
        </p:txBody>
      </p:sp>
      <p:sp>
        <p:nvSpPr>
          <p:cNvPr id="20" name="Text 18"/>
          <p:cNvSpPr/>
          <p:nvPr/>
        </p:nvSpPr>
        <p:spPr>
          <a:xfrm>
            <a:off x="6391656" y="2423160"/>
            <a:ext cx="2468880" cy="21031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Projects in categories that have grown in popularity over time win awards at a higher rate.</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67069"/>
    </mc:Choice>
    <mc:Fallback xmlns="">
      <p:transition spd="slow" advTm="6706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METHODS</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Data Collection &amp; Cleaning</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Kaggle dataset scraped from the Society for Science Abstract Search</a:t>
            </a:r>
            <a:endParaRPr lang="en-US" sz="1200" dirty="0"/>
          </a:p>
        </p:txBody>
      </p:sp>
      <p:sp>
        <p:nvSpPr>
          <p:cNvPr id="6" name="Text 4"/>
          <p:cNvSpPr/>
          <p:nvPr/>
        </p:nvSpPr>
        <p:spPr>
          <a:xfrm>
            <a:off x="457200" y="1371600"/>
            <a:ext cx="4114800" cy="274320"/>
          </a:xfrm>
          <a:prstGeom prst="rect">
            <a:avLst/>
          </a:prstGeom>
          <a:noFill/>
          <a:ln/>
        </p:spPr>
        <p:txBody>
          <a:bodyPr wrap="square" lIns="0" tIns="0" rIns="0" bIns="0" rtlCol="0" anchor="ctr"/>
          <a:lstStyle/>
          <a:p>
            <a:pPr marL="0" indent="0">
              <a:buNone/>
            </a:pPr>
            <a:r>
              <a:rPr lang="en-US" sz="1200" b="1" dirty="0">
                <a:solidFill>
                  <a:srgbClr val="2D6A9F"/>
                </a:solidFill>
                <a:latin typeface="Calibri" pitchFamily="34" charset="0"/>
                <a:ea typeface="Calibri" pitchFamily="34" charset="-122"/>
                <a:cs typeface="Calibri" pitchFamily="34" charset="-120"/>
              </a:rPr>
              <a:t>Dataset</a:t>
            </a:r>
            <a:endParaRPr lang="en-US" sz="1200" dirty="0"/>
          </a:p>
        </p:txBody>
      </p:sp>
      <p:sp>
        <p:nvSpPr>
          <p:cNvPr id="7" name="Text 5"/>
          <p:cNvSpPr/>
          <p:nvPr/>
        </p:nvSpPr>
        <p:spPr>
          <a:xfrm>
            <a:off x="457200" y="1691640"/>
            <a:ext cx="4297680" cy="3291840"/>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Source: Kaggle — "All ISEF Projects" (Kaiser, 2022)</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14,911 raw project entries from 2014–2024</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Attributes: title, category, year, abstract, country, state, awards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38 duplicate projects removed → 14,873 final entries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Empty title/abstract cells filled with " " (not removed)</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2015–2016 excluded from category analysis: 68–82% null category rate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2020 excluded from award analysis: competition cancelled (COVID-19)</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2024 excluded from award analysis: data collection gap in source</a:t>
            </a:r>
            <a:endParaRPr lang="en-US" sz="1050" dirty="0"/>
          </a:p>
        </p:txBody>
      </p:sp>
      <p:sp>
        <p:nvSpPr>
          <p:cNvPr id="8" name="Shape 6"/>
          <p:cNvSpPr/>
          <p:nvPr/>
        </p:nvSpPr>
        <p:spPr>
          <a:xfrm>
            <a:off x="5029200" y="1371600"/>
            <a:ext cx="3840480" cy="804672"/>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5102352" y="1527048"/>
            <a:ext cx="411480" cy="411480"/>
          </a:xfrm>
          <a:prstGeom prst="ellipse">
            <a:avLst/>
          </a:prstGeom>
          <a:solidFill>
            <a:srgbClr val="2D6A9F"/>
          </a:solidFill>
          <a:ln w="12700">
            <a:solidFill>
              <a:srgbClr val="2D6A9F"/>
            </a:solidFill>
            <a:prstDash val="solid"/>
          </a:ln>
        </p:spPr>
        <p:txBody>
          <a:bodyPr/>
          <a:lstStyle/>
          <a:p>
            <a:endParaRPr lang="en-US"/>
          </a:p>
        </p:txBody>
      </p:sp>
      <p:sp>
        <p:nvSpPr>
          <p:cNvPr id="10" name="Text 8"/>
          <p:cNvSpPr/>
          <p:nvPr/>
        </p:nvSpPr>
        <p:spPr>
          <a:xfrm>
            <a:off x="5102352" y="1527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1" name="Text 9"/>
          <p:cNvSpPr/>
          <p:nvPr/>
        </p:nvSpPr>
        <p:spPr>
          <a:xfrm>
            <a:off x="5623560" y="1463040"/>
            <a:ext cx="3108960" cy="22860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Award Parsing</a:t>
            </a:r>
            <a:endParaRPr lang="en-US" sz="1000" dirty="0"/>
          </a:p>
        </p:txBody>
      </p:sp>
      <p:sp>
        <p:nvSpPr>
          <p:cNvPr id="12" name="Text 10"/>
          <p:cNvSpPr/>
          <p:nvPr/>
        </p:nvSpPr>
        <p:spPr>
          <a:xfrm>
            <a:off x="5623560" y="1691640"/>
            <a:ext cx="310896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parse_awards() converts raw text to lists; extract_award_money() captures dollar amounts</a:t>
            </a:r>
            <a:endParaRPr lang="en-US" sz="900" dirty="0"/>
          </a:p>
        </p:txBody>
      </p:sp>
      <p:sp>
        <p:nvSpPr>
          <p:cNvPr id="13" name="Shape 11"/>
          <p:cNvSpPr/>
          <p:nvPr/>
        </p:nvSpPr>
        <p:spPr>
          <a:xfrm>
            <a:off x="5029200" y="2304288"/>
            <a:ext cx="3840480" cy="804672"/>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5102352" y="2459736"/>
            <a:ext cx="411480" cy="411480"/>
          </a:xfrm>
          <a:prstGeom prst="ellipse">
            <a:avLst/>
          </a:prstGeom>
          <a:solidFill>
            <a:srgbClr val="2D6A9F"/>
          </a:solidFill>
          <a:ln w="12700">
            <a:solidFill>
              <a:srgbClr val="2D6A9F"/>
            </a:solidFill>
            <a:prstDash val="solid"/>
          </a:ln>
        </p:spPr>
        <p:txBody>
          <a:bodyPr/>
          <a:lstStyle/>
          <a:p>
            <a:endParaRPr lang="en-US"/>
          </a:p>
        </p:txBody>
      </p:sp>
      <p:sp>
        <p:nvSpPr>
          <p:cNvPr id="15" name="Text 13"/>
          <p:cNvSpPr/>
          <p:nvPr/>
        </p:nvSpPr>
        <p:spPr>
          <a:xfrm>
            <a:off x="5102352" y="2459736"/>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6" name="Text 14"/>
          <p:cNvSpPr/>
          <p:nvPr/>
        </p:nvSpPr>
        <p:spPr>
          <a:xfrm>
            <a:off x="5623560" y="2395728"/>
            <a:ext cx="3108960" cy="22860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Tier Assignment</a:t>
            </a:r>
            <a:endParaRPr lang="en-US" sz="1000" dirty="0"/>
          </a:p>
        </p:txBody>
      </p:sp>
      <p:sp>
        <p:nvSpPr>
          <p:cNvPr id="17" name="Text 15"/>
          <p:cNvSpPr/>
          <p:nvPr/>
        </p:nvSpPr>
        <p:spPr>
          <a:xfrm>
            <a:off x="5623560" y="2624328"/>
            <a:ext cx="310896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9-tier system based on percentile-informed breakpoints ($0 → $100k+)</a:t>
            </a:r>
            <a:endParaRPr lang="en-US" sz="900" dirty="0"/>
          </a:p>
        </p:txBody>
      </p:sp>
      <p:sp>
        <p:nvSpPr>
          <p:cNvPr id="18" name="Shape 16"/>
          <p:cNvSpPr/>
          <p:nvPr/>
        </p:nvSpPr>
        <p:spPr>
          <a:xfrm>
            <a:off x="5029200" y="3236976"/>
            <a:ext cx="3840480" cy="804672"/>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5102352" y="3392424"/>
            <a:ext cx="411480" cy="411480"/>
          </a:xfrm>
          <a:prstGeom prst="ellipse">
            <a:avLst/>
          </a:prstGeom>
          <a:solidFill>
            <a:srgbClr val="2D6A9F"/>
          </a:solidFill>
          <a:ln w="12700">
            <a:solidFill>
              <a:srgbClr val="2D6A9F"/>
            </a:solidFill>
            <a:prstDash val="solid"/>
          </a:ln>
        </p:spPr>
        <p:txBody>
          <a:bodyPr/>
          <a:lstStyle/>
          <a:p>
            <a:endParaRPr lang="en-US"/>
          </a:p>
        </p:txBody>
      </p:sp>
      <p:sp>
        <p:nvSpPr>
          <p:cNvPr id="20" name="Text 18"/>
          <p:cNvSpPr/>
          <p:nvPr/>
        </p:nvSpPr>
        <p:spPr>
          <a:xfrm>
            <a:off x="5102352" y="3392424"/>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21" name="Text 19"/>
          <p:cNvSpPr/>
          <p:nvPr/>
        </p:nvSpPr>
        <p:spPr>
          <a:xfrm>
            <a:off x="5623560" y="3328416"/>
            <a:ext cx="3108960" cy="22860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Category Audit</a:t>
            </a:r>
            <a:endParaRPr lang="en-US" sz="1000" dirty="0"/>
          </a:p>
        </p:txBody>
      </p:sp>
      <p:sp>
        <p:nvSpPr>
          <p:cNvPr id="22" name="Text 20"/>
          <p:cNvSpPr/>
          <p:nvPr/>
        </p:nvSpPr>
        <p:spPr>
          <a:xfrm>
            <a:off x="5623560" y="3557016"/>
            <a:ext cx="310896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Null audit, name inventory, presence matrix — identified restructure in 2017</a:t>
            </a:r>
            <a:endParaRPr lang="en-US" sz="900" dirty="0"/>
          </a:p>
        </p:txBody>
      </p:sp>
      <p:sp>
        <p:nvSpPr>
          <p:cNvPr id="23" name="Shape 21"/>
          <p:cNvSpPr/>
          <p:nvPr/>
        </p:nvSpPr>
        <p:spPr>
          <a:xfrm>
            <a:off x="5029200" y="4169664"/>
            <a:ext cx="3840480" cy="804672"/>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5102352" y="4325112"/>
            <a:ext cx="411480" cy="411480"/>
          </a:xfrm>
          <a:prstGeom prst="ellipse">
            <a:avLst/>
          </a:prstGeom>
          <a:solidFill>
            <a:srgbClr val="2D6A9F"/>
          </a:solidFill>
          <a:ln w="12700">
            <a:solidFill>
              <a:srgbClr val="2D6A9F"/>
            </a:solidFill>
            <a:prstDash val="solid"/>
          </a:ln>
        </p:spPr>
        <p:txBody>
          <a:bodyPr/>
          <a:lstStyle/>
          <a:p>
            <a:endParaRPr lang="en-US"/>
          </a:p>
        </p:txBody>
      </p:sp>
      <p:sp>
        <p:nvSpPr>
          <p:cNvPr id="25" name="Text 23"/>
          <p:cNvSpPr/>
          <p:nvPr/>
        </p:nvSpPr>
        <p:spPr>
          <a:xfrm>
            <a:off x="5102352" y="4325112"/>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6" name="Text 24"/>
          <p:cNvSpPr/>
          <p:nvPr/>
        </p:nvSpPr>
        <p:spPr>
          <a:xfrm>
            <a:off x="5623560" y="4261104"/>
            <a:ext cx="3108960" cy="22860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Keyword Search</a:t>
            </a:r>
            <a:endParaRPr lang="en-US" sz="1000" dirty="0"/>
          </a:p>
        </p:txBody>
      </p:sp>
      <p:sp>
        <p:nvSpPr>
          <p:cNvPr id="27" name="Text 25"/>
          <p:cNvSpPr/>
          <p:nvPr/>
        </p:nvSpPr>
        <p:spPr>
          <a:xfrm>
            <a:off x="5623560" y="4489704"/>
            <a:ext cx="310896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5 AI/ML keywords tracked across all abstract text 2014–2024</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119077"/>
    </mc:Choice>
    <mc:Fallback xmlns="">
      <p:transition spd="slow" advTm="11907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Award Distribution: Skewed and Zero-Heavy</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Most ISEF finalists receive no monetary compensation</a:t>
            </a:r>
            <a:endParaRPr lang="en-US" sz="1200" dirty="0"/>
          </a:p>
        </p:txBody>
      </p:sp>
      <p:sp>
        <p:nvSpPr>
          <p:cNvPr id="6" name="Shape 4"/>
          <p:cNvSpPr/>
          <p:nvPr/>
        </p:nvSpPr>
        <p:spPr>
          <a:xfrm>
            <a:off x="457200" y="1371600"/>
            <a:ext cx="1828800" cy="914400"/>
          </a:xfrm>
          <a:prstGeom prst="rect">
            <a:avLst/>
          </a:prstGeom>
          <a:solidFill>
            <a:srgbClr val="DC2626"/>
          </a:solidFill>
          <a:ln w="12700">
            <a:solidFill>
              <a:srgbClr val="DC2626"/>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457200" y="1444752"/>
            <a:ext cx="1828800" cy="502920"/>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71%</a:t>
            </a:r>
            <a:endParaRPr lang="en-US" sz="3200" dirty="0"/>
          </a:p>
        </p:txBody>
      </p:sp>
      <p:sp>
        <p:nvSpPr>
          <p:cNvPr id="8" name="Text 6"/>
          <p:cNvSpPr/>
          <p:nvPr/>
        </p:nvSpPr>
        <p:spPr>
          <a:xfrm>
            <a:off x="457200" y="1874520"/>
            <a:ext cx="1828800" cy="38404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Projects win $0</a:t>
            </a:r>
            <a:endParaRPr lang="en-US" sz="1000" dirty="0"/>
          </a:p>
        </p:txBody>
      </p:sp>
      <p:sp>
        <p:nvSpPr>
          <p:cNvPr id="9" name="Shape 7"/>
          <p:cNvSpPr/>
          <p:nvPr/>
        </p:nvSpPr>
        <p:spPr>
          <a:xfrm>
            <a:off x="2423160" y="1371600"/>
            <a:ext cx="1828800" cy="914400"/>
          </a:xfrm>
          <a:prstGeom prst="rect">
            <a:avLst/>
          </a:prstGeom>
          <a:solidFill>
            <a:srgbClr val="2D6A9F"/>
          </a:solidFill>
          <a:ln w="12700">
            <a:solidFill>
              <a:srgbClr val="2D6A9F"/>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2423160" y="1444752"/>
            <a:ext cx="1828800" cy="502920"/>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$1,000</a:t>
            </a:r>
            <a:endParaRPr lang="en-US" sz="3200" dirty="0"/>
          </a:p>
        </p:txBody>
      </p:sp>
      <p:sp>
        <p:nvSpPr>
          <p:cNvPr id="11" name="Text 9"/>
          <p:cNvSpPr/>
          <p:nvPr/>
        </p:nvSpPr>
        <p:spPr>
          <a:xfrm>
            <a:off x="2423160" y="1874520"/>
            <a:ext cx="1828800" cy="38404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Median (winners)</a:t>
            </a:r>
            <a:endParaRPr lang="en-US" sz="1000" dirty="0"/>
          </a:p>
        </p:txBody>
      </p:sp>
      <p:sp>
        <p:nvSpPr>
          <p:cNvPr id="12" name="Shape 10"/>
          <p:cNvSpPr/>
          <p:nvPr/>
        </p:nvSpPr>
        <p:spPr>
          <a:xfrm>
            <a:off x="4389120" y="1371600"/>
            <a:ext cx="1828800" cy="91440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4389120" y="1444752"/>
            <a:ext cx="1828800" cy="502920"/>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$252K</a:t>
            </a:r>
            <a:endParaRPr lang="en-US" sz="3200" dirty="0"/>
          </a:p>
        </p:txBody>
      </p:sp>
      <p:sp>
        <p:nvSpPr>
          <p:cNvPr id="14" name="Text 12"/>
          <p:cNvSpPr/>
          <p:nvPr/>
        </p:nvSpPr>
        <p:spPr>
          <a:xfrm>
            <a:off x="4389120" y="1874520"/>
            <a:ext cx="1828800" cy="38404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Maximum award</a:t>
            </a:r>
            <a:endParaRPr lang="en-US" sz="1000" dirty="0"/>
          </a:p>
        </p:txBody>
      </p:sp>
      <p:sp>
        <p:nvSpPr>
          <p:cNvPr id="15" name="Shape 13"/>
          <p:cNvSpPr/>
          <p:nvPr/>
        </p:nvSpPr>
        <p:spPr>
          <a:xfrm>
            <a:off x="6355080" y="1371600"/>
            <a:ext cx="2286000" cy="914400"/>
          </a:xfrm>
          <a:prstGeom prst="rect">
            <a:avLst/>
          </a:prstGeom>
          <a:solidFill>
            <a:srgbClr val="E8873A"/>
          </a:solidFill>
          <a:ln w="12700">
            <a:solidFill>
              <a:srgbClr val="E8873A"/>
            </a:solidFill>
            <a:prstDash val="solid"/>
          </a:ln>
          <a:effectLst>
            <a:outerShdw blurRad="101600" dist="38100" dir="8100000" algn="bl" rotWithShape="0">
              <a:srgbClr val="000000">
                <a:alpha val="12000"/>
              </a:srgbClr>
            </a:outerShdw>
          </a:effectLst>
        </p:spPr>
        <p:txBody>
          <a:bodyPr/>
          <a:lstStyle/>
          <a:p>
            <a:endParaRPr lang="en-US"/>
          </a:p>
        </p:txBody>
      </p:sp>
      <p:sp>
        <p:nvSpPr>
          <p:cNvPr id="16" name="Text 14"/>
          <p:cNvSpPr/>
          <p:nvPr/>
        </p:nvSpPr>
        <p:spPr>
          <a:xfrm>
            <a:off x="6355080" y="1444752"/>
            <a:ext cx="2286000" cy="502920"/>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2-Process</a:t>
            </a:r>
            <a:endParaRPr lang="en-US" sz="3200" dirty="0"/>
          </a:p>
        </p:txBody>
      </p:sp>
      <p:sp>
        <p:nvSpPr>
          <p:cNvPr id="17" name="Text 15"/>
          <p:cNvSpPr/>
          <p:nvPr/>
        </p:nvSpPr>
        <p:spPr>
          <a:xfrm>
            <a:off x="6355080" y="1874520"/>
            <a:ext cx="2286000" cy="38404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Grand + Special Awards</a:t>
            </a:r>
            <a:endParaRPr lang="en-US" sz="1000" dirty="0"/>
          </a:p>
        </p:txBody>
      </p:sp>
      <p:sp>
        <p:nvSpPr>
          <p:cNvPr id="18" name="Text 16"/>
          <p:cNvSpPr/>
          <p:nvPr/>
        </p:nvSpPr>
        <p:spPr>
          <a:xfrm>
            <a:off x="457200" y="2468880"/>
            <a:ext cx="8229600" cy="274320"/>
          </a:xfrm>
          <a:prstGeom prst="rect">
            <a:avLst/>
          </a:prstGeom>
          <a:noFill/>
          <a:ln/>
        </p:spPr>
        <p:txBody>
          <a:bodyPr wrap="square" lIns="0" tIns="0" rIns="0" bIns="0" rtlCol="0" anchor="ctr"/>
          <a:lstStyle/>
          <a:p>
            <a:pPr marL="0" indent="0">
              <a:buNone/>
            </a:pPr>
            <a:r>
              <a:rPr lang="en-US" sz="1200" b="1" dirty="0">
                <a:solidFill>
                  <a:srgbClr val="2D6A9F"/>
                </a:solidFill>
                <a:latin typeface="Calibri" pitchFamily="34" charset="0"/>
                <a:ea typeface="Calibri" pitchFamily="34" charset="-122"/>
                <a:cs typeface="Calibri" pitchFamily="34" charset="-120"/>
              </a:rPr>
              <a:t>Key EDA Findings</a:t>
            </a:r>
            <a:endParaRPr lang="en-US" sz="1200" dirty="0"/>
          </a:p>
        </p:txBody>
      </p:sp>
      <p:sp>
        <p:nvSpPr>
          <p:cNvPr id="19" name="Text 17"/>
          <p:cNvSpPr/>
          <p:nvPr/>
        </p:nvSpPr>
        <p:spPr>
          <a:xfrm>
            <a:off x="457200" y="2788920"/>
            <a:ext cx="8412480" cy="2240280"/>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Tier 1–3 ($1–$2,000) hold the most winners: 741 / 664 / 504 projects respectively — reflecting ISEF's Fourth, Third, and Second Award structure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Tier 7 ($25K–$50K) contains only 2 projects — a natural dead zone. No grand award lands here; only rare multi-award stacking reaches this range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Tiers 8 &amp; 9 ($50K+) are larger than Tier 7, driven by scholarship stacking from special award organizations, not ISEF judging</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741 winners received non-cash recognition only ($0 monetary value) — award occurrence and award magnitude are separate phenomena</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The two-process model: ISEF grand awards equalize win rates across categories; special awards are sponsor-driven and unevenly distributed</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slow" p14:dur="2000" advTm="82154"/>
    </mc:Choice>
    <mc:Fallback xmlns="">
      <p:transition spd="slow" advTm="8215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Computing Keywords in ISEF Abstracts</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Percentage of all project abstracts containing each AI/ML keyword, by year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217920" cy="1524000"/>
        </p:xfrm>
        <a:graphic>
          <a:graphicData uri="http://schemas.openxmlformats.org/drawingml/2006/table">
            <a:tbl>
              <a:tblPr/>
              <a:tblGrid>
                <a:gridCol w="21031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tblGrid>
              <a:tr h="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Keyword</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2014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2017</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2019</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2021</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2024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Machine Learning</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0.93%</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3.21%</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4.84%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7.44%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7.66%</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Neural Network</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0.79%</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2.21%</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5.26%</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7.37%</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7.14%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Deep Learning</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0.07%</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0.71%</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2.03%</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3.99%</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4.68%</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Artificial Intelligence</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0.72%</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0.71%</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1.54%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2.13%</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2.68%</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Computer Vision</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0.29%</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0.98%</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extLst>
                  <a:ext uri="{0D108BD9-81ED-4DB2-BD59-A6C34878D82A}">
                    <a16:rowId xmlns:a16="http://schemas.microsoft.com/office/drawing/2014/main" val="10005"/>
                  </a:ext>
                </a:extLst>
              </a:tr>
            </a:tbl>
          </a:graphicData>
        </a:graphic>
      </p:graphicFrame>
      <p:sp>
        <p:nvSpPr>
          <p:cNvPr id="6" name="Shape 4"/>
          <p:cNvSpPr/>
          <p:nvPr/>
        </p:nvSpPr>
        <p:spPr>
          <a:xfrm>
            <a:off x="6858000" y="1417320"/>
            <a:ext cx="2011680" cy="3566160"/>
          </a:xfrm>
          <a:prstGeom prst="rect">
            <a:avLst/>
          </a:prstGeom>
          <a:solidFill>
            <a:srgbClr val="F4F7FB"/>
          </a:solidFill>
          <a:ln w="12700">
            <a:solidFill>
              <a:srgbClr val="5B9BD5"/>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6903720" y="1508760"/>
            <a:ext cx="1920240" cy="274320"/>
          </a:xfrm>
          <a:prstGeom prst="rect">
            <a:avLst/>
          </a:prstGeom>
          <a:noFill/>
          <a:ln/>
        </p:spPr>
        <p:txBody>
          <a:bodyPr wrap="square" lIns="0" tIns="0" rIns="0" bIns="0" rtlCol="0" anchor="ctr"/>
          <a:lstStyle/>
          <a:p>
            <a:pPr marL="0" indent="0">
              <a:buNone/>
            </a:pPr>
            <a:r>
              <a:rPr lang="en-US" sz="1000" b="1" dirty="0">
                <a:solidFill>
                  <a:srgbClr val="2D6A9F"/>
                </a:solidFill>
                <a:latin typeface="Calibri" pitchFamily="34" charset="0"/>
                <a:ea typeface="Calibri" pitchFamily="34" charset="-122"/>
                <a:cs typeface="Calibri" pitchFamily="34" charset="-120"/>
              </a:rPr>
              <a:t>3 Growth Phases</a:t>
            </a:r>
            <a:endParaRPr lang="en-US" sz="1000" dirty="0"/>
          </a:p>
        </p:txBody>
      </p:sp>
      <p:sp>
        <p:nvSpPr>
          <p:cNvPr id="9" name="Shape 6"/>
          <p:cNvSpPr/>
          <p:nvPr/>
        </p:nvSpPr>
        <p:spPr>
          <a:xfrm>
            <a:off x="6903720" y="1874520"/>
            <a:ext cx="64008" cy="777240"/>
          </a:xfrm>
          <a:prstGeom prst="rect">
            <a:avLst/>
          </a:prstGeom>
          <a:solidFill>
            <a:srgbClr val="E8873A"/>
          </a:solidFill>
          <a:ln w="12700">
            <a:solidFill>
              <a:srgbClr val="E8873A"/>
            </a:solidFill>
            <a:prstDash val="solid"/>
          </a:ln>
        </p:spPr>
        <p:txBody>
          <a:bodyPr/>
          <a:lstStyle/>
          <a:p>
            <a:endParaRPr lang="en-US"/>
          </a:p>
        </p:txBody>
      </p:sp>
      <p:sp>
        <p:nvSpPr>
          <p:cNvPr id="10" name="Text 7"/>
          <p:cNvSpPr/>
          <p:nvPr/>
        </p:nvSpPr>
        <p:spPr>
          <a:xfrm>
            <a:off x="7040880" y="1874520"/>
            <a:ext cx="1737360" cy="27432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2014–2017</a:t>
            </a:r>
            <a:endParaRPr lang="en-US" sz="950" dirty="0"/>
          </a:p>
        </p:txBody>
      </p:sp>
      <p:sp>
        <p:nvSpPr>
          <p:cNvPr id="11" name="Text 8"/>
          <p:cNvSpPr/>
          <p:nvPr/>
        </p:nvSpPr>
        <p:spPr>
          <a:xfrm>
            <a:off x="7040880" y="2148840"/>
            <a:ext cx="1737360" cy="4572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Dormant baseline. All keywords below 3.5%</a:t>
            </a:r>
            <a:endParaRPr lang="en-US" sz="900" dirty="0"/>
          </a:p>
        </p:txBody>
      </p:sp>
      <p:sp>
        <p:nvSpPr>
          <p:cNvPr id="12" name="Shape 9"/>
          <p:cNvSpPr/>
          <p:nvPr/>
        </p:nvSpPr>
        <p:spPr>
          <a:xfrm>
            <a:off x="6903720" y="2880360"/>
            <a:ext cx="64008" cy="777240"/>
          </a:xfrm>
          <a:prstGeom prst="rect">
            <a:avLst/>
          </a:prstGeom>
          <a:solidFill>
            <a:srgbClr val="E8873A"/>
          </a:solidFill>
          <a:ln w="12700">
            <a:solidFill>
              <a:srgbClr val="E8873A"/>
            </a:solidFill>
            <a:prstDash val="solid"/>
          </a:ln>
        </p:spPr>
        <p:txBody>
          <a:bodyPr/>
          <a:lstStyle/>
          <a:p>
            <a:endParaRPr lang="en-US"/>
          </a:p>
        </p:txBody>
      </p:sp>
      <p:sp>
        <p:nvSpPr>
          <p:cNvPr id="13" name="Text 10"/>
          <p:cNvSpPr/>
          <p:nvPr/>
        </p:nvSpPr>
        <p:spPr>
          <a:xfrm>
            <a:off x="7040880" y="2880360"/>
            <a:ext cx="1737360" cy="27432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2018–2021</a:t>
            </a:r>
            <a:endParaRPr lang="en-US" sz="950" dirty="0"/>
          </a:p>
        </p:txBody>
      </p:sp>
      <p:sp>
        <p:nvSpPr>
          <p:cNvPr id="14" name="Text 11"/>
          <p:cNvSpPr/>
          <p:nvPr/>
        </p:nvSpPr>
        <p:spPr>
          <a:xfrm>
            <a:off x="7040880" y="3154680"/>
            <a:ext cx="1737360" cy="4572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Rapid acceleration as AI tools became accessible</a:t>
            </a:r>
            <a:endParaRPr lang="en-US" sz="900" dirty="0"/>
          </a:p>
        </p:txBody>
      </p:sp>
      <p:sp>
        <p:nvSpPr>
          <p:cNvPr id="15" name="Shape 12"/>
          <p:cNvSpPr/>
          <p:nvPr/>
        </p:nvSpPr>
        <p:spPr>
          <a:xfrm>
            <a:off x="6903720" y="3886200"/>
            <a:ext cx="64008" cy="777240"/>
          </a:xfrm>
          <a:prstGeom prst="rect">
            <a:avLst/>
          </a:prstGeom>
          <a:solidFill>
            <a:srgbClr val="E8873A"/>
          </a:solidFill>
          <a:ln w="12700">
            <a:solidFill>
              <a:srgbClr val="E8873A"/>
            </a:solidFill>
            <a:prstDash val="solid"/>
          </a:ln>
        </p:spPr>
        <p:txBody>
          <a:bodyPr/>
          <a:lstStyle/>
          <a:p>
            <a:endParaRPr lang="en-US"/>
          </a:p>
        </p:txBody>
      </p:sp>
      <p:sp>
        <p:nvSpPr>
          <p:cNvPr id="16" name="Text 13"/>
          <p:cNvSpPr/>
          <p:nvPr/>
        </p:nvSpPr>
        <p:spPr>
          <a:xfrm>
            <a:off x="7040880" y="3886200"/>
            <a:ext cx="1737360" cy="27432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2022–2024</a:t>
            </a:r>
            <a:endParaRPr lang="en-US" sz="950" dirty="0"/>
          </a:p>
        </p:txBody>
      </p:sp>
      <p:sp>
        <p:nvSpPr>
          <p:cNvPr id="17" name="Text 14"/>
          <p:cNvSpPr/>
          <p:nvPr/>
        </p:nvSpPr>
        <p:spPr>
          <a:xfrm>
            <a:off x="7040880" y="4160520"/>
            <a:ext cx="1737360" cy="4572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Plateau — AI is now embedded, not novel</a:t>
            </a:r>
            <a:endParaRPr lang="en-US" sz="900" dirty="0"/>
          </a:p>
        </p:txBody>
      </p:sp>
      <p:sp>
        <p:nvSpPr>
          <p:cNvPr id="18" name="Text 15"/>
          <p:cNvSpPr/>
          <p:nvPr/>
        </p:nvSpPr>
        <p:spPr>
          <a:xfrm>
            <a:off x="457200" y="4480560"/>
            <a:ext cx="6217920" cy="365760"/>
          </a:xfrm>
          <a:prstGeom prst="rect">
            <a:avLst/>
          </a:prstGeom>
          <a:noFill/>
          <a:ln/>
        </p:spPr>
        <p:txBody>
          <a:bodyPr wrap="square" lIns="0" tIns="0" rIns="0" bIns="0" rtlCol="0" anchor="ctr"/>
          <a:lstStyle/>
          <a:p>
            <a:pPr marL="0" indent="0">
              <a:buNone/>
            </a:pPr>
            <a:r>
              <a:rPr lang="en-US" sz="1000" i="1" dirty="0">
                <a:solidFill>
                  <a:srgbClr val="2D6A9F"/>
                </a:solidFill>
                <a:latin typeface="Calibri" pitchFamily="34" charset="0"/>
                <a:ea typeface="Calibri" pitchFamily="34" charset="-122"/>
                <a:cs typeface="Calibri" pitchFamily="34" charset="-120"/>
              </a:rPr>
              <a:t>Every keyword grew. All five independently tracked terms moved in the same direction across 11 years.</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100463"/>
    </mc:Choice>
    <mc:Fallback xmlns="">
      <p:transition spd="slow" advTm="10046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16A34A"/>
          </a:solidFill>
          <a:ln w="12700">
            <a:solidFill>
              <a:srgbClr val="16A34A"/>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 — H1</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H1: AI/ML Topics Rose Dramatically ✓</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Confirmed — consistent growth across all five keywords</a:t>
            </a:r>
            <a:endParaRPr lang="en-US" sz="1200" dirty="0"/>
          </a:p>
        </p:txBody>
      </p:sp>
      <p:sp>
        <p:nvSpPr>
          <p:cNvPr id="7" name="Shape 4"/>
          <p:cNvSpPr/>
          <p:nvPr/>
        </p:nvSpPr>
        <p:spPr>
          <a:xfrm>
            <a:off x="6583680" y="1371600"/>
            <a:ext cx="2331720" cy="105156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6583680" y="1444752"/>
            <a:ext cx="2331720" cy="578358"/>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67×</a:t>
            </a:r>
            <a:endParaRPr lang="en-US" sz="3200" dirty="0"/>
          </a:p>
        </p:txBody>
      </p:sp>
      <p:sp>
        <p:nvSpPr>
          <p:cNvPr id="9" name="Text 6"/>
          <p:cNvSpPr/>
          <p:nvPr/>
        </p:nvSpPr>
        <p:spPr>
          <a:xfrm>
            <a:off x="6583680" y="1949958"/>
            <a:ext cx="2331720" cy="441655"/>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Deep Learning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2014–2024</a:t>
            </a:r>
            <a:endParaRPr lang="en-US" sz="1000" dirty="0"/>
          </a:p>
        </p:txBody>
      </p:sp>
      <p:sp>
        <p:nvSpPr>
          <p:cNvPr id="10" name="Shape 7"/>
          <p:cNvSpPr/>
          <p:nvPr/>
        </p:nvSpPr>
        <p:spPr>
          <a:xfrm>
            <a:off x="6583680" y="2606040"/>
            <a:ext cx="2331720" cy="1051560"/>
          </a:xfrm>
          <a:prstGeom prst="rect">
            <a:avLst/>
          </a:prstGeom>
          <a:solidFill>
            <a:srgbClr val="2D6A9F"/>
          </a:solidFill>
          <a:ln w="12700">
            <a:solidFill>
              <a:srgbClr val="2D6A9F"/>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8"/>
          <p:cNvSpPr/>
          <p:nvPr/>
        </p:nvSpPr>
        <p:spPr>
          <a:xfrm>
            <a:off x="6583680" y="2679192"/>
            <a:ext cx="2331720" cy="578358"/>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9×</a:t>
            </a:r>
            <a:endParaRPr lang="en-US" sz="3200" dirty="0"/>
          </a:p>
        </p:txBody>
      </p:sp>
      <p:sp>
        <p:nvSpPr>
          <p:cNvPr id="12" name="Text 9"/>
          <p:cNvSpPr/>
          <p:nvPr/>
        </p:nvSpPr>
        <p:spPr>
          <a:xfrm>
            <a:off x="6583680" y="3184398"/>
            <a:ext cx="2331720" cy="441655"/>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Neural Network</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2014–2024</a:t>
            </a:r>
            <a:endParaRPr lang="en-US" sz="1000" dirty="0"/>
          </a:p>
        </p:txBody>
      </p:sp>
      <p:sp>
        <p:nvSpPr>
          <p:cNvPr id="13" name="Shape 10"/>
          <p:cNvSpPr/>
          <p:nvPr/>
        </p:nvSpPr>
        <p:spPr>
          <a:xfrm>
            <a:off x="6583680" y="3840480"/>
            <a:ext cx="2331720" cy="1051560"/>
          </a:xfrm>
          <a:prstGeom prst="rect">
            <a:avLst/>
          </a:prstGeom>
          <a:solidFill>
            <a:srgbClr val="2D6A9F"/>
          </a:solidFill>
          <a:ln w="12700">
            <a:solidFill>
              <a:srgbClr val="2D6A9F"/>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1"/>
          <p:cNvSpPr/>
          <p:nvPr/>
        </p:nvSpPr>
        <p:spPr>
          <a:xfrm>
            <a:off x="6583680" y="3913632"/>
            <a:ext cx="2331720" cy="578358"/>
          </a:xfrm>
          <a:prstGeom prst="rect">
            <a:avLst/>
          </a:prstGeom>
          <a:noFill/>
          <a:ln/>
        </p:spPr>
        <p:txBody>
          <a:bodyPr wrap="square" lIns="0" tIns="0" rIns="0" bIns="0"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8×</a:t>
            </a:r>
            <a:endParaRPr lang="en-US" sz="3200" dirty="0"/>
          </a:p>
        </p:txBody>
      </p:sp>
      <p:sp>
        <p:nvSpPr>
          <p:cNvPr id="15" name="Text 12"/>
          <p:cNvSpPr/>
          <p:nvPr/>
        </p:nvSpPr>
        <p:spPr>
          <a:xfrm>
            <a:off x="6583680" y="4418838"/>
            <a:ext cx="2331720" cy="441655"/>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Machine Learning</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2014–2024</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31988"/>
    </mc:Choice>
    <mc:Fallback xmlns="">
      <p:transition spd="slow" advTm="3198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DC2626"/>
          </a:solidFill>
          <a:ln w="12700">
            <a:solidFill>
              <a:srgbClr val="DC2626"/>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 — H3</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H3: Growth Does Not Predict Win Rate ✗</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Refuted — Pearson r = −0.001 ≈ no relationship</a:t>
            </a:r>
            <a:endParaRPr lang="en-US" sz="1200" dirty="0"/>
          </a:p>
        </p:txBody>
      </p:sp>
      <p:graphicFrame>
        <p:nvGraphicFramePr>
          <p:cNvPr id="6" name="Chart 0"/>
          <p:cNvGraphicFramePr/>
          <p:nvPr/>
        </p:nvGraphicFramePr>
        <p:xfrm>
          <a:off x="457200" y="1371600"/>
          <a:ext cx="57607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400800" y="1371600"/>
            <a:ext cx="2514600" cy="15544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6492240" y="1463040"/>
            <a:ext cx="2286000" cy="3657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Mathematics</a:t>
            </a:r>
            <a:endParaRPr lang="en-US" sz="1100" dirty="0"/>
          </a:p>
        </p:txBody>
      </p:sp>
      <p:sp>
        <p:nvSpPr>
          <p:cNvPr id="9" name="Text 6"/>
          <p:cNvSpPr/>
          <p:nvPr/>
        </p:nvSpPr>
        <p:spPr>
          <a:xfrm>
            <a:off x="6492240" y="1828800"/>
            <a:ext cx="2286000" cy="22860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Fastest shrinking: −5.0 pp</a:t>
            </a:r>
            <a:endParaRPr lang="en-US" sz="950" dirty="0"/>
          </a:p>
        </p:txBody>
      </p:sp>
      <p:sp>
        <p:nvSpPr>
          <p:cNvPr id="10" name="Text 7"/>
          <p:cNvSpPr/>
          <p:nvPr/>
        </p:nvSpPr>
        <p:spPr>
          <a:xfrm>
            <a:off x="6492240" y="2084832"/>
            <a:ext cx="2286000" cy="228600"/>
          </a:xfrm>
          <a:prstGeom prst="rect">
            <a:avLst/>
          </a:prstGeom>
          <a:noFill/>
          <a:ln/>
        </p:spPr>
        <p:txBody>
          <a:bodyPr wrap="square" lIns="0" tIns="0" rIns="0" bIns="0"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Highest win rate: 44.6%</a:t>
            </a:r>
            <a:endParaRPr lang="en-US" sz="950" dirty="0"/>
          </a:p>
        </p:txBody>
      </p:sp>
      <p:sp>
        <p:nvSpPr>
          <p:cNvPr id="11" name="Text 8"/>
          <p:cNvSpPr/>
          <p:nvPr/>
        </p:nvSpPr>
        <p:spPr>
          <a:xfrm>
            <a:off x="6492240" y="2377440"/>
            <a:ext cx="2286000" cy="4114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Judges reward rigor, not trend.</a:t>
            </a:r>
            <a:endParaRPr lang="en-US" sz="900" dirty="0"/>
          </a:p>
        </p:txBody>
      </p:sp>
      <p:sp>
        <p:nvSpPr>
          <p:cNvPr id="12" name="Shape 9"/>
          <p:cNvSpPr/>
          <p:nvPr/>
        </p:nvSpPr>
        <p:spPr>
          <a:xfrm>
            <a:off x="6400800" y="3200400"/>
            <a:ext cx="2514600" cy="15544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0"/>
          <p:cNvSpPr/>
          <p:nvPr/>
        </p:nvSpPr>
        <p:spPr>
          <a:xfrm>
            <a:off x="6492240" y="3291840"/>
            <a:ext cx="2286000" cy="3657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Translational</a:t>
            </a:r>
            <a:endParaRPr lang="en-US" sz="1100" dirty="0"/>
          </a:p>
          <a:p>
            <a:pPr marL="0" indent="0">
              <a:buNone/>
            </a:pPr>
            <a:r>
              <a:rPr lang="en-US" sz="1100" b="1" dirty="0">
                <a:solidFill>
                  <a:srgbClr val="1E293B"/>
                </a:solidFill>
                <a:latin typeface="Calibri" pitchFamily="34" charset="0"/>
                <a:ea typeface="Calibri" pitchFamily="34" charset="-122"/>
                <a:cs typeface="Calibri" pitchFamily="34" charset="-120"/>
              </a:rPr>
              <a:t>Med. Science</a:t>
            </a:r>
            <a:endParaRPr lang="en-US" sz="1100" dirty="0"/>
          </a:p>
        </p:txBody>
      </p:sp>
      <p:sp>
        <p:nvSpPr>
          <p:cNvPr id="14" name="Text 11"/>
          <p:cNvSpPr/>
          <p:nvPr/>
        </p:nvSpPr>
        <p:spPr>
          <a:xfrm>
            <a:off x="6492240" y="3657600"/>
            <a:ext cx="2286000" cy="228600"/>
          </a:xfrm>
          <a:prstGeom prst="rect">
            <a:avLst/>
          </a:prstGeom>
          <a:noFill/>
          <a:ln/>
        </p:spPr>
        <p:txBody>
          <a:bodyPr wrap="square" lIns="0" tIns="0" rIns="0" bIns="0"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Fastest growing: +3.4 pp</a:t>
            </a:r>
            <a:endParaRPr lang="en-US" sz="950" dirty="0"/>
          </a:p>
        </p:txBody>
      </p:sp>
      <p:sp>
        <p:nvSpPr>
          <p:cNvPr id="15" name="Text 12"/>
          <p:cNvSpPr/>
          <p:nvPr/>
        </p:nvSpPr>
        <p:spPr>
          <a:xfrm>
            <a:off x="6492240" y="3913632"/>
            <a:ext cx="2286000" cy="22860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Below avg win rate: 22.9%</a:t>
            </a:r>
            <a:endParaRPr lang="en-US" sz="950" dirty="0"/>
          </a:p>
        </p:txBody>
      </p:sp>
      <p:sp>
        <p:nvSpPr>
          <p:cNvPr id="16" name="Text 13"/>
          <p:cNvSpPr/>
          <p:nvPr/>
        </p:nvSpPr>
        <p:spPr>
          <a:xfrm>
            <a:off x="6492240" y="4206240"/>
            <a:ext cx="2286000" cy="4114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Judges reward rigor, not trend.</a:t>
            </a:r>
            <a:endParaRPr lang="en-US" sz="900" dirty="0"/>
          </a:p>
        </p:txBody>
      </p:sp>
      <p:sp>
        <p:nvSpPr>
          <p:cNvPr id="17" name="Text 14"/>
          <p:cNvSpPr/>
          <p:nvPr/>
        </p:nvSpPr>
        <p:spPr>
          <a:xfrm>
            <a:off x="548640" y="4480560"/>
            <a:ext cx="228600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r = −0.001</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000" advTm="10739"/>
    </mc:Choice>
    <mc:Fallback xmlns="">
      <p:transition spd="slow" advTm="1073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16A34A"/>
          </a:solidFill>
          <a:ln w="12700">
            <a:solidFill>
              <a:srgbClr val="16A34A"/>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RESULT — H2</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H2: Award $ Independent of Win Rate ✓</a:t>
            </a:r>
            <a:endParaRPr lang="en-US" sz="2600" dirty="0"/>
          </a:p>
        </p:txBody>
      </p:sp>
      <p:sp>
        <p:nvSpPr>
          <p:cNvPr id="5" name="Text 3"/>
          <p:cNvSpPr/>
          <p:nvPr/>
        </p:nvSpPr>
        <p:spPr>
          <a:xfrm>
            <a:off x="457200" y="1051560"/>
            <a:ext cx="8229600" cy="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Confirmed — Pearson r = 0.142 ≈ no meaningful relationship</a:t>
            </a:r>
            <a:endParaRPr lang="en-US" sz="1300" dirty="0"/>
          </a:p>
        </p:txBody>
      </p:sp>
      <p:graphicFrame>
        <p:nvGraphicFramePr>
          <p:cNvPr id="6" name="Chart 0"/>
          <p:cNvGraphicFramePr/>
          <p:nvPr/>
        </p:nvGraphicFramePr>
        <p:xfrm>
          <a:off x="457200" y="1371600"/>
          <a:ext cx="53035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943600" y="1371600"/>
            <a:ext cx="2926080" cy="3520440"/>
          </a:xfrm>
          <a:prstGeom prst="rect">
            <a:avLst/>
          </a:prstGeom>
          <a:solidFill>
            <a:srgbClr val="F4F7FB"/>
          </a:solidFill>
          <a:ln w="12700">
            <a:solidFill>
              <a:srgbClr val="5B9BD5"/>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5"/>
          <p:cNvSpPr/>
          <p:nvPr/>
        </p:nvSpPr>
        <p:spPr>
          <a:xfrm>
            <a:off x="6035040" y="1463040"/>
            <a:ext cx="2743200" cy="274320"/>
          </a:xfrm>
          <a:prstGeom prst="rect">
            <a:avLst/>
          </a:prstGeom>
          <a:noFill/>
          <a:ln/>
        </p:spPr>
        <p:txBody>
          <a:bodyPr wrap="square" lIns="0" tIns="0" rIns="0" bIns="0" rtlCol="0" anchor="ctr"/>
          <a:lstStyle/>
          <a:p>
            <a:pPr marL="0" indent="0">
              <a:buNone/>
            </a:pPr>
            <a:r>
              <a:rPr lang="en-US" sz="1100" b="1" dirty="0">
                <a:solidFill>
                  <a:srgbClr val="1A2B5E"/>
                </a:solidFill>
                <a:latin typeface="Georgia" pitchFamily="34" charset="0"/>
                <a:ea typeface="Georgia" pitchFamily="34" charset="-122"/>
                <a:cs typeface="Georgia" pitchFamily="34" charset="-120"/>
              </a:rPr>
              <a:t>The Key Contrast</a:t>
            </a:r>
            <a:endParaRPr lang="en-US" sz="1100" dirty="0"/>
          </a:p>
        </p:txBody>
      </p:sp>
      <p:sp>
        <p:nvSpPr>
          <p:cNvPr id="9" name="Shape 6"/>
          <p:cNvSpPr/>
          <p:nvPr/>
        </p:nvSpPr>
        <p:spPr>
          <a:xfrm>
            <a:off x="6035040" y="1828800"/>
            <a:ext cx="2743200" cy="1325880"/>
          </a:xfrm>
          <a:prstGeom prst="rect">
            <a:avLst/>
          </a:prstGeom>
          <a:solidFill>
            <a:srgbClr val="FFFFFF"/>
          </a:solidFill>
          <a:ln w="12700">
            <a:solidFill>
              <a:srgbClr val="E2E8F0"/>
            </a:solidFill>
            <a:prstDash val="solid"/>
          </a:ln>
        </p:spPr>
        <p:txBody>
          <a:bodyPr/>
          <a:lstStyle/>
          <a:p>
            <a:endParaRPr lang="en-US"/>
          </a:p>
        </p:txBody>
      </p:sp>
      <p:sp>
        <p:nvSpPr>
          <p:cNvPr id="10" name="Shape 7"/>
          <p:cNvSpPr/>
          <p:nvPr/>
        </p:nvSpPr>
        <p:spPr>
          <a:xfrm>
            <a:off x="6035040" y="1828800"/>
            <a:ext cx="64008" cy="1325880"/>
          </a:xfrm>
          <a:prstGeom prst="rect">
            <a:avLst/>
          </a:prstGeom>
          <a:solidFill>
            <a:srgbClr val="2D6A9F"/>
          </a:solidFill>
          <a:ln w="12700">
            <a:solidFill>
              <a:srgbClr val="2D6A9F"/>
            </a:solidFill>
            <a:prstDash val="solid"/>
          </a:ln>
        </p:spPr>
        <p:txBody>
          <a:bodyPr/>
          <a:lstStyle/>
          <a:p>
            <a:endParaRPr lang="en-US"/>
          </a:p>
        </p:txBody>
      </p:sp>
      <p:sp>
        <p:nvSpPr>
          <p:cNvPr id="11" name="Text 8"/>
          <p:cNvSpPr/>
          <p:nvPr/>
        </p:nvSpPr>
        <p:spPr>
          <a:xfrm>
            <a:off x="6172200" y="1892808"/>
            <a:ext cx="256032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Mathematics</a:t>
            </a:r>
            <a:endParaRPr lang="en-US" sz="1100" dirty="0"/>
          </a:p>
        </p:txBody>
      </p:sp>
      <p:sp>
        <p:nvSpPr>
          <p:cNvPr id="12" name="Text 9"/>
          <p:cNvSpPr/>
          <p:nvPr/>
        </p:nvSpPr>
        <p:spPr>
          <a:xfrm>
            <a:off x="6172200" y="2148840"/>
            <a:ext cx="2560320" cy="228600"/>
          </a:xfrm>
          <a:prstGeom prst="rect">
            <a:avLst/>
          </a:prstGeom>
          <a:noFill/>
          <a:ln/>
        </p:spPr>
        <p:txBody>
          <a:bodyPr wrap="square" lIns="0" tIns="0" rIns="0" bIns="0"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Win Rate: 44.6%  (HIGHEST)</a:t>
            </a:r>
            <a:endParaRPr lang="en-US" sz="950" dirty="0"/>
          </a:p>
        </p:txBody>
      </p:sp>
      <p:sp>
        <p:nvSpPr>
          <p:cNvPr id="13" name="Text 10"/>
          <p:cNvSpPr/>
          <p:nvPr/>
        </p:nvSpPr>
        <p:spPr>
          <a:xfrm>
            <a:off x="6172200" y="2377440"/>
            <a:ext cx="2560320" cy="22860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Avg Award: $1,859  (LOWEST)</a:t>
            </a:r>
            <a:endParaRPr lang="en-US" sz="950" dirty="0"/>
          </a:p>
        </p:txBody>
      </p:sp>
      <p:sp>
        <p:nvSpPr>
          <p:cNvPr id="14" name="Text 11"/>
          <p:cNvSpPr/>
          <p:nvPr/>
        </p:nvSpPr>
        <p:spPr>
          <a:xfrm>
            <a:off x="6172200" y="2606040"/>
            <a:ext cx="256032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Fewer special award sponsors in pure math</a:t>
            </a:r>
            <a:endParaRPr lang="en-US" sz="900" dirty="0"/>
          </a:p>
        </p:txBody>
      </p:sp>
      <p:sp>
        <p:nvSpPr>
          <p:cNvPr id="15" name="Shape 12"/>
          <p:cNvSpPr/>
          <p:nvPr/>
        </p:nvSpPr>
        <p:spPr>
          <a:xfrm>
            <a:off x="6035040" y="3291840"/>
            <a:ext cx="2743200" cy="1325880"/>
          </a:xfrm>
          <a:prstGeom prst="rect">
            <a:avLst/>
          </a:prstGeom>
          <a:solidFill>
            <a:srgbClr val="FFFFFF"/>
          </a:solidFill>
          <a:ln w="12700">
            <a:solidFill>
              <a:srgbClr val="E2E8F0"/>
            </a:solidFill>
            <a:prstDash val="solid"/>
          </a:ln>
        </p:spPr>
        <p:txBody>
          <a:bodyPr/>
          <a:lstStyle/>
          <a:p>
            <a:endParaRPr lang="en-US"/>
          </a:p>
        </p:txBody>
      </p:sp>
      <p:sp>
        <p:nvSpPr>
          <p:cNvPr id="16" name="Shape 13"/>
          <p:cNvSpPr/>
          <p:nvPr/>
        </p:nvSpPr>
        <p:spPr>
          <a:xfrm>
            <a:off x="6035040" y="3291840"/>
            <a:ext cx="64008" cy="1325880"/>
          </a:xfrm>
          <a:prstGeom prst="rect">
            <a:avLst/>
          </a:prstGeom>
          <a:solidFill>
            <a:srgbClr val="E8873A"/>
          </a:solidFill>
          <a:ln w="12700">
            <a:solidFill>
              <a:srgbClr val="E8873A"/>
            </a:solidFill>
            <a:prstDash val="solid"/>
          </a:ln>
        </p:spPr>
        <p:txBody>
          <a:bodyPr/>
          <a:lstStyle/>
          <a:p>
            <a:endParaRPr lang="en-US"/>
          </a:p>
        </p:txBody>
      </p:sp>
      <p:sp>
        <p:nvSpPr>
          <p:cNvPr id="17" name="Text 14"/>
          <p:cNvSpPr/>
          <p:nvPr/>
        </p:nvSpPr>
        <p:spPr>
          <a:xfrm>
            <a:off x="6172200" y="3355848"/>
            <a:ext cx="256032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Earth &amp; Environmental Sci.</a:t>
            </a:r>
            <a:endParaRPr lang="en-US" sz="1100" dirty="0"/>
          </a:p>
        </p:txBody>
      </p:sp>
      <p:sp>
        <p:nvSpPr>
          <p:cNvPr id="18" name="Text 15"/>
          <p:cNvSpPr/>
          <p:nvPr/>
        </p:nvSpPr>
        <p:spPr>
          <a:xfrm>
            <a:off x="6172200" y="3611880"/>
            <a:ext cx="256032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Win Rate: 32.7%  (below median)</a:t>
            </a:r>
            <a:endParaRPr lang="en-US" sz="950" dirty="0"/>
          </a:p>
        </p:txBody>
      </p:sp>
      <p:sp>
        <p:nvSpPr>
          <p:cNvPr id="19" name="Text 16"/>
          <p:cNvSpPr/>
          <p:nvPr/>
        </p:nvSpPr>
        <p:spPr>
          <a:xfrm>
            <a:off x="6172200" y="3840480"/>
            <a:ext cx="2560320" cy="228600"/>
          </a:xfrm>
          <a:prstGeom prst="rect">
            <a:avLst/>
          </a:prstGeom>
          <a:noFill/>
          <a:ln/>
        </p:spPr>
        <p:txBody>
          <a:bodyPr wrap="square" lIns="0" tIns="0" rIns="0" bIns="0"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Avg Award: $10,382  (HIGHEST)</a:t>
            </a:r>
            <a:endParaRPr lang="en-US" sz="950" dirty="0"/>
          </a:p>
        </p:txBody>
      </p:sp>
      <p:sp>
        <p:nvSpPr>
          <p:cNvPr id="20" name="Text 17"/>
          <p:cNvSpPr/>
          <p:nvPr/>
        </p:nvSpPr>
        <p:spPr>
          <a:xfrm>
            <a:off x="6172200" y="4069080"/>
            <a:ext cx="2560320" cy="4114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Dense sponsor network: gov agencies, conservation funds, corporations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DISCUSSION</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Why Are Win Rate and Award $ Independent?</a:t>
            </a:r>
            <a:endParaRPr lang="en-US" sz="2800" dirty="0"/>
          </a:p>
        </p:txBody>
      </p:sp>
      <p:sp>
        <p:nvSpPr>
          <p:cNvPr id="5" name="Text 3"/>
          <p:cNvSpPr/>
          <p:nvPr/>
        </p:nvSpPr>
        <p:spPr>
          <a:xfrm>
            <a:off x="457200" y="1188720"/>
            <a:ext cx="8229600" cy="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two-process model explains the structural divergence</a:t>
            </a:r>
            <a:endParaRPr lang="en-US" sz="1200" dirty="0"/>
          </a:p>
        </p:txBody>
      </p:sp>
      <p:sp>
        <p:nvSpPr>
          <p:cNvPr id="6" name="Shape 4"/>
          <p:cNvSpPr/>
          <p:nvPr/>
        </p:nvSpPr>
        <p:spPr>
          <a:xfrm>
            <a:off x="457200" y="1417320"/>
            <a:ext cx="3977640" cy="3429000"/>
          </a:xfrm>
          <a:prstGeom prst="rect">
            <a:avLst/>
          </a:prstGeom>
          <a:solidFill>
            <a:srgbClr val="F4F7FB"/>
          </a:solidFill>
          <a:ln w="12700">
            <a:solidFill>
              <a:srgbClr val="5B9BD5"/>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457200" y="1417320"/>
            <a:ext cx="3977640" cy="411480"/>
          </a:xfrm>
          <a:prstGeom prst="rect">
            <a:avLst/>
          </a:prstGeom>
          <a:solidFill>
            <a:srgbClr val="2D6A9F"/>
          </a:solidFill>
          <a:ln w="12700">
            <a:solidFill>
              <a:srgbClr val="2D6A9F"/>
            </a:solidFill>
            <a:prstDash val="solid"/>
          </a:ln>
        </p:spPr>
        <p:txBody>
          <a:bodyPr/>
          <a:lstStyle/>
          <a:p>
            <a:endParaRPr lang="en-US"/>
          </a:p>
        </p:txBody>
      </p:sp>
      <p:sp>
        <p:nvSpPr>
          <p:cNvPr id="8" name="Text 6"/>
          <p:cNvSpPr/>
          <p:nvPr/>
        </p:nvSpPr>
        <p:spPr>
          <a:xfrm>
            <a:off x="548640" y="1463040"/>
            <a:ext cx="37947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Process 1 — ISEF Grand Awards</a:t>
            </a:r>
            <a:endParaRPr lang="en-US" sz="1100" dirty="0"/>
          </a:p>
        </p:txBody>
      </p:sp>
      <p:sp>
        <p:nvSpPr>
          <p:cNvPr id="9" name="Text 7"/>
          <p:cNvSpPr/>
          <p:nvPr/>
        </p:nvSpPr>
        <p:spPr>
          <a:xfrm>
            <a:off x="594360" y="1920240"/>
            <a:ext cx="3703320" cy="2834640"/>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Awarded by ISEF judges based on merit</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Distributed proportionally to projects per category — built-in equalization</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Best of Category: $5,000  |  1st: $3,000  |  2nd: $1,500  |  3rd: $1,000  |  4th: $500</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This mechanism ensures all active categories have similar win rates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Explains why win rates cluster between 22–44% across all 24 categories</a:t>
            </a:r>
            <a:endParaRPr lang="en-US" sz="1050" dirty="0"/>
          </a:p>
        </p:txBody>
      </p:sp>
      <p:sp>
        <p:nvSpPr>
          <p:cNvPr id="10" name="Shape 8"/>
          <p:cNvSpPr/>
          <p:nvPr/>
        </p:nvSpPr>
        <p:spPr>
          <a:xfrm>
            <a:off x="4526280" y="3017520"/>
            <a:ext cx="548640" cy="0"/>
          </a:xfrm>
          <a:prstGeom prst="line">
            <a:avLst/>
          </a:prstGeom>
          <a:noFill/>
          <a:ln w="25400">
            <a:solidFill>
              <a:srgbClr val="64748B"/>
            </a:solidFill>
            <a:prstDash val="dash"/>
          </a:ln>
        </p:spPr>
        <p:txBody>
          <a:bodyPr/>
          <a:lstStyle/>
          <a:p>
            <a:endParaRPr lang="en-US"/>
          </a:p>
        </p:txBody>
      </p:sp>
      <p:sp>
        <p:nvSpPr>
          <p:cNvPr id="11" name="Text 9"/>
          <p:cNvSpPr/>
          <p:nvPr/>
        </p:nvSpPr>
        <p:spPr>
          <a:xfrm>
            <a:off x="4498848" y="2788920"/>
            <a:ext cx="594360" cy="365760"/>
          </a:xfrm>
          <a:prstGeom prst="rect">
            <a:avLst/>
          </a:prstGeom>
          <a:noFill/>
          <a:ln/>
        </p:spPr>
        <p:txBody>
          <a:bodyPr wrap="square" lIns="0" tIns="0" rIns="0" bIns="0" rtlCol="0" anchor="ctr"/>
          <a:lstStyle/>
          <a:p>
            <a:pPr marL="0" indent="0" algn="ctr">
              <a:buNone/>
            </a:pPr>
            <a:r>
              <a:rPr lang="en-US" sz="2200" b="1" dirty="0">
                <a:solidFill>
                  <a:srgbClr val="E8873A"/>
                </a:solidFill>
                <a:latin typeface="Georgia" pitchFamily="34" charset="0"/>
                <a:ea typeface="Georgia" pitchFamily="34" charset="-122"/>
                <a:cs typeface="Georgia" pitchFamily="34" charset="-120"/>
              </a:rPr>
              <a:t>≠</a:t>
            </a:r>
            <a:endParaRPr lang="en-US" sz="2200" dirty="0"/>
          </a:p>
        </p:txBody>
      </p:sp>
      <p:sp>
        <p:nvSpPr>
          <p:cNvPr id="12" name="Shape 10"/>
          <p:cNvSpPr/>
          <p:nvPr/>
        </p:nvSpPr>
        <p:spPr>
          <a:xfrm>
            <a:off x="5166360" y="1417320"/>
            <a:ext cx="3749040" cy="3429000"/>
          </a:xfrm>
          <a:prstGeom prst="rect">
            <a:avLst/>
          </a:prstGeom>
          <a:solidFill>
            <a:srgbClr val="F4F7FB"/>
          </a:solidFill>
          <a:ln w="12700">
            <a:solidFill>
              <a:srgbClr val="E8873A"/>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5166360" y="1417320"/>
            <a:ext cx="3749040" cy="411480"/>
          </a:xfrm>
          <a:prstGeom prst="rect">
            <a:avLst/>
          </a:prstGeom>
          <a:solidFill>
            <a:srgbClr val="E8873A"/>
          </a:solidFill>
          <a:ln w="12700">
            <a:solidFill>
              <a:srgbClr val="E8873A"/>
            </a:solidFill>
            <a:prstDash val="solid"/>
          </a:ln>
        </p:spPr>
        <p:txBody>
          <a:bodyPr/>
          <a:lstStyle/>
          <a:p>
            <a:endParaRPr lang="en-US"/>
          </a:p>
        </p:txBody>
      </p:sp>
      <p:sp>
        <p:nvSpPr>
          <p:cNvPr id="14" name="Text 12"/>
          <p:cNvSpPr/>
          <p:nvPr/>
        </p:nvSpPr>
        <p:spPr>
          <a:xfrm>
            <a:off x="5257800" y="1463040"/>
            <a:ext cx="35661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Process 2 — Special Awards</a:t>
            </a:r>
            <a:endParaRPr lang="en-US" sz="1100" dirty="0"/>
          </a:p>
        </p:txBody>
      </p:sp>
      <p:sp>
        <p:nvSpPr>
          <p:cNvPr id="15" name="Text 13"/>
          <p:cNvSpPr/>
          <p:nvPr/>
        </p:nvSpPr>
        <p:spPr>
          <a:xfrm>
            <a:off x="5303520" y="1920240"/>
            <a:ext cx="3520440" cy="2834640"/>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Awarded by independent sponsor organizations (government, corporate, foundations)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Sponsors choose which categories to support and how much to offer</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Can include tuition scholarships worth $40K–$180K+</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Environmental, biomedical, and applied categories attract more sponsors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Pure math and abstract physics attract fewer external sponsors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Creates the award $ gap between categories that is entirely uncorrelated with win rates</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slow" p14:dur="2000" advTm="55887"/>
    </mc:Choice>
    <mc:Fallback xmlns="">
      <p:transition spd="slow" advTm="5588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DISCUSSION</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the Findings Mean</a:t>
            </a:r>
            <a:endParaRPr lang="en-US" sz="2800" dirty="0"/>
          </a:p>
        </p:txBody>
      </p:sp>
      <p:sp>
        <p:nvSpPr>
          <p:cNvPr id="5" name="Shape 3"/>
          <p:cNvSpPr/>
          <p:nvPr/>
        </p:nvSpPr>
        <p:spPr>
          <a:xfrm>
            <a:off x="457200" y="1371600"/>
            <a:ext cx="84124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371600"/>
            <a:ext cx="64008" cy="1097280"/>
          </a:xfrm>
          <a:prstGeom prst="rect">
            <a:avLst/>
          </a:prstGeom>
          <a:solidFill>
            <a:srgbClr val="2D6A9F"/>
          </a:solidFill>
          <a:ln w="12700">
            <a:solidFill>
              <a:srgbClr val="2D6A9F"/>
            </a:solidFill>
            <a:prstDash val="solid"/>
          </a:ln>
        </p:spPr>
        <p:txBody>
          <a:bodyPr/>
          <a:lstStyle/>
          <a:p>
            <a:endParaRPr lang="en-US"/>
          </a:p>
        </p:txBody>
      </p:sp>
      <p:sp>
        <p:nvSpPr>
          <p:cNvPr id="7" name="Shape 5"/>
          <p:cNvSpPr/>
          <p:nvPr/>
        </p:nvSpPr>
        <p:spPr>
          <a:xfrm>
            <a:off x="594360" y="1691640"/>
            <a:ext cx="411480" cy="411480"/>
          </a:xfrm>
          <a:prstGeom prst="ellipse">
            <a:avLst/>
          </a:prstGeom>
          <a:solidFill>
            <a:srgbClr val="2D6A9F"/>
          </a:solidFill>
          <a:ln w="12700">
            <a:solidFill>
              <a:srgbClr val="2D6A9F"/>
            </a:solidFill>
            <a:prstDash val="solid"/>
          </a:ln>
        </p:spPr>
        <p:txBody>
          <a:bodyPr/>
          <a:lstStyle/>
          <a:p>
            <a:endParaRPr lang="en-US"/>
          </a:p>
        </p:txBody>
      </p:sp>
      <p:sp>
        <p:nvSpPr>
          <p:cNvPr id="8" name="Text 6"/>
          <p:cNvSpPr/>
          <p:nvPr/>
        </p:nvSpPr>
        <p:spPr>
          <a:xfrm>
            <a:off x="594360" y="169164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H1</a:t>
            </a:r>
            <a:endParaRPr lang="en-US" sz="900" dirty="0"/>
          </a:p>
        </p:txBody>
      </p:sp>
      <p:sp>
        <p:nvSpPr>
          <p:cNvPr id="9" name="Text 7"/>
          <p:cNvSpPr/>
          <p:nvPr/>
        </p:nvSpPr>
        <p:spPr>
          <a:xfrm>
            <a:off x="1143000" y="1463040"/>
            <a:ext cx="722376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AI/ML is now embedded in ISEF</a:t>
            </a:r>
            <a:endParaRPr lang="en-US" sz="1100" dirty="0"/>
          </a:p>
        </p:txBody>
      </p:sp>
      <p:sp>
        <p:nvSpPr>
          <p:cNvPr id="10" name="Text 8"/>
          <p:cNvSpPr/>
          <p:nvPr/>
        </p:nvSpPr>
        <p:spPr>
          <a:xfrm>
            <a:off x="1143000" y="1755648"/>
            <a:ext cx="7223760" cy="640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Student research shifted dramatically toward computing and AI over the past decade, reflecting both cultural availability and genuine student interest. By 2024, machine learning appears in 1 in 13 project abstracts.</a:t>
            </a:r>
            <a:endParaRPr lang="en-US" sz="1000" dirty="0"/>
          </a:p>
        </p:txBody>
      </p:sp>
      <p:sp>
        <p:nvSpPr>
          <p:cNvPr id="11" name="Shape 9"/>
          <p:cNvSpPr/>
          <p:nvPr/>
        </p:nvSpPr>
        <p:spPr>
          <a:xfrm>
            <a:off x="457200" y="2606040"/>
            <a:ext cx="84124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57200" y="2606040"/>
            <a:ext cx="64008" cy="1097280"/>
          </a:xfrm>
          <a:prstGeom prst="rect">
            <a:avLst/>
          </a:prstGeom>
          <a:solidFill>
            <a:srgbClr val="DC2626"/>
          </a:solidFill>
          <a:ln w="12700">
            <a:solidFill>
              <a:srgbClr val="DC2626"/>
            </a:solidFill>
            <a:prstDash val="solid"/>
          </a:ln>
        </p:spPr>
        <p:txBody>
          <a:bodyPr/>
          <a:lstStyle/>
          <a:p>
            <a:endParaRPr lang="en-US"/>
          </a:p>
        </p:txBody>
      </p:sp>
      <p:sp>
        <p:nvSpPr>
          <p:cNvPr id="13" name="Shape 11"/>
          <p:cNvSpPr/>
          <p:nvPr/>
        </p:nvSpPr>
        <p:spPr>
          <a:xfrm>
            <a:off x="594360" y="2926080"/>
            <a:ext cx="411480" cy="411480"/>
          </a:xfrm>
          <a:prstGeom prst="ellipse">
            <a:avLst/>
          </a:prstGeom>
          <a:solidFill>
            <a:srgbClr val="DC2626"/>
          </a:solidFill>
          <a:ln w="12700">
            <a:solidFill>
              <a:srgbClr val="DC2626"/>
            </a:solidFill>
            <a:prstDash val="solid"/>
          </a:ln>
        </p:spPr>
        <p:txBody>
          <a:bodyPr/>
          <a:lstStyle/>
          <a:p>
            <a:endParaRPr lang="en-US"/>
          </a:p>
        </p:txBody>
      </p:sp>
      <p:sp>
        <p:nvSpPr>
          <p:cNvPr id="14" name="Text 12"/>
          <p:cNvSpPr/>
          <p:nvPr/>
        </p:nvSpPr>
        <p:spPr>
          <a:xfrm>
            <a:off x="594360" y="292608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H3</a:t>
            </a:r>
            <a:endParaRPr lang="en-US" sz="900" dirty="0"/>
          </a:p>
        </p:txBody>
      </p:sp>
      <p:sp>
        <p:nvSpPr>
          <p:cNvPr id="15" name="Text 13"/>
          <p:cNvSpPr/>
          <p:nvPr/>
        </p:nvSpPr>
        <p:spPr>
          <a:xfrm>
            <a:off x="1143000" y="2697480"/>
            <a:ext cx="722376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ISEF judging rewards rigor, not trend</a:t>
            </a:r>
            <a:endParaRPr lang="en-US" sz="1100" dirty="0"/>
          </a:p>
        </p:txBody>
      </p:sp>
      <p:sp>
        <p:nvSpPr>
          <p:cNvPr id="16" name="Text 14"/>
          <p:cNvSpPr/>
          <p:nvPr/>
        </p:nvSpPr>
        <p:spPr>
          <a:xfrm>
            <a:off x="1143000" y="2990088"/>
            <a:ext cx="7223760" cy="640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categories with the highest win rates — Mathematics, Systems Software — share methodological rigor and clear evaluation criteria. ISEF's award system appears insulated from cultural fashion, which has important equity implications.</a:t>
            </a:r>
            <a:endParaRPr lang="en-US" sz="1000" dirty="0"/>
          </a:p>
        </p:txBody>
      </p:sp>
      <p:sp>
        <p:nvSpPr>
          <p:cNvPr id="17" name="Shape 15"/>
          <p:cNvSpPr/>
          <p:nvPr/>
        </p:nvSpPr>
        <p:spPr>
          <a:xfrm>
            <a:off x="457200" y="3840480"/>
            <a:ext cx="84124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57200" y="3840480"/>
            <a:ext cx="64008" cy="1097280"/>
          </a:xfrm>
          <a:prstGeom prst="rect">
            <a:avLst/>
          </a:prstGeom>
          <a:solidFill>
            <a:srgbClr val="E8873A"/>
          </a:solidFill>
          <a:ln w="12700">
            <a:solidFill>
              <a:srgbClr val="E8873A"/>
            </a:solidFill>
            <a:prstDash val="solid"/>
          </a:ln>
        </p:spPr>
        <p:txBody>
          <a:bodyPr/>
          <a:lstStyle/>
          <a:p>
            <a:endParaRPr lang="en-US"/>
          </a:p>
        </p:txBody>
      </p:sp>
      <p:sp>
        <p:nvSpPr>
          <p:cNvPr id="19" name="Shape 17"/>
          <p:cNvSpPr/>
          <p:nvPr/>
        </p:nvSpPr>
        <p:spPr>
          <a:xfrm>
            <a:off x="594360" y="4160520"/>
            <a:ext cx="411480" cy="411480"/>
          </a:xfrm>
          <a:prstGeom prst="ellipse">
            <a:avLst/>
          </a:prstGeom>
          <a:solidFill>
            <a:srgbClr val="E8873A"/>
          </a:solidFill>
          <a:ln w="12700">
            <a:solidFill>
              <a:srgbClr val="E8873A"/>
            </a:solidFill>
            <a:prstDash val="solid"/>
          </a:ln>
        </p:spPr>
        <p:txBody>
          <a:bodyPr/>
          <a:lstStyle/>
          <a:p>
            <a:endParaRPr lang="en-US"/>
          </a:p>
        </p:txBody>
      </p:sp>
      <p:sp>
        <p:nvSpPr>
          <p:cNvPr id="20" name="Text 18"/>
          <p:cNvSpPr/>
          <p:nvPr/>
        </p:nvSpPr>
        <p:spPr>
          <a:xfrm>
            <a:off x="594360" y="416052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H2</a:t>
            </a:r>
            <a:endParaRPr lang="en-US" sz="900" dirty="0"/>
          </a:p>
        </p:txBody>
      </p:sp>
      <p:sp>
        <p:nvSpPr>
          <p:cNvPr id="21" name="Text 19"/>
          <p:cNvSpPr/>
          <p:nvPr/>
        </p:nvSpPr>
        <p:spPr>
          <a:xfrm>
            <a:off x="1143000" y="3931920"/>
            <a:ext cx="722376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Financial opportunity is sponsor-driven</a:t>
            </a:r>
            <a:endParaRPr lang="en-US" sz="1100" dirty="0"/>
          </a:p>
        </p:txBody>
      </p:sp>
      <p:sp>
        <p:nvSpPr>
          <p:cNvPr id="22" name="Text 20"/>
          <p:cNvSpPr/>
          <p:nvPr/>
        </p:nvSpPr>
        <p:spPr>
          <a:xfrm>
            <a:off x="1143000" y="4224528"/>
            <a:ext cx="7223760" cy="640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 Mathematics winner receives ~$1,859 on average; an Earth &amp; Env. Sciences winner receives ~$10,382. If students are unaware of this gap, science fair may channel financial opportunity by sponsor interest — not competitive merit.</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33908"/>
    </mc:Choice>
    <mc:Fallback xmlns="">
      <p:transition spd="slow" advTm="3390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ERROR ANALYSIS</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Limitations &amp; Data Gaps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183880" cy="3968496"/>
        </p:xfrm>
        <a:graphic>
          <a:graphicData uri="http://schemas.openxmlformats.org/drawingml/2006/table">
            <a:tbl>
              <a:tblPr/>
              <a:tblGrid>
                <a:gridCol w="22860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56692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Limitation</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B5E"/>
                    </a:solidFill>
                  </a:tcPr>
                </a:tc>
                <a:extLst>
                  <a:ext uri="{0D108BD9-81ED-4DB2-BD59-A6C34878D82A}">
                    <a16:rowId xmlns:a16="http://schemas.microsoft.com/office/drawing/2014/main" val="10000"/>
                  </a:ext>
                </a:extLst>
              </a:tr>
              <a:tr h="566928">
                <a:tc>
                  <a:txBody>
                    <a:bodyPr/>
                    <a:lstStyle/>
                    <a:p>
                      <a:pPr marL="0" indent="0">
                        <a:buNone/>
                      </a:pPr>
                      <a:r>
                        <a:rPr lang="en-US" sz="950" b="1" dirty="0">
                          <a:solidFill>
                            <a:srgbClr val="1E293B"/>
                          </a:solidFill>
                          <a:latin typeface="Calibri" pitchFamily="34" charset="0"/>
                          <a:ea typeface="Calibri" pitchFamily="34" charset="-122"/>
                          <a:cs typeface="Calibri" pitchFamily="34" charset="-120"/>
                        </a:rPr>
                        <a:t>2015–2016 Data Gap</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68–82% null category rates from source; both years excluded from category analysis. Abstract text retained for keyword analysis.</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extLst>
                  <a:ext uri="{0D108BD9-81ED-4DB2-BD59-A6C34878D82A}">
                    <a16:rowId xmlns:a16="http://schemas.microsoft.com/office/drawing/2014/main" val="10001"/>
                  </a:ext>
                </a:extLst>
              </a:tr>
              <a:tr h="566928">
                <a:tc>
                  <a:txBody>
                    <a:bodyPr/>
                    <a:lstStyle/>
                    <a:p>
                      <a:pPr marL="0" indent="0">
                        <a:buNone/>
                      </a:pPr>
                      <a:r>
                        <a:rPr lang="en-US" sz="950" b="1" dirty="0">
                          <a:solidFill>
                            <a:srgbClr val="1E293B"/>
                          </a:solidFill>
                          <a:latin typeface="Calibri" pitchFamily="34" charset="0"/>
                          <a:ea typeface="Calibri" pitchFamily="34" charset="-122"/>
                          <a:cs typeface="Calibri" pitchFamily="34" charset="-120"/>
                        </a:rPr>
                        <a:t>ISEF 2020 Cancelled</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COVID-19 cancellation — no judging or awards. Only 2 apparent "winners" are data artifacts. Excluded from all award analysis.</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950" b="1" dirty="0">
                          <a:solidFill>
                            <a:srgbClr val="1E293B"/>
                          </a:solidFill>
                          <a:latin typeface="Calibri" pitchFamily="34" charset="0"/>
                          <a:ea typeface="Calibri" pitchFamily="34" charset="-122"/>
                          <a:cs typeface="Calibri" pitchFamily="34" charset="-120"/>
                        </a:rPr>
                        <a:t>2024 Award Gap</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Competition held; awards distributed ($75K top prize to Grace Sun). But award data missing from source. Included in topic analysis only.</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900" b="1" dirty="0">
                          <a:solidFill>
                            <a:srgbClr val="E8873A"/>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extLst>
                  <a:ext uri="{0D108BD9-81ED-4DB2-BD59-A6C34878D82A}">
                    <a16:rowId xmlns:a16="http://schemas.microsoft.com/office/drawing/2014/main" val="10003"/>
                  </a:ext>
                </a:extLst>
              </a:tr>
              <a:tr h="566928">
                <a:tc>
                  <a:txBody>
                    <a:bodyPr/>
                    <a:lstStyle/>
                    <a:p>
                      <a:pPr marL="0" indent="0">
                        <a:buNone/>
                      </a:pPr>
                      <a:r>
                        <a:rPr lang="en-US" sz="950" b="1" dirty="0">
                          <a:solidFill>
                            <a:srgbClr val="1E293B"/>
                          </a:solidFill>
                          <a:latin typeface="Calibri" pitchFamily="34" charset="0"/>
                          <a:ea typeface="Calibri" pitchFamily="34" charset="-122"/>
                          <a:cs typeface="Calibri" pitchFamily="34" charset="-120"/>
                        </a:rPr>
                        <a:t>Award Conflation</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award_money sums grand awards + special awards. A $1,000 third-place winner who gets a $40K scholarship appears as a high earner.</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8873A"/>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950" b="1" dirty="0">
                          <a:solidFill>
                            <a:srgbClr val="1E293B"/>
                          </a:solidFill>
                          <a:latin typeface="Calibri" pitchFamily="34" charset="0"/>
                          <a:ea typeface="Calibri" pitchFamily="34" charset="-122"/>
                          <a:cs typeface="Calibri" pitchFamily="34" charset="-120"/>
                        </a:rPr>
                        <a:t>Category Restructure</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ISEF renamed categories in 2017 and made smaller changes in 2020 and 2022. Broad category mapping attempts to account for this.</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marL="0" indent="0" algn="ctr">
                        <a:buNone/>
                      </a:pPr>
                      <a:r>
                        <a:rPr lang="en-US" sz="900" b="1" dirty="0">
                          <a:solidFill>
                            <a:srgbClr val="E8873A"/>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extLst>
                  <a:ext uri="{0D108BD9-81ED-4DB2-BD59-A6C34878D82A}">
                    <a16:rowId xmlns:a16="http://schemas.microsoft.com/office/drawing/2014/main" val="10005"/>
                  </a:ext>
                </a:extLst>
              </a:tr>
              <a:tr h="566928">
                <a:tc>
                  <a:txBody>
                    <a:bodyPr/>
                    <a:lstStyle/>
                    <a:p>
                      <a:pPr marL="0" indent="0">
                        <a:buNone/>
                      </a:pPr>
                      <a:r>
                        <a:rPr lang="en-US" sz="950" b="1" dirty="0">
                          <a:solidFill>
                            <a:srgbClr val="1E293B"/>
                          </a:solidFill>
                          <a:latin typeface="Calibri" pitchFamily="34" charset="0"/>
                          <a:ea typeface="Calibri" pitchFamily="34" charset="-122"/>
                          <a:cs typeface="Calibri" pitchFamily="34" charset="-120"/>
                        </a:rPr>
                        <a:t>Selection Bias</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latin typeface="Calibri" pitchFamily="34" charset="0"/>
                          <a:ea typeface="Calibri" pitchFamily="34" charset="-122"/>
                          <a:cs typeface="Calibri" pitchFamily="34" charset="-120"/>
                        </a:rPr>
                        <a:t>All 14,873 projects already passed regional/national selection. Findings cannot generalize to lower-level science fairs or general students.</a:t>
                      </a:r>
                      <a:endParaRPr lang="en-US" sz="9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64748B"/>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47472"/>
    </mc:Choice>
    <mc:Fallback xmlns="">
      <p:transition spd="slow" advTm="4747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64592"/>
            <a:ext cx="1737360" cy="256032"/>
          </a:xfrm>
          <a:prstGeom prst="rect">
            <a:avLst/>
          </a:prstGeom>
          <a:solidFill>
            <a:srgbClr val="2D6A9F"/>
          </a:solidFill>
          <a:ln w="12700">
            <a:solidFill>
              <a:srgbClr val="2D6A9F"/>
            </a:solidFill>
            <a:prstDash val="solid"/>
          </a:ln>
        </p:spPr>
        <p:txBody>
          <a:bodyPr/>
          <a:lstStyle/>
          <a:p>
            <a:endParaRPr lang="en-US"/>
          </a:p>
        </p:txBody>
      </p:sp>
      <p:sp>
        <p:nvSpPr>
          <p:cNvPr id="3" name="Text 1"/>
          <p:cNvSpPr/>
          <p:nvPr/>
        </p:nvSpPr>
        <p:spPr>
          <a:xfrm>
            <a:off x="7132320" y="164592"/>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FUTURE WORK</a:t>
            </a:r>
            <a:endParaRPr lang="en-US" sz="900" dirty="0"/>
          </a:p>
        </p:txBody>
      </p:sp>
      <p:sp>
        <p:nvSpPr>
          <p:cNvPr id="4" name="Text 2"/>
          <p:cNvSpPr/>
          <p:nvPr/>
        </p:nvSpPr>
        <p:spPr>
          <a:xfrm>
            <a:off x="457200" y="685800"/>
            <a:ext cx="8229600" cy="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Extensions &amp; Future Research</a:t>
            </a:r>
            <a:endParaRPr lang="en-US" sz="2800" dirty="0"/>
          </a:p>
        </p:txBody>
      </p:sp>
      <p:sp>
        <p:nvSpPr>
          <p:cNvPr id="5" name="Shape 3"/>
          <p:cNvSpPr/>
          <p:nvPr/>
        </p:nvSpPr>
        <p:spPr>
          <a:xfrm>
            <a:off x="457200" y="1371600"/>
            <a:ext cx="40690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371600"/>
            <a:ext cx="64008" cy="1097280"/>
          </a:xfrm>
          <a:prstGeom prst="rect">
            <a:avLst/>
          </a:prstGeom>
          <a:solidFill>
            <a:srgbClr val="2D6A9F"/>
          </a:solidFill>
          <a:ln w="12700">
            <a:solidFill>
              <a:srgbClr val="2D6A9F"/>
            </a:solidFill>
            <a:prstDash val="solid"/>
          </a:ln>
        </p:spPr>
        <p:txBody>
          <a:bodyPr/>
          <a:lstStyle/>
          <a:p>
            <a:endParaRPr lang="en-US"/>
          </a:p>
        </p:txBody>
      </p:sp>
      <p:sp>
        <p:nvSpPr>
          <p:cNvPr id="7" name="Text 5"/>
          <p:cNvSpPr/>
          <p:nvPr/>
        </p:nvSpPr>
        <p:spPr>
          <a:xfrm>
            <a:off x="612648" y="1463040"/>
            <a:ext cx="384048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Google Trends Integration</a:t>
            </a:r>
            <a:endParaRPr lang="en-US" sz="1000" dirty="0"/>
          </a:p>
        </p:txBody>
      </p:sp>
      <p:sp>
        <p:nvSpPr>
          <p:cNvPr id="8" name="Text 6"/>
          <p:cNvSpPr/>
          <p:nvPr/>
        </p:nvSpPr>
        <p:spPr>
          <a:xfrm>
            <a:off x="612648" y="1737360"/>
            <a:ext cx="3840480" cy="6583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Overlay public search interest for AI/ML keywords against ISEF abstract frequency to test whether students lead or lag public interest in scientific topics.</a:t>
            </a:r>
            <a:endParaRPr lang="en-US" sz="900" dirty="0"/>
          </a:p>
        </p:txBody>
      </p:sp>
      <p:sp>
        <p:nvSpPr>
          <p:cNvPr id="9" name="Shape 7"/>
          <p:cNvSpPr/>
          <p:nvPr/>
        </p:nvSpPr>
        <p:spPr>
          <a:xfrm>
            <a:off x="4800600" y="1371600"/>
            <a:ext cx="40690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800600" y="1371600"/>
            <a:ext cx="64008" cy="1097280"/>
          </a:xfrm>
          <a:prstGeom prst="rect">
            <a:avLst/>
          </a:prstGeom>
          <a:solidFill>
            <a:srgbClr val="2D6A9F"/>
          </a:solidFill>
          <a:ln w="12700">
            <a:solidFill>
              <a:srgbClr val="2D6A9F"/>
            </a:solidFill>
            <a:prstDash val="solid"/>
          </a:ln>
        </p:spPr>
        <p:txBody>
          <a:bodyPr/>
          <a:lstStyle/>
          <a:p>
            <a:endParaRPr lang="en-US"/>
          </a:p>
        </p:txBody>
      </p:sp>
      <p:sp>
        <p:nvSpPr>
          <p:cNvPr id="11" name="Text 9"/>
          <p:cNvSpPr/>
          <p:nvPr/>
        </p:nvSpPr>
        <p:spPr>
          <a:xfrm>
            <a:off x="4956048" y="1463040"/>
            <a:ext cx="384048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Country &amp; University Rankings</a:t>
            </a:r>
            <a:endParaRPr lang="en-US" sz="1000" dirty="0"/>
          </a:p>
        </p:txBody>
      </p:sp>
      <p:sp>
        <p:nvSpPr>
          <p:cNvPr id="12" name="Text 10"/>
          <p:cNvSpPr/>
          <p:nvPr/>
        </p:nvSpPr>
        <p:spPr>
          <a:xfrm>
            <a:off x="4956048" y="1737360"/>
            <a:ext cx="3840480" cy="6583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Integrate CWUR university ranking data to test whether national academic infrastructure predicts ISEF win rates — an equity and access question.</a:t>
            </a:r>
            <a:endParaRPr lang="en-US" sz="900" dirty="0"/>
          </a:p>
        </p:txBody>
      </p:sp>
      <p:sp>
        <p:nvSpPr>
          <p:cNvPr id="13" name="Shape 11"/>
          <p:cNvSpPr/>
          <p:nvPr/>
        </p:nvSpPr>
        <p:spPr>
          <a:xfrm>
            <a:off x="457200" y="2651760"/>
            <a:ext cx="40690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457200" y="2651760"/>
            <a:ext cx="64008" cy="1097280"/>
          </a:xfrm>
          <a:prstGeom prst="rect">
            <a:avLst/>
          </a:prstGeom>
          <a:solidFill>
            <a:srgbClr val="2D6A9F"/>
          </a:solidFill>
          <a:ln w="12700">
            <a:solidFill>
              <a:srgbClr val="2D6A9F"/>
            </a:solidFill>
            <a:prstDash val="solid"/>
          </a:ln>
        </p:spPr>
        <p:txBody>
          <a:bodyPr/>
          <a:lstStyle/>
          <a:p>
            <a:endParaRPr lang="en-US"/>
          </a:p>
        </p:txBody>
      </p:sp>
      <p:sp>
        <p:nvSpPr>
          <p:cNvPr id="15" name="Text 13"/>
          <p:cNvSpPr/>
          <p:nvPr/>
        </p:nvSpPr>
        <p:spPr>
          <a:xfrm>
            <a:off x="612648" y="2743200"/>
            <a:ext cx="384048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ISEF Placement Tier Analysis</a:t>
            </a:r>
            <a:endParaRPr lang="en-US" sz="1000" dirty="0"/>
          </a:p>
        </p:txBody>
      </p:sp>
      <p:sp>
        <p:nvSpPr>
          <p:cNvPr id="16" name="Text 14"/>
          <p:cNvSpPr/>
          <p:nvPr/>
        </p:nvSpPr>
        <p:spPr>
          <a:xfrm>
            <a:off x="612648" y="3017520"/>
            <a:ext cx="3840480" cy="6583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Parse award text to extract official placement tiers (1st, 2nd, 3rd) separately from special awards, enabling cleaner tests of judging behavior vs. sponsorship.</a:t>
            </a:r>
            <a:endParaRPr lang="en-US" sz="900" dirty="0"/>
          </a:p>
        </p:txBody>
      </p:sp>
      <p:sp>
        <p:nvSpPr>
          <p:cNvPr id="17" name="Shape 15"/>
          <p:cNvSpPr/>
          <p:nvPr/>
        </p:nvSpPr>
        <p:spPr>
          <a:xfrm>
            <a:off x="4800600" y="2651760"/>
            <a:ext cx="40690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800600" y="2651760"/>
            <a:ext cx="64008" cy="1097280"/>
          </a:xfrm>
          <a:prstGeom prst="rect">
            <a:avLst/>
          </a:prstGeom>
          <a:solidFill>
            <a:srgbClr val="2D6A9F"/>
          </a:solidFill>
          <a:ln w="12700">
            <a:solidFill>
              <a:srgbClr val="2D6A9F"/>
            </a:solidFill>
            <a:prstDash val="solid"/>
          </a:ln>
        </p:spPr>
        <p:txBody>
          <a:bodyPr/>
          <a:lstStyle/>
          <a:p>
            <a:endParaRPr lang="en-US"/>
          </a:p>
        </p:txBody>
      </p:sp>
      <p:sp>
        <p:nvSpPr>
          <p:cNvPr id="19" name="Text 17"/>
          <p:cNvSpPr/>
          <p:nvPr/>
        </p:nvSpPr>
        <p:spPr>
          <a:xfrm>
            <a:off x="4956048" y="2743200"/>
            <a:ext cx="384048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Geographic &amp; Equity Analysis</a:t>
            </a:r>
            <a:endParaRPr lang="en-US" sz="1000" dirty="0"/>
          </a:p>
        </p:txBody>
      </p:sp>
      <p:sp>
        <p:nvSpPr>
          <p:cNvPr id="20" name="Text 18"/>
          <p:cNvSpPr/>
          <p:nvPr/>
        </p:nvSpPr>
        <p:spPr>
          <a:xfrm>
            <a:off x="4956048" y="3017520"/>
            <a:ext cx="3840480" cy="6583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Test whether country or US state of origin predicts topic choice and award outcomes — connecting the disciplinary equity gap to a geographic dimension.</a:t>
            </a:r>
            <a:endParaRPr lang="en-US" sz="900" dirty="0"/>
          </a:p>
        </p:txBody>
      </p:sp>
      <p:sp>
        <p:nvSpPr>
          <p:cNvPr id="21" name="Shape 19"/>
          <p:cNvSpPr/>
          <p:nvPr/>
        </p:nvSpPr>
        <p:spPr>
          <a:xfrm>
            <a:off x="457200" y="3931920"/>
            <a:ext cx="40690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457200" y="3931920"/>
            <a:ext cx="64008" cy="1097280"/>
          </a:xfrm>
          <a:prstGeom prst="rect">
            <a:avLst/>
          </a:prstGeom>
          <a:solidFill>
            <a:srgbClr val="2D6A9F"/>
          </a:solidFill>
          <a:ln w="12700">
            <a:solidFill>
              <a:srgbClr val="2D6A9F"/>
            </a:solidFill>
            <a:prstDash val="solid"/>
          </a:ln>
        </p:spPr>
        <p:txBody>
          <a:bodyPr/>
          <a:lstStyle/>
          <a:p>
            <a:endParaRPr lang="en-US"/>
          </a:p>
        </p:txBody>
      </p:sp>
      <p:sp>
        <p:nvSpPr>
          <p:cNvPr id="23" name="Text 21"/>
          <p:cNvSpPr/>
          <p:nvPr/>
        </p:nvSpPr>
        <p:spPr>
          <a:xfrm>
            <a:off x="612648" y="4023360"/>
            <a:ext cx="384048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Latent Topic Modeling</a:t>
            </a:r>
            <a:endParaRPr lang="en-US" sz="1000" dirty="0"/>
          </a:p>
        </p:txBody>
      </p:sp>
      <p:sp>
        <p:nvSpPr>
          <p:cNvPr id="24" name="Text 22"/>
          <p:cNvSpPr/>
          <p:nvPr/>
        </p:nvSpPr>
        <p:spPr>
          <a:xfrm>
            <a:off x="612648" y="4297680"/>
            <a:ext cx="3840480" cy="6583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Apply LDA topic modeling to uncover hidden themes within categories and track topic-level win rates — finer-grained than the category-level analysis here.</a:t>
            </a:r>
            <a:endParaRPr lang="en-US" sz="900" dirty="0"/>
          </a:p>
        </p:txBody>
      </p:sp>
      <p:sp>
        <p:nvSpPr>
          <p:cNvPr id="25" name="Shape 23"/>
          <p:cNvSpPr/>
          <p:nvPr/>
        </p:nvSpPr>
        <p:spPr>
          <a:xfrm>
            <a:off x="4800600" y="3931920"/>
            <a:ext cx="4069080" cy="109728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4800600" y="3931920"/>
            <a:ext cx="64008" cy="1097280"/>
          </a:xfrm>
          <a:prstGeom prst="rect">
            <a:avLst/>
          </a:prstGeom>
          <a:solidFill>
            <a:srgbClr val="2D6A9F"/>
          </a:solidFill>
          <a:ln w="12700">
            <a:solidFill>
              <a:srgbClr val="2D6A9F"/>
            </a:solidFill>
            <a:prstDash val="solid"/>
          </a:ln>
        </p:spPr>
        <p:txBody>
          <a:bodyPr/>
          <a:lstStyle/>
          <a:p>
            <a:endParaRPr lang="en-US"/>
          </a:p>
        </p:txBody>
      </p:sp>
      <p:sp>
        <p:nvSpPr>
          <p:cNvPr id="27" name="Text 25"/>
          <p:cNvSpPr/>
          <p:nvPr/>
        </p:nvSpPr>
        <p:spPr>
          <a:xfrm>
            <a:off x="4956048" y="4023360"/>
            <a:ext cx="3840480" cy="25603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Longitudinal Career Outcomes</a:t>
            </a:r>
            <a:endParaRPr lang="en-US" sz="1000" dirty="0"/>
          </a:p>
        </p:txBody>
      </p:sp>
      <p:sp>
        <p:nvSpPr>
          <p:cNvPr id="28" name="Text 26"/>
          <p:cNvSpPr/>
          <p:nvPr/>
        </p:nvSpPr>
        <p:spPr>
          <a:xfrm>
            <a:off x="4956048" y="4297680"/>
            <a:ext cx="3840480" cy="6583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Link ISEF finalists to academic and professional records to test whether topic choice or award level predicts the field a student ultimately works in.</a:t>
            </a:r>
            <a:endParaRPr lang="en-US" sz="900" dirty="0"/>
          </a:p>
        </p:txBody>
      </p:sp>
    </p:spTree>
  </p:cSld>
  <p:clrMapOvr>
    <a:masterClrMapping/>
  </p:clrMapOvr>
  <mc:AlternateContent xmlns:mc="http://schemas.openxmlformats.org/markup-compatibility/2006" xmlns:p14="http://schemas.microsoft.com/office/powerpoint/2010/main">
    <mc:Choice Requires="p14">
      <p:transition spd="slow" p14:dur="2000" advTm="45314"/>
    </mc:Choice>
    <mc:Fallback xmlns="">
      <p:transition spd="slow" advTm="4531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873A"/>
          </a:solidFill>
          <a:ln w="12700">
            <a:solidFill>
              <a:srgbClr val="E8873A"/>
            </a:solidFill>
            <a:prstDash val="solid"/>
          </a:ln>
        </p:spPr>
        <p:txBody>
          <a:bodyPr/>
          <a:lstStyle/>
          <a:p>
            <a:endParaRPr lang="en-US"/>
          </a:p>
        </p:txBody>
      </p:sp>
      <p:sp>
        <p:nvSpPr>
          <p:cNvPr id="3" name="Text 1"/>
          <p:cNvSpPr/>
          <p:nvPr/>
        </p:nvSpPr>
        <p:spPr>
          <a:xfrm>
            <a:off x="502920" y="320040"/>
            <a:ext cx="8229600" cy="5029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Conclusions</a:t>
            </a:r>
            <a:endParaRPr lang="en-US" sz="3200" dirty="0"/>
          </a:p>
        </p:txBody>
      </p:sp>
      <p:sp>
        <p:nvSpPr>
          <p:cNvPr id="4" name="Shape 2"/>
          <p:cNvSpPr/>
          <p:nvPr/>
        </p:nvSpPr>
        <p:spPr>
          <a:xfrm>
            <a:off x="502920" y="1005840"/>
            <a:ext cx="2606040" cy="91440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502920" y="1005840"/>
            <a:ext cx="64008" cy="914400"/>
          </a:xfrm>
          <a:prstGeom prst="rect">
            <a:avLst/>
          </a:prstGeom>
          <a:solidFill>
            <a:srgbClr val="16A34A"/>
          </a:solidFill>
          <a:ln w="12700">
            <a:solidFill>
              <a:srgbClr val="16A34A"/>
            </a:solidFill>
            <a:prstDash val="solid"/>
          </a:ln>
        </p:spPr>
        <p:txBody>
          <a:bodyPr/>
          <a:lstStyle/>
          <a:p>
            <a:endParaRPr lang="en-US"/>
          </a:p>
        </p:txBody>
      </p:sp>
      <p:sp>
        <p:nvSpPr>
          <p:cNvPr id="6" name="Text 4"/>
          <p:cNvSpPr/>
          <p:nvPr/>
        </p:nvSpPr>
        <p:spPr>
          <a:xfrm>
            <a:off x="640080" y="1078992"/>
            <a:ext cx="365760" cy="274320"/>
          </a:xfrm>
          <a:prstGeom prst="rect">
            <a:avLst/>
          </a:prstGeom>
          <a:noFill/>
          <a:ln/>
        </p:spPr>
        <p:txBody>
          <a:bodyPr wrap="square" lIns="0" tIns="0" rIns="0" bIns="0" rtlCol="0" anchor="ctr"/>
          <a:lstStyle/>
          <a:p>
            <a:pPr marL="0" indent="0">
              <a:buNone/>
            </a:pPr>
            <a:r>
              <a:rPr lang="en-US" sz="1100" b="1" dirty="0">
                <a:solidFill>
                  <a:srgbClr val="16A34A"/>
                </a:solidFill>
                <a:latin typeface="Georgia" pitchFamily="34" charset="0"/>
                <a:ea typeface="Georgia" pitchFamily="34" charset="-122"/>
                <a:cs typeface="Georgia" pitchFamily="34" charset="-120"/>
              </a:rPr>
              <a:t>H1</a:t>
            </a:r>
            <a:endParaRPr lang="en-US" sz="1100" dirty="0"/>
          </a:p>
        </p:txBody>
      </p:sp>
      <p:sp>
        <p:nvSpPr>
          <p:cNvPr id="7" name="Text 5"/>
          <p:cNvSpPr/>
          <p:nvPr/>
        </p:nvSpPr>
        <p:spPr>
          <a:xfrm>
            <a:off x="640080" y="1353312"/>
            <a:ext cx="2377440" cy="201168"/>
          </a:xfrm>
          <a:prstGeom prst="rect">
            <a:avLst/>
          </a:prstGeom>
          <a:noFill/>
          <a:ln/>
        </p:spPr>
        <p:txBody>
          <a:bodyPr wrap="square" lIns="0" tIns="0" rIns="0" bIns="0" rtlCol="0" anchor="ctr"/>
          <a:lstStyle/>
          <a:p>
            <a:pPr marL="0" indent="0">
              <a:buNone/>
            </a:pPr>
            <a:r>
              <a:rPr lang="en-US" sz="800" b="1" dirty="0">
                <a:solidFill>
                  <a:srgbClr val="16A34A"/>
                </a:solidFill>
                <a:latin typeface="Calibri" pitchFamily="34" charset="0"/>
                <a:ea typeface="Calibri" pitchFamily="34" charset="-122"/>
                <a:cs typeface="Calibri" pitchFamily="34" charset="-120"/>
              </a:rPr>
              <a:t>CONFIRMED</a:t>
            </a:r>
            <a:endParaRPr lang="en-US" sz="800" dirty="0"/>
          </a:p>
        </p:txBody>
      </p:sp>
      <p:sp>
        <p:nvSpPr>
          <p:cNvPr id="8" name="Text 6"/>
          <p:cNvSpPr/>
          <p:nvPr/>
        </p:nvSpPr>
        <p:spPr>
          <a:xfrm>
            <a:off x="640080" y="1554480"/>
            <a:ext cx="2377440" cy="3108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AI/ML topics grew 8–67× across 2014–2024. The shift is real, accelerating, and consistent.</a:t>
            </a:r>
            <a:endParaRPr lang="en-US" sz="900" dirty="0"/>
          </a:p>
        </p:txBody>
      </p:sp>
      <p:sp>
        <p:nvSpPr>
          <p:cNvPr id="9" name="Shape 7"/>
          <p:cNvSpPr/>
          <p:nvPr/>
        </p:nvSpPr>
        <p:spPr>
          <a:xfrm>
            <a:off x="3246120" y="1005840"/>
            <a:ext cx="2606040" cy="91440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46120" y="1005840"/>
            <a:ext cx="64008" cy="914400"/>
          </a:xfrm>
          <a:prstGeom prst="rect">
            <a:avLst/>
          </a:prstGeom>
          <a:solidFill>
            <a:srgbClr val="16A34A"/>
          </a:solidFill>
          <a:ln w="12700">
            <a:solidFill>
              <a:srgbClr val="16A34A"/>
            </a:solidFill>
            <a:prstDash val="solid"/>
          </a:ln>
        </p:spPr>
        <p:txBody>
          <a:bodyPr/>
          <a:lstStyle/>
          <a:p>
            <a:endParaRPr lang="en-US"/>
          </a:p>
        </p:txBody>
      </p:sp>
      <p:sp>
        <p:nvSpPr>
          <p:cNvPr id="11" name="Text 9"/>
          <p:cNvSpPr/>
          <p:nvPr/>
        </p:nvSpPr>
        <p:spPr>
          <a:xfrm>
            <a:off x="3383280" y="1078992"/>
            <a:ext cx="365760" cy="274320"/>
          </a:xfrm>
          <a:prstGeom prst="rect">
            <a:avLst/>
          </a:prstGeom>
          <a:noFill/>
          <a:ln/>
        </p:spPr>
        <p:txBody>
          <a:bodyPr wrap="square" lIns="0" tIns="0" rIns="0" bIns="0" rtlCol="0" anchor="ctr"/>
          <a:lstStyle/>
          <a:p>
            <a:pPr marL="0" indent="0">
              <a:buNone/>
            </a:pPr>
            <a:r>
              <a:rPr lang="en-US" sz="1100" b="1" dirty="0">
                <a:solidFill>
                  <a:srgbClr val="16A34A"/>
                </a:solidFill>
                <a:latin typeface="Georgia" pitchFamily="34" charset="0"/>
                <a:ea typeface="Georgia" pitchFamily="34" charset="-122"/>
                <a:cs typeface="Georgia" pitchFamily="34" charset="-120"/>
              </a:rPr>
              <a:t>H2</a:t>
            </a:r>
            <a:endParaRPr lang="en-US" sz="1100" dirty="0"/>
          </a:p>
        </p:txBody>
      </p:sp>
      <p:sp>
        <p:nvSpPr>
          <p:cNvPr id="12" name="Text 10"/>
          <p:cNvSpPr/>
          <p:nvPr/>
        </p:nvSpPr>
        <p:spPr>
          <a:xfrm>
            <a:off x="3383280" y="1353312"/>
            <a:ext cx="2377440" cy="201168"/>
          </a:xfrm>
          <a:prstGeom prst="rect">
            <a:avLst/>
          </a:prstGeom>
          <a:noFill/>
          <a:ln/>
        </p:spPr>
        <p:txBody>
          <a:bodyPr wrap="square" lIns="0" tIns="0" rIns="0" bIns="0" rtlCol="0" anchor="ctr"/>
          <a:lstStyle/>
          <a:p>
            <a:pPr marL="0" indent="0">
              <a:buNone/>
            </a:pPr>
            <a:r>
              <a:rPr lang="en-US" sz="800" b="1" dirty="0">
                <a:solidFill>
                  <a:srgbClr val="16A34A"/>
                </a:solidFill>
                <a:latin typeface="Calibri" pitchFamily="34" charset="0"/>
                <a:ea typeface="Calibri" pitchFamily="34" charset="-122"/>
                <a:cs typeface="Calibri" pitchFamily="34" charset="-120"/>
              </a:rPr>
              <a:t>CONFIRMED</a:t>
            </a:r>
            <a:endParaRPr lang="en-US" sz="800" dirty="0"/>
          </a:p>
        </p:txBody>
      </p:sp>
      <p:sp>
        <p:nvSpPr>
          <p:cNvPr id="13" name="Text 11"/>
          <p:cNvSpPr/>
          <p:nvPr/>
        </p:nvSpPr>
        <p:spPr>
          <a:xfrm>
            <a:off x="3383280" y="1554480"/>
            <a:ext cx="2377440" cy="3108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Win rate and award $ are independent (r = 0.14). Sponsor networks — not judges — drive prize magnitudes.</a:t>
            </a:r>
            <a:endParaRPr lang="en-US" sz="900" dirty="0"/>
          </a:p>
        </p:txBody>
      </p:sp>
      <p:sp>
        <p:nvSpPr>
          <p:cNvPr id="14" name="Shape 12"/>
          <p:cNvSpPr/>
          <p:nvPr/>
        </p:nvSpPr>
        <p:spPr>
          <a:xfrm>
            <a:off x="5989320" y="1005840"/>
            <a:ext cx="2880360" cy="914400"/>
          </a:xfrm>
          <a:prstGeom prst="rect">
            <a:avLst/>
          </a:prstGeom>
          <a:solidFill>
            <a:srgbClr val="F4F7FB"/>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5989320" y="1005840"/>
            <a:ext cx="64008" cy="914400"/>
          </a:xfrm>
          <a:prstGeom prst="rect">
            <a:avLst/>
          </a:prstGeom>
          <a:solidFill>
            <a:srgbClr val="DC2626"/>
          </a:solidFill>
          <a:ln w="12700">
            <a:solidFill>
              <a:srgbClr val="DC2626"/>
            </a:solidFill>
            <a:prstDash val="solid"/>
          </a:ln>
        </p:spPr>
        <p:txBody>
          <a:bodyPr/>
          <a:lstStyle/>
          <a:p>
            <a:endParaRPr lang="en-US"/>
          </a:p>
        </p:txBody>
      </p:sp>
      <p:sp>
        <p:nvSpPr>
          <p:cNvPr id="16" name="Text 14"/>
          <p:cNvSpPr/>
          <p:nvPr/>
        </p:nvSpPr>
        <p:spPr>
          <a:xfrm>
            <a:off x="6126480" y="1078992"/>
            <a:ext cx="365760" cy="274320"/>
          </a:xfrm>
          <a:prstGeom prst="rect">
            <a:avLst/>
          </a:prstGeom>
          <a:noFill/>
          <a:ln/>
        </p:spPr>
        <p:txBody>
          <a:bodyPr wrap="square" lIns="0" tIns="0" rIns="0" bIns="0" rtlCol="0" anchor="ctr"/>
          <a:lstStyle/>
          <a:p>
            <a:pPr marL="0" indent="0">
              <a:buNone/>
            </a:pPr>
            <a:r>
              <a:rPr lang="en-US" sz="1100" b="1" dirty="0">
                <a:solidFill>
                  <a:srgbClr val="DC2626"/>
                </a:solidFill>
                <a:latin typeface="Georgia" pitchFamily="34" charset="0"/>
                <a:ea typeface="Georgia" pitchFamily="34" charset="-122"/>
                <a:cs typeface="Georgia" pitchFamily="34" charset="-120"/>
              </a:rPr>
              <a:t>H3</a:t>
            </a:r>
            <a:endParaRPr lang="en-US" sz="1100" dirty="0"/>
          </a:p>
        </p:txBody>
      </p:sp>
      <p:sp>
        <p:nvSpPr>
          <p:cNvPr id="17" name="Text 15"/>
          <p:cNvSpPr/>
          <p:nvPr/>
        </p:nvSpPr>
        <p:spPr>
          <a:xfrm>
            <a:off x="6126480" y="1353312"/>
            <a:ext cx="2651760" cy="201168"/>
          </a:xfrm>
          <a:prstGeom prst="rect">
            <a:avLst/>
          </a:prstGeom>
          <a:noFill/>
          <a:ln/>
        </p:spPr>
        <p:txBody>
          <a:bodyPr wrap="square" lIns="0" tIns="0" rIns="0" bIns="0" rtlCol="0" anchor="ctr"/>
          <a:lstStyle/>
          <a:p>
            <a:pPr marL="0" indent="0">
              <a:buNone/>
            </a:pPr>
            <a:r>
              <a:rPr lang="en-US" sz="800" b="1" dirty="0">
                <a:solidFill>
                  <a:srgbClr val="DC2626"/>
                </a:solidFill>
                <a:latin typeface="Calibri" pitchFamily="34" charset="0"/>
                <a:ea typeface="Calibri" pitchFamily="34" charset="-122"/>
                <a:cs typeface="Calibri" pitchFamily="34" charset="-120"/>
              </a:rPr>
              <a:t>REFUTED</a:t>
            </a:r>
            <a:endParaRPr lang="en-US" sz="800" dirty="0"/>
          </a:p>
        </p:txBody>
      </p:sp>
      <p:sp>
        <p:nvSpPr>
          <p:cNvPr id="18" name="Text 16"/>
          <p:cNvSpPr/>
          <p:nvPr/>
        </p:nvSpPr>
        <p:spPr>
          <a:xfrm>
            <a:off x="6126480" y="1554480"/>
            <a:ext cx="2651760" cy="3108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Category growth does not predict win rate (r = −0.001). Judges reward rigor, not trend.</a:t>
            </a:r>
            <a:endParaRPr lang="en-US" sz="900" dirty="0"/>
          </a:p>
        </p:txBody>
      </p:sp>
      <p:sp>
        <p:nvSpPr>
          <p:cNvPr id="19" name="Shape 17"/>
          <p:cNvSpPr/>
          <p:nvPr/>
        </p:nvSpPr>
        <p:spPr>
          <a:xfrm>
            <a:off x="502920" y="2103120"/>
            <a:ext cx="8366760" cy="1234440"/>
          </a:xfrm>
          <a:prstGeom prst="rect">
            <a:avLst/>
          </a:prstGeom>
          <a:solidFill>
            <a:srgbClr val="243670"/>
          </a:solidFill>
          <a:ln w="12700">
            <a:solidFill>
              <a:srgbClr val="304485"/>
            </a:solidFill>
            <a:prstDash val="solid"/>
          </a:ln>
        </p:spPr>
        <p:txBody>
          <a:bodyPr/>
          <a:lstStyle/>
          <a:p>
            <a:endParaRPr lang="en-US"/>
          </a:p>
        </p:txBody>
      </p:sp>
      <p:sp>
        <p:nvSpPr>
          <p:cNvPr id="20" name="Text 18"/>
          <p:cNvSpPr/>
          <p:nvPr/>
        </p:nvSpPr>
        <p:spPr>
          <a:xfrm>
            <a:off x="685800" y="2176272"/>
            <a:ext cx="8046720" cy="274320"/>
          </a:xfrm>
          <a:prstGeom prst="rect">
            <a:avLst/>
          </a:prstGeom>
          <a:noFill/>
          <a:ln/>
        </p:spPr>
        <p:txBody>
          <a:bodyPr wrap="square" lIns="0" tIns="0" rIns="0" bIns="0" rtlCol="0" anchor="ctr"/>
          <a:lstStyle/>
          <a:p>
            <a:pPr marL="0" indent="0">
              <a:buNone/>
            </a:pPr>
            <a:r>
              <a:rPr lang="en-US" sz="1000" b="1" dirty="0">
                <a:solidFill>
                  <a:srgbClr val="E8873A"/>
                </a:solidFill>
                <a:latin typeface="Calibri" pitchFamily="34" charset="0"/>
                <a:ea typeface="Calibri" pitchFamily="34" charset="-122"/>
                <a:cs typeface="Calibri" pitchFamily="34" charset="-120"/>
              </a:rPr>
              <a:t>Broader Implication</a:t>
            </a:r>
            <a:endParaRPr lang="en-US" sz="1000" dirty="0"/>
          </a:p>
        </p:txBody>
      </p:sp>
      <p:sp>
        <p:nvSpPr>
          <p:cNvPr id="21" name="Text 19"/>
          <p:cNvSpPr/>
          <p:nvPr/>
        </p:nvSpPr>
        <p:spPr>
          <a:xfrm>
            <a:off x="685800" y="2468880"/>
            <a:ext cx="8046720" cy="777240"/>
          </a:xfrm>
          <a:prstGeom prst="rect">
            <a:avLst/>
          </a:prstGeom>
          <a:noFill/>
          <a:ln/>
        </p:spPr>
        <p:txBody>
          <a:bodyPr wrap="square" lIns="0" tIns="0" rIns="0" bIns="0" rtlCol="0" anchor="ctr"/>
          <a:lstStyle/>
          <a:p>
            <a:pPr marL="0" indent="0">
              <a:buNone/>
            </a:pPr>
            <a:r>
              <a:rPr lang="en-US" sz="1000" dirty="0">
                <a:solidFill>
                  <a:srgbClr val="C4D8F0"/>
                </a:solidFill>
                <a:latin typeface="Calibri" pitchFamily="34" charset="0"/>
                <a:ea typeface="Calibri" pitchFamily="34" charset="-122"/>
                <a:cs typeface="Calibri" pitchFamily="34" charset="-120"/>
              </a:rPr>
              <a:t>ISEF's judging rewards scientific depth regardless of whether a topic is trending — but its financial reward structure reflects sponsor priorities that are unevenly distributed across disciplines. Students pursuing mathematics and pure science may win as often as anyone but take home far less. Understanding this structure matters for equitable access to the financial opportunities science fair promises.</a:t>
            </a:r>
            <a:endParaRPr lang="en-US" sz="1000" dirty="0"/>
          </a:p>
        </p:txBody>
      </p:sp>
      <p:sp>
        <p:nvSpPr>
          <p:cNvPr id="22" name="Text 20"/>
          <p:cNvSpPr/>
          <p:nvPr/>
        </p:nvSpPr>
        <p:spPr>
          <a:xfrm>
            <a:off x="502920" y="3474720"/>
            <a:ext cx="8366760" cy="274320"/>
          </a:xfrm>
          <a:prstGeom prst="rect">
            <a:avLst/>
          </a:prstGeom>
          <a:noFill/>
          <a:ln/>
        </p:spPr>
        <p:txBody>
          <a:bodyPr wrap="square" lIns="0" tIns="0" rIns="0" bIns="0" rtlCol="0" anchor="ctr"/>
          <a:lstStyle/>
          <a:p>
            <a:pPr marL="0" indent="0">
              <a:buNone/>
            </a:pPr>
            <a:r>
              <a:rPr lang="en-US" sz="900" dirty="0">
                <a:solidFill>
                  <a:srgbClr val="6B8BC4"/>
                </a:solidFill>
                <a:latin typeface="Calibri" pitchFamily="34" charset="0"/>
                <a:ea typeface="Calibri" pitchFamily="34" charset="-122"/>
                <a:cs typeface="Calibri" pitchFamily="34" charset="-120"/>
              </a:rPr>
              <a:t>Sophie Krajmalnik  ·  INFO 4707  ·  University of North Texas  ·  Spring 2026</a:t>
            </a:r>
            <a:endParaRPr lang="en-US" sz="900" dirty="0"/>
          </a:p>
        </p:txBody>
      </p:sp>
      <p:sp>
        <p:nvSpPr>
          <p:cNvPr id="23" name="Text 21"/>
          <p:cNvSpPr/>
          <p:nvPr/>
        </p:nvSpPr>
        <p:spPr>
          <a:xfrm>
            <a:off x="502920" y="3794760"/>
            <a:ext cx="8366760" cy="228600"/>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ea typeface="Calibri" pitchFamily="34" charset="-122"/>
                <a:cs typeface="Calibri" pitchFamily="34" charset="-120"/>
              </a:rPr>
              <a:t>Data: Kaiser, W. (2022). All ISEF Projects. Kaggle.</a:t>
            </a:r>
            <a:endParaRPr lang="en-US" sz="800" dirty="0"/>
          </a:p>
        </p:txBody>
      </p:sp>
    </p:spTree>
  </p:cSld>
  <p:clrMapOvr>
    <a:masterClrMapping/>
  </p:clrMapOvr>
  <mc:AlternateContent xmlns:mc="http://schemas.openxmlformats.org/markup-compatibility/2006" xmlns:p14="http://schemas.microsoft.com/office/powerpoint/2010/main">
    <mc:Choice Requires="p14">
      <p:transition spd="slow" p14:dur="2000" advTm="34093"/>
    </mc:Choice>
    <mc:Fallback xmlns="">
      <p:transition spd="slow" advTm="3409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1770</Words>
  <Application>Microsoft Office PowerPoint</Application>
  <PresentationFormat>On-screen Show (16:9)</PresentationFormat>
  <Paragraphs>270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Visualizing ISEF Trends 2014–2024</dc:title>
  <dc:subject>PptxGenJS Presentation</dc:subject>
  <dc:creator>PptxGenJS</dc:creator>
  <cp:lastModifiedBy>Sophie Krajmalnik</cp:lastModifiedBy>
  <cp:revision>3</cp:revision>
  <dcterms:created xsi:type="dcterms:W3CDTF">2026-04-27T04:24:20Z</dcterms:created>
  <dcterms:modified xsi:type="dcterms:W3CDTF">2026-04-27T23:16:09Z</dcterms:modified>
</cp:coreProperties>
</file>