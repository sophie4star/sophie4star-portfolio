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5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6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22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23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2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7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28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0"/>
  </p:notesMasterIdLst>
  <p:handoutMasterIdLst>
    <p:handoutMasterId r:id="rId61"/>
  </p:handoutMasterIdLst>
  <p:sldIdLst>
    <p:sldId id="258" r:id="rId2"/>
    <p:sldId id="358" r:id="rId3"/>
    <p:sldId id="289" r:id="rId4"/>
    <p:sldId id="361" r:id="rId5"/>
    <p:sldId id="359" r:id="rId6"/>
    <p:sldId id="309" r:id="rId7"/>
    <p:sldId id="355" r:id="rId8"/>
    <p:sldId id="308" r:id="rId9"/>
    <p:sldId id="356" r:id="rId10"/>
    <p:sldId id="367" r:id="rId11"/>
    <p:sldId id="378" r:id="rId12"/>
    <p:sldId id="369" r:id="rId13"/>
    <p:sldId id="310" r:id="rId14"/>
    <p:sldId id="382" r:id="rId15"/>
    <p:sldId id="368" r:id="rId16"/>
    <p:sldId id="370" r:id="rId17"/>
    <p:sldId id="311" r:id="rId18"/>
    <p:sldId id="380" r:id="rId19"/>
    <p:sldId id="379" r:id="rId20"/>
    <p:sldId id="353" r:id="rId21"/>
    <p:sldId id="352" r:id="rId22"/>
    <p:sldId id="285" r:id="rId23"/>
    <p:sldId id="383" r:id="rId24"/>
    <p:sldId id="348" r:id="rId25"/>
    <p:sldId id="265" r:id="rId26"/>
    <p:sldId id="291" r:id="rId27"/>
    <p:sldId id="384" r:id="rId28"/>
    <p:sldId id="292" r:id="rId29"/>
    <p:sldId id="290" r:id="rId30"/>
    <p:sldId id="259" r:id="rId31"/>
    <p:sldId id="385" r:id="rId32"/>
    <p:sldId id="350" r:id="rId33"/>
    <p:sldId id="302" r:id="rId34"/>
    <p:sldId id="299" r:id="rId35"/>
    <p:sldId id="297" r:id="rId36"/>
    <p:sldId id="269" r:id="rId37"/>
    <p:sldId id="267" r:id="rId38"/>
    <p:sldId id="386" r:id="rId39"/>
    <p:sldId id="351" r:id="rId40"/>
    <p:sldId id="362" r:id="rId41"/>
    <p:sldId id="387" r:id="rId42"/>
    <p:sldId id="397" r:id="rId43"/>
    <p:sldId id="307" r:id="rId44"/>
    <p:sldId id="388" r:id="rId45"/>
    <p:sldId id="298" r:id="rId46"/>
    <p:sldId id="357" r:id="rId47"/>
    <p:sldId id="396" r:id="rId48"/>
    <p:sldId id="339" r:id="rId49"/>
    <p:sldId id="314" r:id="rId50"/>
    <p:sldId id="389" r:id="rId51"/>
    <p:sldId id="393" r:id="rId52"/>
    <p:sldId id="347" r:id="rId53"/>
    <p:sldId id="394" r:id="rId54"/>
    <p:sldId id="390" r:id="rId55"/>
    <p:sldId id="391" r:id="rId56"/>
    <p:sldId id="392" r:id="rId57"/>
    <p:sldId id="345" r:id="rId58"/>
    <p:sldId id="395" r:id="rId59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911676-5322-9AAD-B4AD-ED6262B7694F}" name="Sophie Krajmalnik" initials="SK" userId="S::Sophie.Krajmalnik@drivetime.com::f2638330-22f1-4771-9afd-47e119bc334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745B8B"/>
    <a:srgbClr val="FF660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932FC-3950-4556-879C-D372E8683914}" v="1" dt="2026-07-23T22:49:48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66423" autoAdjust="0"/>
  </p:normalViewPr>
  <p:slideViewPr>
    <p:cSldViewPr snapToGrid="0">
      <p:cViewPr varScale="1">
        <p:scale>
          <a:sx n="49" d="100"/>
          <a:sy n="49" d="100"/>
        </p:scale>
        <p:origin x="1344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68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e Krajmalnik" userId="f2638330-22f1-4771-9afd-47e119bc3340" providerId="ADAL" clId="{87D5AB15-25CD-4CF0-9696-E7FAF245D9B4}"/>
    <pc:docChg chg="modNotesMaster modHandout">
      <pc:chgData name="Sophie Krajmalnik" userId="f2638330-22f1-4771-9afd-47e119bc3340" providerId="ADAL" clId="{87D5AB15-25CD-4CF0-9696-E7FAF245D9B4}" dt="2026-07-23T22:49:48.358" v="0"/>
      <pc:docMkLst>
        <pc:docMk/>
      </pc:docMkLst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rivetime4-my.sharepoint.com/personal/sophie_krajmalnik_drivetime_com/Documents/Record%20Exampl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phie.Krajmalnik\decile_summary_BaselineAdStock_run_20260722_221126_BaselineAdStock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rivetime4-my.sharepoint.com/personal/sophie_krajmalnik_drivetime_com/Documents/Rolling%20Averages%20Parabol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rivetime4-my.sharepoint.com/personal/sophie_krajmalnik_drivetime_com/Documents/Record%20Example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rivetime4-my.sharepoint.com/personal/sophie_krajmalnik_drivetime_com/Documents/Record%20Example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</a:rPr>
              <a:t>Actual</a:t>
            </a:r>
            <a:r>
              <a:rPr lang="en-US" sz="1800" baseline="0" dirty="0">
                <a:solidFill>
                  <a:schemeClr val="tx1"/>
                </a:solidFill>
              </a:rPr>
              <a:t> Conversion Rate by Current Week Impressions, 2025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781953536139851"/>
          <c:y val="0.14916532040926225"/>
          <c:w val="0.81552275531628493"/>
          <c:h val="0.70326596392736851"/>
        </c:manualLayout>
      </c:layout>
      <c:lineChart>
        <c:grouping val="standard"/>
        <c:varyColors val="0"/>
        <c:ser>
          <c:idx val="1"/>
          <c:order val="1"/>
          <c:tx>
            <c:strRef>
              <c:f>'Prediction IMPWM0'!$B$1</c:f>
              <c:strCache>
                <c:ptCount val="1"/>
                <c:pt idx="0">
                  <c:v>Actual 2025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'Prediction IMPWM0'!$A$2:$A$24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numCache>
            </c:numRef>
          </c:cat>
          <c:val>
            <c:numRef>
              <c:f>'Prediction IMPWM0'!$B$2:$B$24</c:f>
              <c:numCache>
                <c:formatCode>General</c:formatCode>
                <c:ptCount val="13"/>
                <c:pt idx="0">
                  <c:v>0.08</c:v>
                </c:pt>
                <c:pt idx="1">
                  <c:v>0.18</c:v>
                </c:pt>
                <c:pt idx="2">
                  <c:v>0.19500000000000001</c:v>
                </c:pt>
                <c:pt idx="3">
                  <c:v>0.20499999999999999</c:v>
                </c:pt>
                <c:pt idx="4">
                  <c:v>0.215</c:v>
                </c:pt>
                <c:pt idx="5">
                  <c:v>0.22500000000000001</c:v>
                </c:pt>
                <c:pt idx="6">
                  <c:v>0.23</c:v>
                </c:pt>
                <c:pt idx="7">
                  <c:v>0.24</c:v>
                </c:pt>
                <c:pt idx="8">
                  <c:v>0.248</c:v>
                </c:pt>
                <c:pt idx="9">
                  <c:v>0.245</c:v>
                </c:pt>
                <c:pt idx="10">
                  <c:v>0.25</c:v>
                </c:pt>
                <c:pt idx="11">
                  <c:v>0.26200000000000001</c:v>
                </c:pt>
                <c:pt idx="12">
                  <c:v>0.26700000000000002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24-44D1-B96D-6159F957E4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05060639"/>
        <c:axId val="2005061119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'Prediction IMPWM0'!$A$1</c15:sqref>
                        </c15:formulaRef>
                      </c:ext>
                    </c:extLst>
                    <c:strCache>
                      <c:ptCount val="1"/>
                      <c:pt idx="0">
                        <c:v>Current_Week_Impressions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'Prediction IMPWM0'!$A$2:$A$24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'Prediction IMPWM0'!$A$2:$A$24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AA24-44D1-B96D-6159F957E400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'Prediction IMPWM0'!$C$1</c15:sqref>
                        </c15:formulaRef>
                      </c:ext>
                    </c:extLst>
                    <c:strCache>
                      <c:ptCount val="1"/>
                      <c:pt idx="0">
                        <c:v>Model Predicted</c:v>
                      </c:pt>
                    </c:strCache>
                  </c:strRef>
                </c:tx>
                <c:spPr>
                  <a:ln w="28575" cap="rnd">
                    <a:solidFill>
                      <a:srgbClr val="FF6600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'Prediction IMPWM0'!$A$2:$A$24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'Prediction IMPWM0'!$C$2:$C$24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7.0000000000000007E-2</c:v>
                      </c:pt>
                      <c:pt idx="1">
                        <c:v>0.17499999999999999</c:v>
                      </c:pt>
                      <c:pt idx="2">
                        <c:v>0.19</c:v>
                      </c:pt>
                      <c:pt idx="3">
                        <c:v>0.20200000000000001</c:v>
                      </c:pt>
                      <c:pt idx="4">
                        <c:v>0.21</c:v>
                      </c:pt>
                      <c:pt idx="5">
                        <c:v>0.22</c:v>
                      </c:pt>
                      <c:pt idx="6">
                        <c:v>0.22800000000000001</c:v>
                      </c:pt>
                      <c:pt idx="7">
                        <c:v>0.23499999999999999</c:v>
                      </c:pt>
                      <c:pt idx="8">
                        <c:v>0.24</c:v>
                      </c:pt>
                      <c:pt idx="9">
                        <c:v>0.245</c:v>
                      </c:pt>
                      <c:pt idx="10">
                        <c:v>0.25</c:v>
                      </c:pt>
                      <c:pt idx="11">
                        <c:v>0.255</c:v>
                      </c:pt>
                      <c:pt idx="12">
                        <c:v>0.26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AA24-44D1-B96D-6159F957E400}"/>
                  </c:ext>
                </c:extLst>
              </c15:ser>
            </c15:filteredLineSeries>
          </c:ext>
        </c:extLst>
      </c:lineChart>
      <c:catAx>
        <c:axId val="20050606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b="0" dirty="0">
                    <a:solidFill>
                      <a:schemeClr val="tx1"/>
                    </a:solidFill>
                  </a:rPr>
                  <a:t>Number of Current Week Impressions</a:t>
                </a:r>
              </a:p>
            </c:rich>
          </c:tx>
          <c:layout>
            <c:manualLayout>
              <c:xMode val="edge"/>
              <c:yMode val="edge"/>
              <c:x val="0.15445467479921396"/>
              <c:y val="0.9285142618481252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5061119"/>
        <c:crosses val="autoZero"/>
        <c:auto val="1"/>
        <c:lblAlgn val="ctr"/>
        <c:lblOffset val="100"/>
        <c:noMultiLvlLbl val="0"/>
      </c:catAx>
      <c:valAx>
        <c:axId val="2005061119"/>
        <c:scaling>
          <c:orientation val="minMax"/>
          <c:max val="0.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>
                    <a:solidFill>
                      <a:schemeClr val="tx1"/>
                    </a:solidFill>
                  </a:rPr>
                  <a:t>Conversion Rate (%)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5060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>
                <a:solidFill>
                  <a:schemeClr val="tx1"/>
                </a:solidFill>
              </a:rPr>
              <a:t>Actual vs.</a:t>
            </a:r>
            <a:r>
              <a:rPr lang="en-US" sz="2000" baseline="0" dirty="0">
                <a:solidFill>
                  <a:schemeClr val="tx1"/>
                </a:solidFill>
              </a:rPr>
              <a:t> Predicted Conversion by Predicted Conversion Decile </a:t>
            </a:r>
            <a:endParaRPr lang="en-US" sz="20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decile_summary_BaselineAdStock_!$G$1</c:f>
              <c:strCache>
                <c:ptCount val="1"/>
                <c:pt idx="0">
                  <c:v>Actual Conversion Rate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decile_summary_BaselineAdStock_!$F$2:$F$11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decile_summary_BaselineAdStock_!$G$2:$G$11</c:f>
              <c:numCache>
                <c:formatCode>General</c:formatCode>
                <c:ptCount val="10"/>
                <c:pt idx="0">
                  <c:v>0.33554384097479401</c:v>
                </c:pt>
                <c:pt idx="1">
                  <c:v>0.28225378898006198</c:v>
                </c:pt>
                <c:pt idx="2">
                  <c:v>0.26070508720383301</c:v>
                </c:pt>
                <c:pt idx="3">
                  <c:v>0.24209795424150199</c:v>
                </c:pt>
                <c:pt idx="4">
                  <c:v>0.22868971669291199</c:v>
                </c:pt>
                <c:pt idx="5">
                  <c:v>0.20454164543150399</c:v>
                </c:pt>
                <c:pt idx="6">
                  <c:v>0.19202287582817101</c:v>
                </c:pt>
                <c:pt idx="7">
                  <c:v>0.151730223935477</c:v>
                </c:pt>
                <c:pt idx="8">
                  <c:v>0.128881759194967</c:v>
                </c:pt>
                <c:pt idx="9">
                  <c:v>4.3234191130697201E-2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C7-40AC-A3B3-47EF6192F651}"/>
            </c:ext>
          </c:extLst>
        </c:ser>
        <c:ser>
          <c:idx val="1"/>
          <c:order val="1"/>
          <c:tx>
            <c:strRef>
              <c:f>decile_summary_BaselineAdStock_!$H$1</c:f>
              <c:strCache>
                <c:ptCount val="1"/>
                <c:pt idx="0">
                  <c:v>Predicted Conversion Rate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decile_summary_BaselineAdStock_!$F$2:$F$11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decile_summary_BaselineAdStock_!$H$2:$H$11</c:f>
              <c:numCache>
                <c:formatCode>General</c:formatCode>
                <c:ptCount val="10"/>
                <c:pt idx="0">
                  <c:v>0.26818857813132801</c:v>
                </c:pt>
                <c:pt idx="1">
                  <c:v>0.233221147012768</c:v>
                </c:pt>
                <c:pt idx="2">
                  <c:v>0.22338860198263699</c:v>
                </c:pt>
                <c:pt idx="3">
                  <c:v>0.205195730019223</c:v>
                </c:pt>
                <c:pt idx="4">
                  <c:v>0.194064752408946</c:v>
                </c:pt>
                <c:pt idx="5">
                  <c:v>0.19053403873831501</c:v>
                </c:pt>
                <c:pt idx="6">
                  <c:v>0.17340462735797199</c:v>
                </c:pt>
                <c:pt idx="7">
                  <c:v>0.152739920036395</c:v>
                </c:pt>
                <c:pt idx="8">
                  <c:v>0.14531218380350899</c:v>
                </c:pt>
                <c:pt idx="9">
                  <c:v>6.5113978815201007E-2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4C7-40AC-A3B3-47EF6192F6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99623488"/>
        <c:axId val="1899624448"/>
      </c:lineChart>
      <c:catAx>
        <c:axId val="18996234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>
                    <a:solidFill>
                      <a:schemeClr val="tx1"/>
                    </a:solidFill>
                  </a:rPr>
                  <a:t>Prediction</a:t>
                </a:r>
                <a:r>
                  <a:rPr lang="en-US" sz="1800" baseline="0" dirty="0">
                    <a:solidFill>
                      <a:schemeClr val="tx1"/>
                    </a:solidFill>
                  </a:rPr>
                  <a:t> Decile</a:t>
                </a:r>
                <a:endParaRPr lang="en-US" sz="1800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9624448"/>
        <c:crosses val="autoZero"/>
        <c:auto val="1"/>
        <c:lblAlgn val="ctr"/>
        <c:lblOffset val="100"/>
        <c:noMultiLvlLbl val="0"/>
      </c:catAx>
      <c:valAx>
        <c:axId val="189962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>
                    <a:solidFill>
                      <a:schemeClr val="tx1"/>
                    </a:solidFill>
                  </a:rPr>
                  <a:t>Conversion Rate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96234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>
                <a:solidFill>
                  <a:schemeClr val="tx1"/>
                </a:solidFill>
              </a:rPr>
              <a:t>Rolling 6-Week Average Conversion Rate, 2024 vs 2025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'Results_2026-06-29-1431'!$B$1</c:f>
              <c:strCache>
                <c:ptCount val="1"/>
                <c:pt idx="0">
                  <c:v>2024 6-Week Rolling Average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'Results_2026-06-29-1431'!$B$2:$B$53</c:f>
              <c:numCache>
                <c:formatCode>0.000%</c:formatCode>
                <c:ptCount val="52"/>
                <c:pt idx="0">
                  <c:v>1.4989999999999999E-3</c:v>
                </c:pt>
                <c:pt idx="1">
                  <c:v>1.4714999999999999E-3</c:v>
                </c:pt>
                <c:pt idx="2">
                  <c:v>1.5393329999999999E-3</c:v>
                </c:pt>
                <c:pt idx="3">
                  <c:v>1.67475E-3</c:v>
                </c:pt>
                <c:pt idx="4">
                  <c:v>1.7007999999999999E-3</c:v>
                </c:pt>
                <c:pt idx="5">
                  <c:v>1.676833E-3</c:v>
                </c:pt>
                <c:pt idx="6">
                  <c:v>1.735833E-3</c:v>
                </c:pt>
                <c:pt idx="7">
                  <c:v>1.8595E-3</c:v>
                </c:pt>
                <c:pt idx="8">
                  <c:v>1.9171660000000001E-3</c:v>
                </c:pt>
                <c:pt idx="9">
                  <c:v>1.8841660000000001E-3</c:v>
                </c:pt>
                <c:pt idx="10">
                  <c:v>1.8946659999999999E-3</c:v>
                </c:pt>
                <c:pt idx="11">
                  <c:v>1.913166E-3</c:v>
                </c:pt>
                <c:pt idx="12">
                  <c:v>1.879333E-3</c:v>
                </c:pt>
                <c:pt idx="13">
                  <c:v>1.820166E-3</c:v>
                </c:pt>
                <c:pt idx="14">
                  <c:v>1.7996659999999999E-3</c:v>
                </c:pt>
                <c:pt idx="15">
                  <c:v>1.8773329999999999E-3</c:v>
                </c:pt>
                <c:pt idx="16">
                  <c:v>2.0669999999999998E-3</c:v>
                </c:pt>
                <c:pt idx="17">
                  <c:v>2.153E-3</c:v>
                </c:pt>
                <c:pt idx="18">
                  <c:v>2.1940000000000002E-3</c:v>
                </c:pt>
                <c:pt idx="19">
                  <c:v>2.2066659999999999E-3</c:v>
                </c:pt>
                <c:pt idx="20">
                  <c:v>2.2244999999999999E-3</c:v>
                </c:pt>
                <c:pt idx="21">
                  <c:v>2.1775000000000002E-3</c:v>
                </c:pt>
                <c:pt idx="22">
                  <c:v>2.0014999999999998E-3</c:v>
                </c:pt>
                <c:pt idx="23">
                  <c:v>1.913833E-3</c:v>
                </c:pt>
                <c:pt idx="24">
                  <c:v>1.9508329999999999E-3</c:v>
                </c:pt>
                <c:pt idx="25">
                  <c:v>2.0036659999999999E-3</c:v>
                </c:pt>
                <c:pt idx="26">
                  <c:v>2.0108330000000001E-3</c:v>
                </c:pt>
                <c:pt idx="27">
                  <c:v>2.0158329999999999E-3</c:v>
                </c:pt>
                <c:pt idx="28">
                  <c:v>2.0574999999999999E-3</c:v>
                </c:pt>
                <c:pt idx="29">
                  <c:v>2.1851660000000001E-3</c:v>
                </c:pt>
                <c:pt idx="30">
                  <c:v>2.2311660000000001E-3</c:v>
                </c:pt>
                <c:pt idx="31">
                  <c:v>2.233666E-3</c:v>
                </c:pt>
                <c:pt idx="32">
                  <c:v>2.246666E-3</c:v>
                </c:pt>
                <c:pt idx="33">
                  <c:v>2.2486659999999999E-3</c:v>
                </c:pt>
                <c:pt idx="34">
                  <c:v>2.2371660000000001E-3</c:v>
                </c:pt>
                <c:pt idx="35">
                  <c:v>2.1498329999999999E-3</c:v>
                </c:pt>
                <c:pt idx="36">
                  <c:v>2.0596659999999999E-3</c:v>
                </c:pt>
                <c:pt idx="37">
                  <c:v>1.987333E-3</c:v>
                </c:pt>
                <c:pt idx="38">
                  <c:v>1.927333E-3</c:v>
                </c:pt>
                <c:pt idx="39">
                  <c:v>1.575833E-3</c:v>
                </c:pt>
                <c:pt idx="40">
                  <c:v>1.5185000000000001E-3</c:v>
                </c:pt>
                <c:pt idx="41">
                  <c:v>1.519166E-3</c:v>
                </c:pt>
                <c:pt idx="42">
                  <c:v>1.5070000000000001E-3</c:v>
                </c:pt>
                <c:pt idx="43">
                  <c:v>1.485166E-3</c:v>
                </c:pt>
                <c:pt idx="44">
                  <c:v>1.4635E-3</c:v>
                </c:pt>
                <c:pt idx="45">
                  <c:v>1.7060000000000001E-3</c:v>
                </c:pt>
                <c:pt idx="46">
                  <c:v>1.6123330000000001E-3</c:v>
                </c:pt>
                <c:pt idx="47">
                  <c:v>1.462E-3</c:v>
                </c:pt>
                <c:pt idx="48">
                  <c:v>1.3441659999999999E-3</c:v>
                </c:pt>
                <c:pt idx="49">
                  <c:v>1.2506660000000001E-3</c:v>
                </c:pt>
                <c:pt idx="50">
                  <c:v>1.1379999999999999E-3</c:v>
                </c:pt>
                <c:pt idx="51">
                  <c:v>1.0346660000000001E-3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CB-4AB5-8A35-E0F1CD3B0580}"/>
            </c:ext>
          </c:extLst>
        </c:ser>
        <c:ser>
          <c:idx val="1"/>
          <c:order val="1"/>
          <c:tx>
            <c:strRef>
              <c:f>'Results_2026-06-29-1431'!$C$1</c:f>
              <c:strCache>
                <c:ptCount val="1"/>
                <c:pt idx="0">
                  <c:v>2025 6-Week Rolling Average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'Results_2026-06-29-1431'!$C$2:$C$53</c:f>
              <c:numCache>
                <c:formatCode>0.000%</c:formatCode>
                <c:ptCount val="52"/>
                <c:pt idx="0">
                  <c:v>1.384E-3</c:v>
                </c:pt>
                <c:pt idx="1">
                  <c:v>1.4775000000000001E-3</c:v>
                </c:pt>
                <c:pt idx="2">
                  <c:v>1.487333E-3</c:v>
                </c:pt>
                <c:pt idx="3">
                  <c:v>1.5430000000000001E-3</c:v>
                </c:pt>
                <c:pt idx="4">
                  <c:v>1.5740000000000001E-3</c:v>
                </c:pt>
                <c:pt idx="5">
                  <c:v>1.586833E-3</c:v>
                </c:pt>
                <c:pt idx="6">
                  <c:v>1.6329999999999999E-3</c:v>
                </c:pt>
                <c:pt idx="7">
                  <c:v>1.7175000000000001E-3</c:v>
                </c:pt>
                <c:pt idx="8">
                  <c:v>1.8808329999999999E-3</c:v>
                </c:pt>
                <c:pt idx="9">
                  <c:v>1.9949999999999998E-3</c:v>
                </c:pt>
                <c:pt idx="10">
                  <c:v>2.1073329999999999E-3</c:v>
                </c:pt>
                <c:pt idx="11">
                  <c:v>2.2433330000000001E-3</c:v>
                </c:pt>
                <c:pt idx="12">
                  <c:v>2.3746660000000001E-3</c:v>
                </c:pt>
                <c:pt idx="13">
                  <c:v>2.413166E-3</c:v>
                </c:pt>
                <c:pt idx="14">
                  <c:v>2.353333E-3</c:v>
                </c:pt>
                <c:pt idx="15">
                  <c:v>2.3126660000000001E-3</c:v>
                </c:pt>
                <c:pt idx="16">
                  <c:v>2.287833E-3</c:v>
                </c:pt>
                <c:pt idx="17">
                  <c:v>2.2321659999999998E-3</c:v>
                </c:pt>
                <c:pt idx="18">
                  <c:v>2.1844999999999998E-3</c:v>
                </c:pt>
                <c:pt idx="19">
                  <c:v>2.1731659999999998E-3</c:v>
                </c:pt>
                <c:pt idx="20">
                  <c:v>2.1791660000000002E-3</c:v>
                </c:pt>
                <c:pt idx="21">
                  <c:v>2.1895E-3</c:v>
                </c:pt>
                <c:pt idx="22">
                  <c:v>2.2195000000000001E-3</c:v>
                </c:pt>
                <c:pt idx="23">
                  <c:v>2.3161660000000001E-3</c:v>
                </c:pt>
                <c:pt idx="24">
                  <c:v>2.3600000000000001E-3</c:v>
                </c:pt>
                <c:pt idx="25">
                  <c:v>2.3830000000000001E-3</c:v>
                </c:pt>
                <c:pt idx="26">
                  <c:v>2.1710000000000002E-3</c:v>
                </c:pt>
                <c:pt idx="27">
                  <c:v>2.1661660000000002E-3</c:v>
                </c:pt>
                <c:pt idx="28">
                  <c:v>2.137833E-3</c:v>
                </c:pt>
                <c:pt idx="29">
                  <c:v>2.0461659999999999E-3</c:v>
                </c:pt>
                <c:pt idx="30">
                  <c:v>2.0249999999999999E-3</c:v>
                </c:pt>
                <c:pt idx="31">
                  <c:v>2.0218329999999998E-3</c:v>
                </c:pt>
                <c:pt idx="32">
                  <c:v>2.2680000000000001E-3</c:v>
                </c:pt>
                <c:pt idx="33">
                  <c:v>2.3336659999999999E-3</c:v>
                </c:pt>
                <c:pt idx="34">
                  <c:v>2.3873330000000002E-3</c:v>
                </c:pt>
                <c:pt idx="35">
                  <c:v>2.4681659999999999E-3</c:v>
                </c:pt>
                <c:pt idx="36">
                  <c:v>2.4845000000000002E-3</c:v>
                </c:pt>
                <c:pt idx="37">
                  <c:v>2.3903330000000001E-3</c:v>
                </c:pt>
                <c:pt idx="38">
                  <c:v>2.3206659999999999E-3</c:v>
                </c:pt>
                <c:pt idx="39">
                  <c:v>2.196333E-3</c:v>
                </c:pt>
                <c:pt idx="40">
                  <c:v>2.1036660000000001E-3</c:v>
                </c:pt>
                <c:pt idx="41">
                  <c:v>1.964E-3</c:v>
                </c:pt>
                <c:pt idx="42">
                  <c:v>1.8413329999999999E-3</c:v>
                </c:pt>
                <c:pt idx="43">
                  <c:v>1.8044999999999999E-3</c:v>
                </c:pt>
                <c:pt idx="44">
                  <c:v>1.737333E-3</c:v>
                </c:pt>
                <c:pt idx="45">
                  <c:v>1.6433330000000001E-3</c:v>
                </c:pt>
                <c:pt idx="46">
                  <c:v>1.4985E-3</c:v>
                </c:pt>
                <c:pt idx="47">
                  <c:v>1.3485000000000001E-3</c:v>
                </c:pt>
                <c:pt idx="48">
                  <c:v>1.226666E-3</c:v>
                </c:pt>
                <c:pt idx="49">
                  <c:v>1.1368330000000001E-3</c:v>
                </c:pt>
                <c:pt idx="50">
                  <c:v>1.0366660000000001E-3</c:v>
                </c:pt>
                <c:pt idx="51">
                  <c:v>9.6750000000000004E-4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DCB-4AB5-8A35-E0F1CD3B0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64315456"/>
        <c:axId val="255510256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'Results_2026-06-29-1431'!$D$1</c15:sqref>
                        </c15:formulaRef>
                      </c:ext>
                    </c:extLst>
                    <c:strCache>
                      <c:ptCount val="1"/>
                      <c:pt idx="0">
                        <c:v>2 Year Average of Rolling Averages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trendline>
                  <c:spPr>
                    <a:ln w="19050" cap="rnd">
                      <a:solidFill>
                        <a:schemeClr val="accent3"/>
                      </a:solidFill>
                      <a:prstDash val="sysDot"/>
                    </a:ln>
                    <a:effectLst/>
                  </c:spPr>
                  <c:trendlineType val="poly"/>
                  <c:order val="2"/>
                  <c:dispRSqr val="1"/>
                  <c:dispEq val="1"/>
                  <c:trendlineLbl>
                    <c:layout>
                      <c:manualLayout>
                        <c:x val="-0.39908617212322139"/>
                        <c:y val="-0.16970149126319523"/>
                      </c:manualLayout>
                    </c:layout>
                    <c:numFmt formatCode="General" sourceLinked="0"/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anchor="ctr" anchorCtr="1"/>
                      <a:lstStyle/>
                      <a:p>
                        <a:pPr>
                          <a:defRPr sz="900" b="0" i="0" u="none" strike="noStrike" kern="1200" baseline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endParaRPr lang="en-US"/>
                      </a:p>
                    </c:txPr>
                  </c:trendlineLbl>
                </c:trendline>
                <c:val>
                  <c:numRef>
                    <c:extLst>
                      <c:ext uri="{02D57815-91ED-43cb-92C2-25804820EDAC}">
                        <c15:formulaRef>
                          <c15:sqref>'Results_2026-06-29-1431'!$D$2:$D$53</c15:sqref>
                        </c15:formulaRef>
                      </c:ext>
                    </c:extLst>
                    <c:numCache>
                      <c:formatCode>0.000%</c:formatCode>
                      <c:ptCount val="52"/>
                      <c:pt idx="0">
                        <c:v>1.4415000000000001E-3</c:v>
                      </c:pt>
                      <c:pt idx="1">
                        <c:v>1.4745000000000001E-3</c:v>
                      </c:pt>
                      <c:pt idx="2">
                        <c:v>1.513333E-3</c:v>
                      </c:pt>
                      <c:pt idx="3">
                        <c:v>1.6088750000000001E-3</c:v>
                      </c:pt>
                      <c:pt idx="4">
                        <c:v>1.6374E-3</c:v>
                      </c:pt>
                      <c:pt idx="5">
                        <c:v>1.6318330000000001E-3</c:v>
                      </c:pt>
                      <c:pt idx="6">
                        <c:v>1.6844164999999999E-3</c:v>
                      </c:pt>
                      <c:pt idx="7">
                        <c:v>1.7885000000000002E-3</c:v>
                      </c:pt>
                      <c:pt idx="8">
                        <c:v>1.8989994999999999E-3</c:v>
                      </c:pt>
                      <c:pt idx="9">
                        <c:v>1.9395829999999999E-3</c:v>
                      </c:pt>
                      <c:pt idx="10">
                        <c:v>2.0009995E-3</c:v>
                      </c:pt>
                      <c:pt idx="11">
                        <c:v>2.0782495000000001E-3</c:v>
                      </c:pt>
                      <c:pt idx="12">
                        <c:v>2.1269994999999998E-3</c:v>
                      </c:pt>
                      <c:pt idx="13">
                        <c:v>2.1166660000000001E-3</c:v>
                      </c:pt>
                      <c:pt idx="14">
                        <c:v>2.0764995000000001E-3</c:v>
                      </c:pt>
                      <c:pt idx="15">
                        <c:v>2.0949994999999999E-3</c:v>
                      </c:pt>
                      <c:pt idx="16">
                        <c:v>2.1774164999999999E-3</c:v>
                      </c:pt>
                      <c:pt idx="17">
                        <c:v>2.1925829999999997E-3</c:v>
                      </c:pt>
                      <c:pt idx="18">
                        <c:v>2.1892500000000002E-3</c:v>
                      </c:pt>
                      <c:pt idx="19">
                        <c:v>2.1899160000000001E-3</c:v>
                      </c:pt>
                      <c:pt idx="20">
                        <c:v>2.2018330000000003E-3</c:v>
                      </c:pt>
                      <c:pt idx="21">
                        <c:v>2.1835000000000001E-3</c:v>
                      </c:pt>
                      <c:pt idx="22">
                        <c:v>2.1105E-3</c:v>
                      </c:pt>
                      <c:pt idx="23">
                        <c:v>2.1149995E-3</c:v>
                      </c:pt>
                      <c:pt idx="24">
                        <c:v>2.1554165E-3</c:v>
                      </c:pt>
                      <c:pt idx="25">
                        <c:v>2.193333E-3</c:v>
                      </c:pt>
                      <c:pt idx="26">
                        <c:v>2.0909165000000001E-3</c:v>
                      </c:pt>
                      <c:pt idx="27">
                        <c:v>2.0909995000000002E-3</c:v>
                      </c:pt>
                      <c:pt idx="28">
                        <c:v>2.0976664999999999E-3</c:v>
                      </c:pt>
                      <c:pt idx="29">
                        <c:v>2.115666E-3</c:v>
                      </c:pt>
                      <c:pt idx="30">
                        <c:v>2.1280830000000002E-3</c:v>
                      </c:pt>
                      <c:pt idx="31">
                        <c:v>2.1277494999999997E-3</c:v>
                      </c:pt>
                      <c:pt idx="32">
                        <c:v>2.2573330000000003E-3</c:v>
                      </c:pt>
                      <c:pt idx="33">
                        <c:v>2.2911659999999999E-3</c:v>
                      </c:pt>
                      <c:pt idx="34">
                        <c:v>2.3122495000000003E-3</c:v>
                      </c:pt>
                      <c:pt idx="35">
                        <c:v>2.3089994999999997E-3</c:v>
                      </c:pt>
                      <c:pt idx="36">
                        <c:v>2.2720830000000003E-3</c:v>
                      </c:pt>
                      <c:pt idx="37">
                        <c:v>2.1888330000000003E-3</c:v>
                      </c:pt>
                      <c:pt idx="38">
                        <c:v>2.1239994999999998E-3</c:v>
                      </c:pt>
                      <c:pt idx="39">
                        <c:v>1.886083E-3</c:v>
                      </c:pt>
                      <c:pt idx="40">
                        <c:v>1.8110830000000002E-3</c:v>
                      </c:pt>
                      <c:pt idx="41">
                        <c:v>1.7415830000000001E-3</c:v>
                      </c:pt>
                      <c:pt idx="42">
                        <c:v>1.6741665000000001E-3</c:v>
                      </c:pt>
                      <c:pt idx="43">
                        <c:v>1.6448330000000001E-3</c:v>
                      </c:pt>
                      <c:pt idx="44">
                        <c:v>1.6004165000000001E-3</c:v>
                      </c:pt>
                      <c:pt idx="45">
                        <c:v>1.6746665000000002E-3</c:v>
                      </c:pt>
                      <c:pt idx="46">
                        <c:v>1.5554165000000002E-3</c:v>
                      </c:pt>
                      <c:pt idx="47">
                        <c:v>1.40525E-3</c:v>
                      </c:pt>
                      <c:pt idx="48">
                        <c:v>1.2854159999999999E-3</c:v>
                      </c:pt>
                      <c:pt idx="49">
                        <c:v>1.1937495000000002E-3</c:v>
                      </c:pt>
                      <c:pt idx="50">
                        <c:v>1.087333E-3</c:v>
                      </c:pt>
                      <c:pt idx="51">
                        <c:v>1.0010830000000001E-3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BDCB-4AB5-8A35-E0F1CD3B0580}"/>
                  </c:ext>
                </c:extLst>
              </c15:ser>
            </c15:filteredLineSeries>
          </c:ext>
        </c:extLst>
      </c:lineChart>
      <c:catAx>
        <c:axId val="9643154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dirty="0">
                    <a:solidFill>
                      <a:schemeClr val="tx1"/>
                    </a:solidFill>
                  </a:rPr>
                  <a:t>Week of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5510256"/>
        <c:crosses val="autoZero"/>
        <c:auto val="1"/>
        <c:lblAlgn val="ctr"/>
        <c:lblOffset val="100"/>
        <c:tickLblSkip val="2"/>
        <c:tickMarkSkip val="1"/>
        <c:noMultiLvlLbl val="0"/>
      </c:catAx>
      <c:valAx>
        <c:axId val="255510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dirty="0">
                    <a:solidFill>
                      <a:schemeClr val="tx1"/>
                    </a:solidFill>
                  </a:rPr>
                  <a:t>Average</a:t>
                </a:r>
                <a:r>
                  <a:rPr lang="en-US" sz="1600" baseline="0" dirty="0">
                    <a:solidFill>
                      <a:schemeClr val="tx1"/>
                    </a:solidFill>
                  </a:rPr>
                  <a:t> Conversion Rate (%)</a:t>
                </a:r>
                <a:endParaRPr lang="en-US" sz="1600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4315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19942417312220317"/>
          <c:y val="0.94052584095117553"/>
          <c:w val="0.62760273057665916"/>
          <c:h val="3.71261033912558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>
                <a:solidFill>
                  <a:schemeClr val="tx1"/>
                </a:solidFill>
              </a:rPr>
              <a:t>Rolling 6-Week</a:t>
            </a:r>
            <a:r>
              <a:rPr lang="en-US" sz="2400" baseline="0" dirty="0">
                <a:solidFill>
                  <a:schemeClr val="tx1"/>
                </a:solidFill>
              </a:rPr>
              <a:t> Average Conversion Rate, 2024 vs 2025</a:t>
            </a:r>
            <a:endParaRPr lang="en-US" sz="24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'Results_2026-06-29-1431'!$B$1</c:f>
              <c:strCache>
                <c:ptCount val="1"/>
                <c:pt idx="0">
                  <c:v>2024 6-Week Rolling Average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'Results_2026-06-29-1431'!$B$2:$B$53</c:f>
              <c:numCache>
                <c:formatCode>0.000%</c:formatCode>
                <c:ptCount val="52"/>
                <c:pt idx="0">
                  <c:v>1.4989999999999999E-3</c:v>
                </c:pt>
                <c:pt idx="1">
                  <c:v>1.4714999999999999E-3</c:v>
                </c:pt>
                <c:pt idx="2">
                  <c:v>1.5393329999999999E-3</c:v>
                </c:pt>
                <c:pt idx="3">
                  <c:v>1.67475E-3</c:v>
                </c:pt>
                <c:pt idx="4">
                  <c:v>1.7007999999999999E-3</c:v>
                </c:pt>
                <c:pt idx="5">
                  <c:v>1.676833E-3</c:v>
                </c:pt>
                <c:pt idx="6">
                  <c:v>1.735833E-3</c:v>
                </c:pt>
                <c:pt idx="7">
                  <c:v>1.8595E-3</c:v>
                </c:pt>
                <c:pt idx="8">
                  <c:v>1.9171660000000001E-3</c:v>
                </c:pt>
                <c:pt idx="9">
                  <c:v>1.8841660000000001E-3</c:v>
                </c:pt>
                <c:pt idx="10">
                  <c:v>1.8946659999999999E-3</c:v>
                </c:pt>
                <c:pt idx="11">
                  <c:v>1.913166E-3</c:v>
                </c:pt>
                <c:pt idx="12">
                  <c:v>1.879333E-3</c:v>
                </c:pt>
                <c:pt idx="13">
                  <c:v>1.820166E-3</c:v>
                </c:pt>
                <c:pt idx="14">
                  <c:v>1.7996659999999999E-3</c:v>
                </c:pt>
                <c:pt idx="15">
                  <c:v>1.8773329999999999E-3</c:v>
                </c:pt>
                <c:pt idx="16">
                  <c:v>2.0669999999999998E-3</c:v>
                </c:pt>
                <c:pt idx="17">
                  <c:v>2.153E-3</c:v>
                </c:pt>
                <c:pt idx="18">
                  <c:v>2.1940000000000002E-3</c:v>
                </c:pt>
                <c:pt idx="19">
                  <c:v>2.2066659999999999E-3</c:v>
                </c:pt>
                <c:pt idx="20">
                  <c:v>2.2244999999999999E-3</c:v>
                </c:pt>
                <c:pt idx="21">
                  <c:v>2.1775000000000002E-3</c:v>
                </c:pt>
                <c:pt idx="22">
                  <c:v>2.0014999999999998E-3</c:v>
                </c:pt>
                <c:pt idx="23">
                  <c:v>1.913833E-3</c:v>
                </c:pt>
                <c:pt idx="24">
                  <c:v>1.9508329999999999E-3</c:v>
                </c:pt>
                <c:pt idx="25">
                  <c:v>2.0036659999999999E-3</c:v>
                </c:pt>
                <c:pt idx="26">
                  <c:v>2.0108330000000001E-3</c:v>
                </c:pt>
                <c:pt idx="27">
                  <c:v>2.0158329999999999E-3</c:v>
                </c:pt>
                <c:pt idx="28">
                  <c:v>2.0574999999999999E-3</c:v>
                </c:pt>
                <c:pt idx="29">
                  <c:v>2.1851660000000001E-3</c:v>
                </c:pt>
                <c:pt idx="30">
                  <c:v>2.2311660000000001E-3</c:v>
                </c:pt>
                <c:pt idx="31">
                  <c:v>2.233666E-3</c:v>
                </c:pt>
                <c:pt idx="32">
                  <c:v>2.246666E-3</c:v>
                </c:pt>
                <c:pt idx="33">
                  <c:v>2.2486659999999999E-3</c:v>
                </c:pt>
                <c:pt idx="34">
                  <c:v>2.2371660000000001E-3</c:v>
                </c:pt>
                <c:pt idx="35">
                  <c:v>2.1498329999999999E-3</c:v>
                </c:pt>
                <c:pt idx="36">
                  <c:v>2.0596659999999999E-3</c:v>
                </c:pt>
                <c:pt idx="37">
                  <c:v>1.987333E-3</c:v>
                </c:pt>
                <c:pt idx="38">
                  <c:v>1.927333E-3</c:v>
                </c:pt>
                <c:pt idx="39">
                  <c:v>1.575833E-3</c:v>
                </c:pt>
                <c:pt idx="40">
                  <c:v>1.5185000000000001E-3</c:v>
                </c:pt>
                <c:pt idx="41">
                  <c:v>1.519166E-3</c:v>
                </c:pt>
                <c:pt idx="42">
                  <c:v>1.5070000000000001E-3</c:v>
                </c:pt>
                <c:pt idx="43">
                  <c:v>1.485166E-3</c:v>
                </c:pt>
                <c:pt idx="44">
                  <c:v>1.4635E-3</c:v>
                </c:pt>
                <c:pt idx="45">
                  <c:v>1.7060000000000001E-3</c:v>
                </c:pt>
                <c:pt idx="46">
                  <c:v>1.6123330000000001E-3</c:v>
                </c:pt>
                <c:pt idx="47">
                  <c:v>1.462E-3</c:v>
                </c:pt>
                <c:pt idx="48">
                  <c:v>1.3441659999999999E-3</c:v>
                </c:pt>
                <c:pt idx="49">
                  <c:v>1.2506660000000001E-3</c:v>
                </c:pt>
                <c:pt idx="50">
                  <c:v>1.1379999999999999E-3</c:v>
                </c:pt>
                <c:pt idx="51">
                  <c:v>1.0346660000000001E-3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5F-4C02-A821-F4E43CA9E6F6}"/>
            </c:ext>
          </c:extLst>
        </c:ser>
        <c:ser>
          <c:idx val="1"/>
          <c:order val="1"/>
          <c:tx>
            <c:strRef>
              <c:f>'Results_2026-06-29-1431'!$C$1</c:f>
              <c:strCache>
                <c:ptCount val="1"/>
                <c:pt idx="0">
                  <c:v>2025 6-Week Rolling Average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'Results_2026-06-29-1431'!$C$2:$C$53</c:f>
              <c:numCache>
                <c:formatCode>0.000%</c:formatCode>
                <c:ptCount val="52"/>
                <c:pt idx="0">
                  <c:v>1.384E-3</c:v>
                </c:pt>
                <c:pt idx="1">
                  <c:v>1.4775000000000001E-3</c:v>
                </c:pt>
                <c:pt idx="2">
                  <c:v>1.487333E-3</c:v>
                </c:pt>
                <c:pt idx="3">
                  <c:v>1.5430000000000001E-3</c:v>
                </c:pt>
                <c:pt idx="4">
                  <c:v>1.5740000000000001E-3</c:v>
                </c:pt>
                <c:pt idx="5">
                  <c:v>1.586833E-3</c:v>
                </c:pt>
                <c:pt idx="6">
                  <c:v>1.6329999999999999E-3</c:v>
                </c:pt>
                <c:pt idx="7">
                  <c:v>1.7175000000000001E-3</c:v>
                </c:pt>
                <c:pt idx="8">
                  <c:v>1.8808329999999999E-3</c:v>
                </c:pt>
                <c:pt idx="9">
                  <c:v>1.9949999999999998E-3</c:v>
                </c:pt>
                <c:pt idx="10">
                  <c:v>2.1073329999999999E-3</c:v>
                </c:pt>
                <c:pt idx="11">
                  <c:v>2.2433330000000001E-3</c:v>
                </c:pt>
                <c:pt idx="12">
                  <c:v>2.3746660000000001E-3</c:v>
                </c:pt>
                <c:pt idx="13">
                  <c:v>2.413166E-3</c:v>
                </c:pt>
                <c:pt idx="14">
                  <c:v>2.353333E-3</c:v>
                </c:pt>
                <c:pt idx="15">
                  <c:v>2.3126660000000001E-3</c:v>
                </c:pt>
                <c:pt idx="16">
                  <c:v>2.287833E-3</c:v>
                </c:pt>
                <c:pt idx="17">
                  <c:v>2.2321659999999998E-3</c:v>
                </c:pt>
                <c:pt idx="18">
                  <c:v>2.1844999999999998E-3</c:v>
                </c:pt>
                <c:pt idx="19">
                  <c:v>2.1731659999999998E-3</c:v>
                </c:pt>
                <c:pt idx="20">
                  <c:v>2.1791660000000002E-3</c:v>
                </c:pt>
                <c:pt idx="21">
                  <c:v>2.1895E-3</c:v>
                </c:pt>
                <c:pt idx="22">
                  <c:v>2.2195000000000001E-3</c:v>
                </c:pt>
                <c:pt idx="23">
                  <c:v>2.3161660000000001E-3</c:v>
                </c:pt>
                <c:pt idx="24">
                  <c:v>2.3600000000000001E-3</c:v>
                </c:pt>
                <c:pt idx="25">
                  <c:v>2.3830000000000001E-3</c:v>
                </c:pt>
                <c:pt idx="26">
                  <c:v>2.1710000000000002E-3</c:v>
                </c:pt>
                <c:pt idx="27">
                  <c:v>2.1661660000000002E-3</c:v>
                </c:pt>
                <c:pt idx="28">
                  <c:v>2.137833E-3</c:v>
                </c:pt>
                <c:pt idx="29">
                  <c:v>2.0461659999999999E-3</c:v>
                </c:pt>
                <c:pt idx="30">
                  <c:v>2.0249999999999999E-3</c:v>
                </c:pt>
                <c:pt idx="31">
                  <c:v>2.0218329999999998E-3</c:v>
                </c:pt>
                <c:pt idx="32">
                  <c:v>2.2680000000000001E-3</c:v>
                </c:pt>
                <c:pt idx="33">
                  <c:v>2.3336659999999999E-3</c:v>
                </c:pt>
                <c:pt idx="34">
                  <c:v>2.3873330000000002E-3</c:v>
                </c:pt>
                <c:pt idx="35">
                  <c:v>2.4681659999999999E-3</c:v>
                </c:pt>
                <c:pt idx="36">
                  <c:v>2.4845000000000002E-3</c:v>
                </c:pt>
                <c:pt idx="37">
                  <c:v>2.3903330000000001E-3</c:v>
                </c:pt>
                <c:pt idx="38">
                  <c:v>2.3206659999999999E-3</c:v>
                </c:pt>
                <c:pt idx="39">
                  <c:v>2.196333E-3</c:v>
                </c:pt>
                <c:pt idx="40">
                  <c:v>2.1036660000000001E-3</c:v>
                </c:pt>
                <c:pt idx="41">
                  <c:v>1.964E-3</c:v>
                </c:pt>
                <c:pt idx="42">
                  <c:v>1.8413329999999999E-3</c:v>
                </c:pt>
                <c:pt idx="43">
                  <c:v>1.8044999999999999E-3</c:v>
                </c:pt>
                <c:pt idx="44">
                  <c:v>1.737333E-3</c:v>
                </c:pt>
                <c:pt idx="45">
                  <c:v>1.6433330000000001E-3</c:v>
                </c:pt>
                <c:pt idx="46">
                  <c:v>1.4985E-3</c:v>
                </c:pt>
                <c:pt idx="47">
                  <c:v>1.3485000000000001E-3</c:v>
                </c:pt>
                <c:pt idx="48">
                  <c:v>1.226666E-3</c:v>
                </c:pt>
                <c:pt idx="49">
                  <c:v>1.1368330000000001E-3</c:v>
                </c:pt>
                <c:pt idx="50">
                  <c:v>1.0366660000000001E-3</c:v>
                </c:pt>
                <c:pt idx="51">
                  <c:v>9.6750000000000004E-4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5F-4C02-A821-F4E43CA9E6F6}"/>
            </c:ext>
          </c:extLst>
        </c:ser>
        <c:ser>
          <c:idx val="2"/>
          <c:order val="2"/>
          <c:tx>
            <c:strRef>
              <c:f>'Results_2026-06-29-1431'!$D$1</c:f>
              <c:strCache>
                <c:ptCount val="1"/>
                <c:pt idx="0">
                  <c:v>2 Year Average of Rolling Averages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5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val>
            <c:numRef>
              <c:f>'Results_2026-06-29-1431'!$D$2:$D$53</c:f>
              <c:numCache>
                <c:formatCode>0.000%</c:formatCode>
                <c:ptCount val="52"/>
                <c:pt idx="0">
                  <c:v>1.4415000000000001E-3</c:v>
                </c:pt>
                <c:pt idx="1">
                  <c:v>1.4745000000000001E-3</c:v>
                </c:pt>
                <c:pt idx="2">
                  <c:v>1.513333E-3</c:v>
                </c:pt>
                <c:pt idx="3">
                  <c:v>1.6088750000000001E-3</c:v>
                </c:pt>
                <c:pt idx="4">
                  <c:v>1.6374E-3</c:v>
                </c:pt>
                <c:pt idx="5">
                  <c:v>1.6318330000000001E-3</c:v>
                </c:pt>
                <c:pt idx="6">
                  <c:v>1.6844164999999999E-3</c:v>
                </c:pt>
                <c:pt idx="7">
                  <c:v>1.7885000000000002E-3</c:v>
                </c:pt>
                <c:pt idx="8">
                  <c:v>1.8989994999999999E-3</c:v>
                </c:pt>
                <c:pt idx="9">
                  <c:v>1.9395829999999999E-3</c:v>
                </c:pt>
                <c:pt idx="10">
                  <c:v>2.0009995E-3</c:v>
                </c:pt>
                <c:pt idx="11">
                  <c:v>2.0782495000000001E-3</c:v>
                </c:pt>
                <c:pt idx="12">
                  <c:v>2.1269994999999998E-3</c:v>
                </c:pt>
                <c:pt idx="13">
                  <c:v>2.1166660000000001E-3</c:v>
                </c:pt>
                <c:pt idx="14">
                  <c:v>2.0764995000000001E-3</c:v>
                </c:pt>
                <c:pt idx="15">
                  <c:v>2.0949994999999999E-3</c:v>
                </c:pt>
                <c:pt idx="16">
                  <c:v>2.1774164999999999E-3</c:v>
                </c:pt>
                <c:pt idx="17">
                  <c:v>2.1925829999999997E-3</c:v>
                </c:pt>
                <c:pt idx="18">
                  <c:v>2.1892500000000002E-3</c:v>
                </c:pt>
                <c:pt idx="19">
                  <c:v>2.1899160000000001E-3</c:v>
                </c:pt>
                <c:pt idx="20">
                  <c:v>2.2018330000000003E-3</c:v>
                </c:pt>
                <c:pt idx="21">
                  <c:v>2.1835000000000001E-3</c:v>
                </c:pt>
                <c:pt idx="22">
                  <c:v>2.1105E-3</c:v>
                </c:pt>
                <c:pt idx="23">
                  <c:v>2.1149995E-3</c:v>
                </c:pt>
                <c:pt idx="24">
                  <c:v>2.1554165E-3</c:v>
                </c:pt>
                <c:pt idx="25">
                  <c:v>2.193333E-3</c:v>
                </c:pt>
                <c:pt idx="26">
                  <c:v>2.0909165000000001E-3</c:v>
                </c:pt>
                <c:pt idx="27">
                  <c:v>2.0909995000000002E-3</c:v>
                </c:pt>
                <c:pt idx="28">
                  <c:v>2.0976664999999999E-3</c:v>
                </c:pt>
                <c:pt idx="29">
                  <c:v>2.115666E-3</c:v>
                </c:pt>
                <c:pt idx="30">
                  <c:v>2.1280830000000002E-3</c:v>
                </c:pt>
                <c:pt idx="31">
                  <c:v>2.1277494999999997E-3</c:v>
                </c:pt>
                <c:pt idx="32">
                  <c:v>2.2573330000000003E-3</c:v>
                </c:pt>
                <c:pt idx="33">
                  <c:v>2.2911659999999999E-3</c:v>
                </c:pt>
                <c:pt idx="34">
                  <c:v>2.3122495000000003E-3</c:v>
                </c:pt>
                <c:pt idx="35">
                  <c:v>2.3089994999999997E-3</c:v>
                </c:pt>
                <c:pt idx="36">
                  <c:v>2.2720830000000003E-3</c:v>
                </c:pt>
                <c:pt idx="37">
                  <c:v>2.1888330000000003E-3</c:v>
                </c:pt>
                <c:pt idx="38">
                  <c:v>2.1239994999999998E-3</c:v>
                </c:pt>
                <c:pt idx="39">
                  <c:v>1.886083E-3</c:v>
                </c:pt>
                <c:pt idx="40">
                  <c:v>1.8110830000000002E-3</c:v>
                </c:pt>
                <c:pt idx="41">
                  <c:v>1.7415830000000001E-3</c:v>
                </c:pt>
                <c:pt idx="42">
                  <c:v>1.6741665000000001E-3</c:v>
                </c:pt>
                <c:pt idx="43">
                  <c:v>1.6448330000000001E-3</c:v>
                </c:pt>
                <c:pt idx="44">
                  <c:v>1.6004165000000001E-3</c:v>
                </c:pt>
                <c:pt idx="45">
                  <c:v>1.6746665000000002E-3</c:v>
                </c:pt>
                <c:pt idx="46">
                  <c:v>1.5554165000000002E-3</c:v>
                </c:pt>
                <c:pt idx="47">
                  <c:v>1.40525E-3</c:v>
                </c:pt>
                <c:pt idx="48">
                  <c:v>1.2854159999999999E-3</c:v>
                </c:pt>
                <c:pt idx="49">
                  <c:v>1.1937495000000002E-3</c:v>
                </c:pt>
                <c:pt idx="50">
                  <c:v>1.087333E-3</c:v>
                </c:pt>
                <c:pt idx="51">
                  <c:v>1.0010830000000001E-3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F5F-4C02-A821-F4E43CA9E6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64315456"/>
        <c:axId val="255510256"/>
      </c:lineChart>
      <c:catAx>
        <c:axId val="9643154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dirty="0">
                    <a:solidFill>
                      <a:schemeClr val="tx1"/>
                    </a:solidFill>
                  </a:rPr>
                  <a:t>Week of Year</a:t>
                </a:r>
              </a:p>
            </c:rich>
          </c:tx>
          <c:layout>
            <c:manualLayout>
              <c:xMode val="edge"/>
              <c:yMode val="edge"/>
              <c:x val="0.43938672625927616"/>
              <c:y val="0.8455960900054241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5510256"/>
        <c:crosses val="autoZero"/>
        <c:auto val="1"/>
        <c:lblAlgn val="ctr"/>
        <c:lblOffset val="100"/>
        <c:tickLblSkip val="2"/>
        <c:tickMarkSkip val="1"/>
        <c:noMultiLvlLbl val="0"/>
      </c:catAx>
      <c:valAx>
        <c:axId val="255510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dirty="0">
                    <a:solidFill>
                      <a:schemeClr val="tx1"/>
                    </a:solidFill>
                  </a:rPr>
                  <a:t>Conversion</a:t>
                </a:r>
                <a:r>
                  <a:rPr lang="en-US" sz="1400" baseline="0" dirty="0">
                    <a:solidFill>
                      <a:schemeClr val="tx1"/>
                    </a:solidFill>
                  </a:rPr>
                  <a:t> Rate (%)</a:t>
                </a:r>
                <a:endParaRPr lang="en-US" sz="1400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4315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</a:rPr>
              <a:t>Average</a:t>
            </a:r>
            <a:r>
              <a:rPr lang="en-US" sz="1800" baseline="0" dirty="0">
                <a:solidFill>
                  <a:schemeClr val="tx1"/>
                </a:solidFill>
              </a:rPr>
              <a:t> Conversion Rate by Decile, Seasonal Model Iterations vs Baseline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Model</c:v>
                </c:pt>
              </c:strCache>
            </c:strRef>
          </c:tx>
          <c:spPr>
            <a:ln w="857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0.33554384097479401</c:v>
                </c:pt>
                <c:pt idx="1">
                  <c:v>0.28225378898006198</c:v>
                </c:pt>
                <c:pt idx="2">
                  <c:v>0.26070508720383301</c:v>
                </c:pt>
                <c:pt idx="3">
                  <c:v>0.24209795424150199</c:v>
                </c:pt>
                <c:pt idx="4">
                  <c:v>0.22868971669291199</c:v>
                </c:pt>
                <c:pt idx="5">
                  <c:v>0.20454164543150399</c:v>
                </c:pt>
                <c:pt idx="6">
                  <c:v>0.19202287582817101</c:v>
                </c:pt>
                <c:pt idx="7">
                  <c:v>0.151730223935477</c:v>
                </c:pt>
                <c:pt idx="8">
                  <c:v>0.128881759194967</c:v>
                </c:pt>
                <c:pt idx="9">
                  <c:v>4.3234191130697201E-2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21-4016-85A5-F763CFCB93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Seasonal 0.25 Model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0.33554384097479401</c:v>
                </c:pt>
                <c:pt idx="1">
                  <c:v>0.28533217494809499</c:v>
                </c:pt>
                <c:pt idx="2">
                  <c:v>0.25646375542565503</c:v>
                </c:pt>
                <c:pt idx="3">
                  <c:v>0.24784427471516299</c:v>
                </c:pt>
                <c:pt idx="4">
                  <c:v>0.229100167874533</c:v>
                </c:pt>
                <c:pt idx="5">
                  <c:v>0.20419960254616701</c:v>
                </c:pt>
                <c:pt idx="6">
                  <c:v>0.17806752610642301</c:v>
                </c:pt>
                <c:pt idx="7">
                  <c:v>0.14947274089225299</c:v>
                </c:pt>
                <c:pt idx="8">
                  <c:v>0.11314778646946699</c:v>
                </c:pt>
                <c:pt idx="9">
                  <c:v>7.0529194708463305E-2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21-4016-85A5-F763CFCB934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Quarter Category Model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0.33246545711263997</c:v>
                </c:pt>
                <c:pt idx="1">
                  <c:v>0.28102243459284898</c:v>
                </c:pt>
                <c:pt idx="2">
                  <c:v>0.25311173514935298</c:v>
                </c:pt>
                <c:pt idx="3">
                  <c:v>0.24360294293698501</c:v>
                </c:pt>
                <c:pt idx="4">
                  <c:v>0.216786632425917</c:v>
                </c:pt>
                <c:pt idx="5">
                  <c:v>0.21924948950099299</c:v>
                </c:pt>
                <c:pt idx="6">
                  <c:v>0.17184234559329001</c:v>
                </c:pt>
                <c:pt idx="7">
                  <c:v>0.16684851946737</c:v>
                </c:pt>
                <c:pt idx="8">
                  <c:v>0.13298627381901101</c:v>
                </c:pt>
                <c:pt idx="9">
                  <c:v>5.1785257414458503E-2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421-4016-85A5-F763CFCB93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07204416"/>
        <c:axId val="1907209216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Seasonal 0.5 Model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Sheet1!$A$2:$A$11</c15:sqref>
                        </c15:formulaRef>
                      </c:ext>
                    </c:extLst>
                    <c:strCache>
                      <c:ptCount val="10"/>
                      <c:pt idx="0">
                        <c:v>D1</c:v>
                      </c:pt>
                      <c:pt idx="1">
                        <c:v>D2</c:v>
                      </c:pt>
                      <c:pt idx="2">
                        <c:v>D3</c:v>
                      </c:pt>
                      <c:pt idx="3">
                        <c:v>D4</c:v>
                      </c:pt>
                      <c:pt idx="4">
                        <c:v>D5</c:v>
                      </c:pt>
                      <c:pt idx="5">
                        <c:v>D6</c:v>
                      </c:pt>
                      <c:pt idx="6">
                        <c:v>D7</c:v>
                      </c:pt>
                      <c:pt idx="7">
                        <c:v>D8</c:v>
                      </c:pt>
                      <c:pt idx="8">
                        <c:v>D9</c:v>
                      </c:pt>
                      <c:pt idx="9">
                        <c:v>D10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0.33116569503750798</c:v>
                      </c:pt>
                      <c:pt idx="1">
                        <c:v>0.28286946617366798</c:v>
                      </c:pt>
                      <c:pt idx="2">
                        <c:v>0.26063667862676598</c:v>
                      </c:pt>
                      <c:pt idx="3">
                        <c:v>0.24476588874713101</c:v>
                      </c:pt>
                      <c:pt idx="4">
                        <c:v>0.21658140683510599</c:v>
                      </c:pt>
                      <c:pt idx="5">
                        <c:v>0.203036656736021</c:v>
                      </c:pt>
                      <c:pt idx="6">
                        <c:v>0.177178214604547</c:v>
                      </c:pt>
                      <c:pt idx="7">
                        <c:v>0.15070409527946599</c:v>
                      </c:pt>
                      <c:pt idx="8">
                        <c:v>0.11882569836606099</c:v>
                      </c:pt>
                      <c:pt idx="9">
                        <c:v>8.3937266641401095E-2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2421-4016-85A5-F763CFCB9343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Seasonal 0.75 Model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Sheet1!$A$2:$A$11</c15:sqref>
                        </c15:formulaRef>
                      </c:ext>
                    </c:extLst>
                    <c:strCache>
                      <c:ptCount val="10"/>
                      <c:pt idx="0">
                        <c:v>D1</c:v>
                      </c:pt>
                      <c:pt idx="1">
                        <c:v>D2</c:v>
                      </c:pt>
                      <c:pt idx="2">
                        <c:v>D3</c:v>
                      </c:pt>
                      <c:pt idx="3">
                        <c:v>D4</c:v>
                      </c:pt>
                      <c:pt idx="4">
                        <c:v>D5</c:v>
                      </c:pt>
                      <c:pt idx="5">
                        <c:v>D6</c:v>
                      </c:pt>
                      <c:pt idx="6">
                        <c:v>D7</c:v>
                      </c:pt>
                      <c:pt idx="7">
                        <c:v>D8</c:v>
                      </c:pt>
                      <c:pt idx="8">
                        <c:v>D9</c:v>
                      </c:pt>
                      <c:pt idx="9">
                        <c:v>D10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0.33123410356777799</c:v>
                      </c:pt>
                      <c:pt idx="1">
                        <c:v>0.27363430826957003</c:v>
                      </c:pt>
                      <c:pt idx="2">
                        <c:v>0.25646375542565503</c:v>
                      </c:pt>
                      <c:pt idx="3">
                        <c:v>0.25420627238243099</c:v>
                      </c:pt>
                      <c:pt idx="4">
                        <c:v>0.20714102965783401</c:v>
                      </c:pt>
                      <c:pt idx="5">
                        <c:v>0.19120197290336199</c:v>
                      </c:pt>
                      <c:pt idx="6">
                        <c:v>0.167601013815112</c:v>
                      </c:pt>
                      <c:pt idx="7">
                        <c:v>0.14010076583402001</c:v>
                      </c:pt>
                      <c:pt idx="8">
                        <c:v>0.163770133499338</c:v>
                      </c:pt>
                      <c:pt idx="9">
                        <c:v>8.4347717823021598E-2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421-4016-85A5-F763CFCB9343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Seasonal 1.00 Model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Sheet1!$A$2:$A$11</c15:sqref>
                        </c15:formulaRef>
                      </c:ext>
                    </c:extLst>
                    <c:strCache>
                      <c:ptCount val="10"/>
                      <c:pt idx="0">
                        <c:v>D1</c:v>
                      </c:pt>
                      <c:pt idx="1">
                        <c:v>D2</c:v>
                      </c:pt>
                      <c:pt idx="2">
                        <c:v>D3</c:v>
                      </c:pt>
                      <c:pt idx="3">
                        <c:v>D4</c:v>
                      </c:pt>
                      <c:pt idx="4">
                        <c:v>D5</c:v>
                      </c:pt>
                      <c:pt idx="5">
                        <c:v>D6</c:v>
                      </c:pt>
                      <c:pt idx="6">
                        <c:v>D7</c:v>
                      </c:pt>
                      <c:pt idx="7">
                        <c:v>D8</c:v>
                      </c:pt>
                      <c:pt idx="8">
                        <c:v>D9</c:v>
                      </c:pt>
                      <c:pt idx="9">
                        <c:v>D10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Sheet1!$F$2:$F$11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0.32651391497914201</c:v>
                      </c:pt>
                      <c:pt idx="1">
                        <c:v>0.276644285660536</c:v>
                      </c:pt>
                      <c:pt idx="2">
                        <c:v>0.24852836048583701</c:v>
                      </c:pt>
                      <c:pt idx="3">
                        <c:v>0.241824319933233</c:v>
                      </c:pt>
                      <c:pt idx="4">
                        <c:v>0.20741466377891399</c:v>
                      </c:pt>
                      <c:pt idx="5">
                        <c:v>0.19640102476048399</c:v>
                      </c:pt>
                      <c:pt idx="6">
                        <c:v>0.120877955678082</c:v>
                      </c:pt>
                      <c:pt idx="7">
                        <c:v>0.17984614911017499</c:v>
                      </c:pt>
                      <c:pt idx="8">
                        <c:v>0.175125957292525</c:v>
                      </c:pt>
                      <c:pt idx="9">
                        <c:v>9.65244362110977E-2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2421-4016-85A5-F763CFCB9343}"/>
                  </c:ext>
                </c:extLst>
              </c15:ser>
            </c15:filteredLineSeries>
          </c:ext>
        </c:extLst>
      </c:lineChart>
      <c:catAx>
        <c:axId val="19072044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dirty="0">
                    <a:solidFill>
                      <a:schemeClr val="tx1"/>
                    </a:solidFill>
                  </a:rPr>
                  <a:t>Prediction</a:t>
                </a:r>
                <a:r>
                  <a:rPr lang="en-US" sz="1400" baseline="0" dirty="0">
                    <a:solidFill>
                      <a:schemeClr val="tx1"/>
                    </a:solidFill>
                  </a:rPr>
                  <a:t> Decile by Model Version</a:t>
                </a:r>
                <a:endParaRPr lang="en-US" sz="1400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209216"/>
        <c:crosses val="autoZero"/>
        <c:auto val="1"/>
        <c:lblAlgn val="ctr"/>
        <c:lblOffset val="100"/>
        <c:noMultiLvlLbl val="0"/>
      </c:catAx>
      <c:valAx>
        <c:axId val="1907209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dirty="0">
                    <a:solidFill>
                      <a:schemeClr val="tx1"/>
                    </a:solidFill>
                  </a:rPr>
                  <a:t>Conversion Rate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20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kern="1200" spc="0" baseline="0">
                <a:solidFill>
                  <a:srgbClr val="262626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600" b="0" i="0" u="none" strike="noStrike" kern="1200" spc="0" baseline="0" dirty="0">
                <a:solidFill>
                  <a:schemeClr val="tx1"/>
                </a:solidFill>
              </a:rPr>
              <a:t>Average Conversion Rate by Decile, Conversion Cluster Model Iterations vs Baseline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0" i="0" u="none" strike="noStrike" kern="1200" spc="0" baseline="0">
              <a:solidFill>
                <a:srgbClr val="262626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Conversion Clusters - 4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0.34970000000000001</c:v>
                </c:pt>
                <c:pt idx="1">
                  <c:v>0.28199999999999997</c:v>
                </c:pt>
                <c:pt idx="2">
                  <c:v>0.25600000000000001</c:v>
                </c:pt>
                <c:pt idx="3">
                  <c:v>0.24</c:v>
                </c:pt>
                <c:pt idx="4">
                  <c:v>0.223</c:v>
                </c:pt>
                <c:pt idx="5">
                  <c:v>0.20499999999999999</c:v>
                </c:pt>
                <c:pt idx="6">
                  <c:v>0.17299999999999999</c:v>
                </c:pt>
                <c:pt idx="7">
                  <c:v>0.14299999999999999</c:v>
                </c:pt>
                <c:pt idx="8">
                  <c:v>0.105</c:v>
                </c:pt>
                <c:pt idx="9">
                  <c:v>9.0800000000000006E-2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94-43D3-8ABC-58DBE0CA5D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Cluster 2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0.35402332688383098</c:v>
                </c:pt>
                <c:pt idx="1">
                  <c:v>0.281664371623638</c:v>
                </c:pt>
                <c:pt idx="2">
                  <c:v>0.25435754086194001</c:v>
                </c:pt>
                <c:pt idx="3">
                  <c:v>0.23461713592386599</c:v>
                </c:pt>
                <c:pt idx="4">
                  <c:v>0.231040286575245</c:v>
                </c:pt>
                <c:pt idx="5">
                  <c:v>0.20180787944902401</c:v>
                </c:pt>
                <c:pt idx="6">
                  <c:v>0.18543764246576999</c:v>
                </c:pt>
                <c:pt idx="7">
                  <c:v>0.15276584593141401</c:v>
                </c:pt>
                <c:pt idx="8">
                  <c:v>0.12298312489940499</c:v>
                </c:pt>
                <c:pt idx="9">
                  <c:v>4.7528680566684897E-2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94-43D3-8ABC-58DBE0CA5D5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Baseline Model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0.33554384097479401</c:v>
                </c:pt>
                <c:pt idx="1">
                  <c:v>0.28225378898006198</c:v>
                </c:pt>
                <c:pt idx="2">
                  <c:v>0.26070508720383301</c:v>
                </c:pt>
                <c:pt idx="3">
                  <c:v>0.24209795424150199</c:v>
                </c:pt>
                <c:pt idx="4">
                  <c:v>0.22868971669291199</c:v>
                </c:pt>
                <c:pt idx="5">
                  <c:v>0.20454164543150399</c:v>
                </c:pt>
                <c:pt idx="6">
                  <c:v>0.19202287582817101</c:v>
                </c:pt>
                <c:pt idx="7">
                  <c:v>0.151730223935477</c:v>
                </c:pt>
                <c:pt idx="8">
                  <c:v>0.128881759194967</c:v>
                </c:pt>
                <c:pt idx="9">
                  <c:v>4.3234191130697201E-2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F94-43D3-8ABC-58DBE0CA5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4119616"/>
        <c:axId val="86411913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Conversion Clusters v3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Sheet1!$A$2:$A$11</c15:sqref>
                        </c15:formulaRef>
                      </c:ext>
                    </c:extLst>
                    <c:strCache>
                      <c:ptCount val="10"/>
                      <c:pt idx="0">
                        <c:v>D1</c:v>
                      </c:pt>
                      <c:pt idx="1">
                        <c:v>D2</c:v>
                      </c:pt>
                      <c:pt idx="2">
                        <c:v>D3</c:v>
                      </c:pt>
                      <c:pt idx="3">
                        <c:v>D4</c:v>
                      </c:pt>
                      <c:pt idx="4">
                        <c:v>D5</c:v>
                      </c:pt>
                      <c:pt idx="5">
                        <c:v>D6</c:v>
                      </c:pt>
                      <c:pt idx="6">
                        <c:v>D7</c:v>
                      </c:pt>
                      <c:pt idx="7">
                        <c:v>D8</c:v>
                      </c:pt>
                      <c:pt idx="8">
                        <c:v>D9</c:v>
                      </c:pt>
                      <c:pt idx="9">
                        <c:v>D10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0.34927733707326503</c:v>
                      </c:pt>
                      <c:pt idx="1">
                        <c:v>0.283108804298631</c:v>
                      </c:pt>
                      <c:pt idx="2">
                        <c:v>0.25580197254341702</c:v>
                      </c:pt>
                      <c:pt idx="3">
                        <c:v>0.239500694015509</c:v>
                      </c:pt>
                      <c:pt idx="4">
                        <c:v>0.22870168290047299</c:v>
                      </c:pt>
                      <c:pt idx="5">
                        <c:v>0.205453352390673</c:v>
                      </c:pt>
                      <c:pt idx="6">
                        <c:v>0.16019446190755901</c:v>
                      </c:pt>
                      <c:pt idx="7">
                        <c:v>0.14857011580902901</c:v>
                      </c:pt>
                      <c:pt idx="8">
                        <c:v>0.105099672732825</c:v>
                      </c:pt>
                      <c:pt idx="9">
                        <c:v>9.0517718705871705E-2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1F94-43D3-8ABC-58DBE0CA5D55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Conversion Clusters v5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Sheet1!$A$2:$A$11</c15:sqref>
                        </c15:formulaRef>
                      </c:ext>
                    </c:extLst>
                    <c:strCache>
                      <c:ptCount val="10"/>
                      <c:pt idx="0">
                        <c:v>D1</c:v>
                      </c:pt>
                      <c:pt idx="1">
                        <c:v>D2</c:v>
                      </c:pt>
                      <c:pt idx="2">
                        <c:v>D3</c:v>
                      </c:pt>
                      <c:pt idx="3">
                        <c:v>D4</c:v>
                      </c:pt>
                      <c:pt idx="4">
                        <c:v>D5</c:v>
                      </c:pt>
                      <c:pt idx="5">
                        <c:v>D6</c:v>
                      </c:pt>
                      <c:pt idx="6">
                        <c:v>D7</c:v>
                      </c:pt>
                      <c:pt idx="7">
                        <c:v>D8</c:v>
                      </c:pt>
                      <c:pt idx="8">
                        <c:v>D9</c:v>
                      </c:pt>
                      <c:pt idx="9">
                        <c:v>D10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0.33373250088213502</c:v>
                      </c:pt>
                      <c:pt idx="1">
                        <c:v>0.28469080199029001</c:v>
                      </c:pt>
                      <c:pt idx="2">
                        <c:v>0.25587075500443901</c:v>
                      </c:pt>
                      <c:pt idx="3">
                        <c:v>0.239019216457178</c:v>
                      </c:pt>
                      <c:pt idx="4">
                        <c:v>0.23303497794490299</c:v>
                      </c:pt>
                      <c:pt idx="5">
                        <c:v>0.190733895607411</c:v>
                      </c:pt>
                      <c:pt idx="6">
                        <c:v>0.18853285534075501</c:v>
                      </c:pt>
                      <c:pt idx="7">
                        <c:v>0.143824125998463</c:v>
                      </c:pt>
                      <c:pt idx="8">
                        <c:v>0.100284897149515</c:v>
                      </c:pt>
                      <c:pt idx="9">
                        <c:v>9.6501792814846499E-2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1F94-43D3-8ABC-58DBE0CA5D55}"/>
                  </c:ext>
                </c:extLst>
              </c15:ser>
            </c15:filteredLineSeries>
          </c:ext>
        </c:extLst>
      </c:lineChart>
      <c:catAx>
        <c:axId val="8641196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dirty="0">
                    <a:solidFill>
                      <a:schemeClr val="tx1"/>
                    </a:solidFill>
                  </a:rPr>
                  <a:t>Prediction Decile</a:t>
                </a:r>
                <a:r>
                  <a:rPr lang="en-US" sz="1400" baseline="0" dirty="0">
                    <a:solidFill>
                      <a:schemeClr val="tx1"/>
                    </a:solidFill>
                  </a:rPr>
                  <a:t> by Model Version</a:t>
                </a:r>
                <a:endParaRPr lang="en-US" sz="1400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119136"/>
        <c:crosses val="autoZero"/>
        <c:auto val="1"/>
        <c:lblAlgn val="ctr"/>
        <c:lblOffset val="100"/>
        <c:noMultiLvlLbl val="0"/>
      </c:catAx>
      <c:valAx>
        <c:axId val="864119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dirty="0">
                    <a:solidFill>
                      <a:schemeClr val="tx1"/>
                    </a:solidFill>
                  </a:rPr>
                  <a:t>Conversion Rate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119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000" b="0" i="0" u="none" strike="noStrike" kern="1200" spc="0" baseline="0" dirty="0">
                <a:solidFill>
                  <a:schemeClr val="tx1"/>
                </a:solidFill>
              </a:rPr>
              <a:t>Average Conversion Rate by Decile,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</a:defRPr>
            </a:pPr>
            <a:r>
              <a:rPr lang="en-US" sz="2000" b="0" i="0" u="none" strike="noStrike" kern="1200" spc="0" baseline="0" dirty="0">
                <a:solidFill>
                  <a:schemeClr val="tx1"/>
                </a:solidFill>
              </a:rPr>
              <a:t>Conversion Cluster Model Iterations vs Baseline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0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0.33554384097479401</c:v>
                </c:pt>
                <c:pt idx="1">
                  <c:v>0.28225378898006198</c:v>
                </c:pt>
                <c:pt idx="2">
                  <c:v>0.26070508720383301</c:v>
                </c:pt>
                <c:pt idx="3">
                  <c:v>0.24209795424150199</c:v>
                </c:pt>
                <c:pt idx="4">
                  <c:v>0.22868971669291199</c:v>
                </c:pt>
                <c:pt idx="5">
                  <c:v>0.20454164543150399</c:v>
                </c:pt>
                <c:pt idx="6">
                  <c:v>0.19202287582817101</c:v>
                </c:pt>
                <c:pt idx="7">
                  <c:v>0.151730223935477</c:v>
                </c:pt>
                <c:pt idx="8">
                  <c:v>0.128881759194967</c:v>
                </c:pt>
                <c:pt idx="9">
                  <c:v>4.3234191130697201E-2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B9-4355-9043-D987DDE942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Demographic Model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0.334449304490472</c:v>
                </c:pt>
                <c:pt idx="1">
                  <c:v>0.28704238937477899</c:v>
                </c:pt>
                <c:pt idx="2">
                  <c:v>0.25680579831099198</c:v>
                </c:pt>
                <c:pt idx="3">
                  <c:v>0.24784427471516299</c:v>
                </c:pt>
                <c:pt idx="4">
                  <c:v>0.223832711043736</c:v>
                </c:pt>
                <c:pt idx="5">
                  <c:v>0.20700435420593</c:v>
                </c:pt>
                <c:pt idx="6">
                  <c:v>0.18230885788460099</c:v>
                </c:pt>
                <c:pt idx="7">
                  <c:v>0.15610837286779</c:v>
                </c:pt>
                <c:pt idx="8">
                  <c:v>0.124708835993856</c:v>
                </c:pt>
                <c:pt idx="9">
                  <c:v>4.9596184445815601E-2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B9-4355-9043-D987DDE942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Age 55+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0.336843603049925</c:v>
                </c:pt>
                <c:pt idx="1">
                  <c:v>0.28642671218117299</c:v>
                </c:pt>
                <c:pt idx="2">
                  <c:v>0.255163992461374</c:v>
                </c:pt>
                <c:pt idx="3">
                  <c:v>0.24914403767944401</c:v>
                </c:pt>
                <c:pt idx="4">
                  <c:v>0.222601357498874</c:v>
                </c:pt>
                <c:pt idx="5">
                  <c:v>0.20850934290141299</c:v>
                </c:pt>
                <c:pt idx="6">
                  <c:v>0.18107750349738799</c:v>
                </c:pt>
                <c:pt idx="7">
                  <c:v>0.153714072670431</c:v>
                </c:pt>
                <c:pt idx="8">
                  <c:v>0.124640427416789</c:v>
                </c:pt>
                <c:pt idx="9">
                  <c:v>5.1580031823648197E-2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FB9-4355-9043-D987DDE9427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Age 55+ &amp; Household Info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0.33704882864073599</c:v>
                </c:pt>
                <c:pt idx="1">
                  <c:v>0.28765806656838599</c:v>
                </c:pt>
                <c:pt idx="2">
                  <c:v>0.25379582092002601</c:v>
                </c:pt>
                <c:pt idx="3">
                  <c:v>0.25064902637492598</c:v>
                </c:pt>
                <c:pt idx="4">
                  <c:v>0.220480693060501</c:v>
                </c:pt>
                <c:pt idx="5">
                  <c:v>0.205772999818717</c:v>
                </c:pt>
                <c:pt idx="6">
                  <c:v>0.184087480888353</c:v>
                </c:pt>
                <c:pt idx="7">
                  <c:v>0.15186704108961099</c:v>
                </c:pt>
                <c:pt idx="8">
                  <c:v>0.12614541611227201</c:v>
                </c:pt>
                <c:pt idx="9">
                  <c:v>5.2195708596078999E-2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FB9-4355-9043-D987DDE9427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Income 0-50K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0.33239704858237001</c:v>
                </c:pt>
                <c:pt idx="1">
                  <c:v>0.29402006423565302</c:v>
                </c:pt>
                <c:pt idx="2">
                  <c:v>0.251948789339207</c:v>
                </c:pt>
                <c:pt idx="3">
                  <c:v>0.24387657724525499</c:v>
                </c:pt>
                <c:pt idx="4">
                  <c:v>0.23477807588694999</c:v>
                </c:pt>
                <c:pt idx="5">
                  <c:v>0.20474687116270601</c:v>
                </c:pt>
                <c:pt idx="6">
                  <c:v>0.177725483221086</c:v>
                </c:pt>
                <c:pt idx="7">
                  <c:v>0.15946039314409199</c:v>
                </c:pt>
                <c:pt idx="8">
                  <c:v>0.11916774125139799</c:v>
                </c:pt>
                <c:pt idx="9">
                  <c:v>5.1580031823648197E-2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FB9-4355-9043-D987DDE942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40760448"/>
        <c:axId val="1140761888"/>
      </c:lineChart>
      <c:catAx>
        <c:axId val="11407604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>
                    <a:solidFill>
                      <a:schemeClr val="tx1"/>
                    </a:solidFill>
                  </a:rPr>
                  <a:t>Prediction Decile</a:t>
                </a:r>
                <a:r>
                  <a:rPr lang="en-US" sz="1800" baseline="0" dirty="0">
                    <a:solidFill>
                      <a:schemeClr val="tx1"/>
                    </a:solidFill>
                  </a:rPr>
                  <a:t> by Model Version</a:t>
                </a:r>
                <a:endParaRPr lang="en-US" sz="1800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0761888"/>
        <c:crosses val="autoZero"/>
        <c:auto val="1"/>
        <c:lblAlgn val="ctr"/>
        <c:lblOffset val="100"/>
        <c:noMultiLvlLbl val="0"/>
      </c:catAx>
      <c:valAx>
        <c:axId val="1140761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>
                    <a:solidFill>
                      <a:schemeClr val="tx1"/>
                    </a:solidFill>
                  </a:rPr>
                  <a:t>Conversion Rate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0760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>
                <a:solidFill>
                  <a:schemeClr val="tx1"/>
                </a:solidFill>
              </a:rPr>
              <a:t>Lift</a:t>
            </a:r>
            <a:r>
              <a:rPr lang="en-US" sz="2800" baseline="0" dirty="0">
                <a:solidFill>
                  <a:schemeClr val="tx1"/>
                </a:solidFill>
              </a:rPr>
              <a:t> of Top-Performing Models</a:t>
            </a:r>
            <a:endParaRPr lang="en-US" sz="2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E58-4D5B-8BD5-139CC1EFCB8E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E58-4D5B-8BD5-139CC1EFCB8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Quarter</c:v>
                </c:pt>
                <c:pt idx="2">
                  <c:v>Cluster 2</c:v>
                </c:pt>
                <c:pt idx="3">
                  <c:v>Demographics</c:v>
                </c:pt>
                <c:pt idx="4">
                  <c:v>Age 55+</c:v>
                </c:pt>
                <c:pt idx="5">
                  <c:v>Income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7.77</c:v>
                </c:pt>
                <c:pt idx="1">
                  <c:v>6.42</c:v>
                </c:pt>
                <c:pt idx="2">
                  <c:v>7.45</c:v>
                </c:pt>
                <c:pt idx="3">
                  <c:v>6.74</c:v>
                </c:pt>
                <c:pt idx="4">
                  <c:v>6.53</c:v>
                </c:pt>
                <c:pt idx="5">
                  <c:v>6.44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58-4D5B-8BD5-139CC1EFCB8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97712287"/>
        <c:axId val="1097738687"/>
      </c:barChart>
      <c:catAx>
        <c:axId val="10977122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>
                    <a:solidFill>
                      <a:schemeClr val="tx1"/>
                    </a:solidFill>
                  </a:rPr>
                  <a:t>Model Version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738687"/>
        <c:crosses val="autoZero"/>
        <c:auto val="1"/>
        <c:lblAlgn val="ctr"/>
        <c:lblOffset val="100"/>
        <c:noMultiLvlLbl val="0"/>
      </c:catAx>
      <c:valAx>
        <c:axId val="1097738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>
                    <a:solidFill>
                      <a:schemeClr val="tx1"/>
                    </a:solidFill>
                  </a:rPr>
                  <a:t>Lift of</a:t>
                </a:r>
                <a:r>
                  <a:rPr lang="en-US" sz="1800" baseline="0" dirty="0">
                    <a:solidFill>
                      <a:schemeClr val="tx1"/>
                    </a:solidFill>
                  </a:rPr>
                  <a:t> Conversion Deciles</a:t>
                </a:r>
                <a:endParaRPr lang="en-US" sz="1800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7122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chemeClr val="tx1"/>
                </a:solidFill>
              </a:rPr>
              <a:t>Average</a:t>
            </a:r>
            <a:r>
              <a:rPr lang="en-US" sz="2000" baseline="0">
                <a:solidFill>
                  <a:schemeClr val="tx1"/>
                </a:solidFill>
              </a:rPr>
              <a:t> Logistic Regression Coefficients</a:t>
            </a:r>
            <a:endParaRPr lang="en-US" sz="200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788680677055586"/>
          <c:y val="0.11299556420441775"/>
          <c:w val="0.78779821080793111"/>
          <c:h val="0.73365399967724143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Sheet1!$A$1:$D$1</c:f>
              <c:strCache>
                <c:ptCount val="4"/>
                <c:pt idx="0">
                  <c:v>IMP_WM0</c:v>
                </c:pt>
                <c:pt idx="1">
                  <c:v>IMP_WM1</c:v>
                </c:pt>
                <c:pt idx="2">
                  <c:v>IMP_WM2</c:v>
                </c:pt>
                <c:pt idx="3">
                  <c:v>IMP_WM3</c:v>
                </c:pt>
              </c:strCache>
            </c:strRef>
          </c:cat>
          <c:val>
            <c:numRef>
              <c:f>Sheet1!$A$2:$D$2</c:f>
              <c:numCache>
                <c:formatCode>General</c:formatCode>
                <c:ptCount val="4"/>
                <c:pt idx="0">
                  <c:v>0.153</c:v>
                </c:pt>
                <c:pt idx="1">
                  <c:v>7.8299999999999995E-2</c:v>
                </c:pt>
                <c:pt idx="2">
                  <c:v>5.4600000000000003E-2</c:v>
                </c:pt>
                <c:pt idx="3">
                  <c:v>4.2000000000000003E-2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0D-46A9-B6C8-53984BC03C7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878298799"/>
        <c:axId val="878305999"/>
      </c:barChart>
      <c:catAx>
        <c:axId val="878298799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>
                    <a:solidFill>
                      <a:schemeClr val="tx1"/>
                    </a:solidFill>
                  </a:rPr>
                  <a:t>Model Feature (Log Transformed)</a:t>
                </a:r>
              </a:p>
            </c:rich>
          </c:tx>
          <c:layout>
            <c:manualLayout>
              <c:xMode val="edge"/>
              <c:yMode val="edge"/>
              <c:x val="2.2182954059160365E-2"/>
              <c:y val="0.1116468915975314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8305999"/>
        <c:crosses val="autoZero"/>
        <c:auto val="1"/>
        <c:lblAlgn val="ctr"/>
        <c:lblOffset val="100"/>
        <c:noMultiLvlLbl val="0"/>
      </c:catAx>
      <c:valAx>
        <c:axId val="8783059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>
                    <a:solidFill>
                      <a:schemeClr val="tx1"/>
                    </a:solidFill>
                  </a:rPr>
                  <a:t>Coefficient</a:t>
                </a:r>
                <a:r>
                  <a:rPr lang="en-US" sz="2400" baseline="0">
                    <a:solidFill>
                      <a:schemeClr val="tx1"/>
                    </a:solidFill>
                  </a:rPr>
                  <a:t> Value</a:t>
                </a:r>
                <a:endParaRPr lang="en-US" sz="240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.41304136451367801"/>
              <c:y val="0.9260749787899862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8298799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</a:rPr>
              <a:t>Actual</a:t>
            </a:r>
            <a:r>
              <a:rPr lang="en-US" sz="1800" baseline="0" dirty="0">
                <a:solidFill>
                  <a:schemeClr val="tx1"/>
                </a:solidFill>
              </a:rPr>
              <a:t> vs. Predicted Conversion Rate by Current Week Impressions, 2025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'Prediction IMPWM0'!$B$1</c:f>
              <c:strCache>
                <c:ptCount val="1"/>
                <c:pt idx="0">
                  <c:v>Actual 2025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'Prediction IMPWM0'!$A$2:$A$24</c:f>
              <c:numCache>
                <c:formatCode>General</c:formatCode>
                <c:ptCount val="2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</c:numCache>
            </c:numRef>
          </c:cat>
          <c:val>
            <c:numRef>
              <c:f>'Prediction IMPWM0'!$B$2:$B$24</c:f>
              <c:numCache>
                <c:formatCode>General</c:formatCode>
                <c:ptCount val="23"/>
                <c:pt idx="0">
                  <c:v>0.08</c:v>
                </c:pt>
                <c:pt idx="1">
                  <c:v>0.18</c:v>
                </c:pt>
                <c:pt idx="2">
                  <c:v>0.19500000000000001</c:v>
                </c:pt>
                <c:pt idx="3">
                  <c:v>0.20499999999999999</c:v>
                </c:pt>
                <c:pt idx="4">
                  <c:v>0.215</c:v>
                </c:pt>
                <c:pt idx="5">
                  <c:v>0.22500000000000001</c:v>
                </c:pt>
                <c:pt idx="6">
                  <c:v>0.23</c:v>
                </c:pt>
                <c:pt idx="7">
                  <c:v>0.24</c:v>
                </c:pt>
                <c:pt idx="8">
                  <c:v>0.248</c:v>
                </c:pt>
                <c:pt idx="9">
                  <c:v>0.245</c:v>
                </c:pt>
                <c:pt idx="10">
                  <c:v>0.25</c:v>
                </c:pt>
                <c:pt idx="11">
                  <c:v>0.26200000000000001</c:v>
                </c:pt>
                <c:pt idx="12">
                  <c:v>0.26700000000000002</c:v>
                </c:pt>
                <c:pt idx="13">
                  <c:v>0.27500000000000002</c:v>
                </c:pt>
                <c:pt idx="14">
                  <c:v>0.27</c:v>
                </c:pt>
                <c:pt idx="15">
                  <c:v>0.28799999999999998</c:v>
                </c:pt>
                <c:pt idx="16">
                  <c:v>0.28000000000000003</c:v>
                </c:pt>
                <c:pt idx="17">
                  <c:v>0.28499999999999998</c:v>
                </c:pt>
                <c:pt idx="18">
                  <c:v>0.28999999999999998</c:v>
                </c:pt>
                <c:pt idx="19">
                  <c:v>0.30199999999999999</c:v>
                </c:pt>
                <c:pt idx="20">
                  <c:v>0.318</c:v>
                </c:pt>
                <c:pt idx="21">
                  <c:v>0.312</c:v>
                </c:pt>
                <c:pt idx="22">
                  <c:v>0.318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BF-428B-80AC-C7A3AE89DBA6}"/>
            </c:ext>
          </c:extLst>
        </c:ser>
        <c:ser>
          <c:idx val="2"/>
          <c:order val="2"/>
          <c:tx>
            <c:strRef>
              <c:f>'Prediction IMPWM0'!$C$1</c:f>
              <c:strCache>
                <c:ptCount val="1"/>
                <c:pt idx="0">
                  <c:v>Model Predicted</c:v>
                </c:pt>
              </c:strCache>
            </c:strRef>
          </c:tx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none"/>
          </c:marker>
          <c:cat>
            <c:numRef>
              <c:f>'Prediction IMPWM0'!$A$2:$A$24</c:f>
              <c:numCache>
                <c:formatCode>General</c:formatCode>
                <c:ptCount val="2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</c:numCache>
            </c:numRef>
          </c:cat>
          <c:val>
            <c:numRef>
              <c:f>'Prediction IMPWM0'!$C$2:$C$24</c:f>
              <c:numCache>
                <c:formatCode>General</c:formatCode>
                <c:ptCount val="23"/>
                <c:pt idx="0">
                  <c:v>7.0000000000000007E-2</c:v>
                </c:pt>
                <c:pt idx="1">
                  <c:v>0.17499999999999999</c:v>
                </c:pt>
                <c:pt idx="2">
                  <c:v>0.19</c:v>
                </c:pt>
                <c:pt idx="3">
                  <c:v>0.20200000000000001</c:v>
                </c:pt>
                <c:pt idx="4">
                  <c:v>0.21</c:v>
                </c:pt>
                <c:pt idx="5">
                  <c:v>0.22</c:v>
                </c:pt>
                <c:pt idx="6">
                  <c:v>0.22800000000000001</c:v>
                </c:pt>
                <c:pt idx="7">
                  <c:v>0.23499999999999999</c:v>
                </c:pt>
                <c:pt idx="8">
                  <c:v>0.24</c:v>
                </c:pt>
                <c:pt idx="9">
                  <c:v>0.245</c:v>
                </c:pt>
                <c:pt idx="10">
                  <c:v>0.25</c:v>
                </c:pt>
                <c:pt idx="11">
                  <c:v>0.255</c:v>
                </c:pt>
                <c:pt idx="12">
                  <c:v>0.26</c:v>
                </c:pt>
                <c:pt idx="13">
                  <c:v>0.27</c:v>
                </c:pt>
                <c:pt idx="14">
                  <c:v>0.27</c:v>
                </c:pt>
                <c:pt idx="15">
                  <c:v>0.27800000000000002</c:v>
                </c:pt>
                <c:pt idx="16">
                  <c:v>0.28499999999999998</c:v>
                </c:pt>
                <c:pt idx="17">
                  <c:v>0.28999999999999998</c:v>
                </c:pt>
                <c:pt idx="18">
                  <c:v>0.29499999999999998</c:v>
                </c:pt>
                <c:pt idx="19">
                  <c:v>0.3</c:v>
                </c:pt>
                <c:pt idx="20">
                  <c:v>0.30499999999999999</c:v>
                </c:pt>
                <c:pt idx="21">
                  <c:v>0.312</c:v>
                </c:pt>
                <c:pt idx="22">
                  <c:v>0.318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BF-428B-80AC-C7A3AE89DB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05060639"/>
        <c:axId val="2005061119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'Prediction IMPWM0'!$A$1</c15:sqref>
                        </c15:formulaRef>
                      </c:ext>
                    </c:extLst>
                    <c:strCache>
                      <c:ptCount val="1"/>
                      <c:pt idx="0">
                        <c:v>Current_Week_Impressions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'Prediction IMPWM0'!$A$2:$A$24</c15:sqref>
                        </c15:formulaRef>
                      </c:ext>
                    </c:extLst>
                    <c:numCache>
                      <c:formatCode>General</c:formatCode>
                      <c:ptCount val="23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'Prediction IMPWM0'!$A$2:$A$24</c15:sqref>
                        </c15:formulaRef>
                      </c:ext>
                    </c:extLst>
                    <c:numCache>
                      <c:formatCode>General</c:formatCode>
                      <c:ptCount val="23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56BF-428B-80AC-C7A3AE89DBA6}"/>
                  </c:ext>
                </c:extLst>
              </c15:ser>
            </c15:filteredLineSeries>
          </c:ext>
        </c:extLst>
      </c:lineChart>
      <c:catAx>
        <c:axId val="20050606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b="0" dirty="0">
                    <a:solidFill>
                      <a:schemeClr val="tx1"/>
                    </a:solidFill>
                  </a:rPr>
                  <a:t>Number of Current Week Impressions</a:t>
                </a:r>
              </a:p>
            </c:rich>
          </c:tx>
          <c:layout>
            <c:manualLayout>
              <c:xMode val="edge"/>
              <c:yMode val="edge"/>
              <c:x val="0.29699492609501427"/>
              <c:y val="0.861637848641872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5061119"/>
        <c:crosses val="autoZero"/>
        <c:auto val="1"/>
        <c:lblAlgn val="ctr"/>
        <c:lblOffset val="100"/>
        <c:noMultiLvlLbl val="0"/>
      </c:catAx>
      <c:valAx>
        <c:axId val="2005061119"/>
        <c:scaling>
          <c:orientation val="minMax"/>
          <c:max val="0.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>
                    <a:solidFill>
                      <a:schemeClr val="tx1"/>
                    </a:solidFill>
                  </a:rPr>
                  <a:t>Conversion Rate (%)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5060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>
                <a:solidFill>
                  <a:schemeClr val="tx1"/>
                </a:solidFill>
              </a:rPr>
              <a:t>Actual vs. Predicted Conversions by Week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'Weekly Conversions'!$D$1</c:f>
              <c:strCache>
                <c:ptCount val="1"/>
                <c:pt idx="0">
                  <c:v>Total Impressions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val>
            <c:numRef>
              <c:f>'Weekly Conversions'!$D$2:$D$14</c:f>
              <c:numCache>
                <c:formatCode>General</c:formatCode>
                <c:ptCount val="13"/>
                <c:pt idx="0">
                  <c:v>3200000</c:v>
                </c:pt>
                <c:pt idx="1">
                  <c:v>3450000</c:v>
                </c:pt>
                <c:pt idx="2">
                  <c:v>3100000</c:v>
                </c:pt>
                <c:pt idx="3">
                  <c:v>3150000</c:v>
                </c:pt>
                <c:pt idx="4">
                  <c:v>2800000</c:v>
                </c:pt>
                <c:pt idx="5">
                  <c:v>200000</c:v>
                </c:pt>
                <c:pt idx="6">
                  <c:v>3050000</c:v>
                </c:pt>
                <c:pt idx="7">
                  <c:v>0</c:v>
                </c:pt>
                <c:pt idx="8">
                  <c:v>3300000</c:v>
                </c:pt>
                <c:pt idx="9">
                  <c:v>2700000</c:v>
                </c:pt>
                <c:pt idx="10">
                  <c:v>2800000</c:v>
                </c:pt>
                <c:pt idx="11">
                  <c:v>2600000</c:v>
                </c:pt>
                <c:pt idx="12">
                  <c:v>2450000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2C-493C-8AC9-0168705172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65499647"/>
        <c:axId val="1065499167"/>
      </c:barChart>
      <c:lineChart>
        <c:grouping val="standard"/>
        <c:varyColors val="0"/>
        <c:ser>
          <c:idx val="0"/>
          <c:order val="0"/>
          <c:tx>
            <c:strRef>
              <c:f>'Weekly Conversions'!$B$1</c:f>
              <c:strCache>
                <c:ptCount val="1"/>
                <c:pt idx="0">
                  <c:v>Actual Conversions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'Weekly Conversions'!$A$2:$A$14</c:f>
              <c:numCache>
                <c:formatCode>General</c:formatCode>
                <c:ptCount val="13"/>
                <c:pt idx="0">
                  <c:v>33</c:v>
                </c:pt>
                <c:pt idx="1">
                  <c:v>34</c:v>
                </c:pt>
                <c:pt idx="2">
                  <c:v>35</c:v>
                </c:pt>
                <c:pt idx="3">
                  <c:v>36</c:v>
                </c:pt>
                <c:pt idx="4">
                  <c:v>37</c:v>
                </c:pt>
                <c:pt idx="5">
                  <c:v>38</c:v>
                </c:pt>
                <c:pt idx="6">
                  <c:v>39</c:v>
                </c:pt>
                <c:pt idx="7">
                  <c:v>40</c:v>
                </c:pt>
                <c:pt idx="8">
                  <c:v>41</c:v>
                </c:pt>
                <c:pt idx="9">
                  <c:v>42</c:v>
                </c:pt>
                <c:pt idx="10">
                  <c:v>43</c:v>
                </c:pt>
                <c:pt idx="11">
                  <c:v>44</c:v>
                </c:pt>
                <c:pt idx="12">
                  <c:v>45</c:v>
                </c:pt>
              </c:numCache>
            </c:numRef>
          </c:cat>
          <c:val>
            <c:numRef>
              <c:f>'Weekly Conversions'!$B$2:$B$14</c:f>
              <c:numCache>
                <c:formatCode>General</c:formatCode>
                <c:ptCount val="13"/>
                <c:pt idx="0">
                  <c:v>2450</c:v>
                </c:pt>
                <c:pt idx="1">
                  <c:v>2600</c:v>
                </c:pt>
                <c:pt idx="2">
                  <c:v>2620</c:v>
                </c:pt>
                <c:pt idx="3">
                  <c:v>2720</c:v>
                </c:pt>
                <c:pt idx="4">
                  <c:v>2470</c:v>
                </c:pt>
                <c:pt idx="5">
                  <c:v>1900</c:v>
                </c:pt>
                <c:pt idx="6">
                  <c:v>2000</c:v>
                </c:pt>
                <c:pt idx="7">
                  <c:v>1920</c:v>
                </c:pt>
                <c:pt idx="8">
                  <c:v>2050</c:v>
                </c:pt>
                <c:pt idx="9">
                  <c:v>1880</c:v>
                </c:pt>
                <c:pt idx="10">
                  <c:v>1720</c:v>
                </c:pt>
                <c:pt idx="11">
                  <c:v>1600</c:v>
                </c:pt>
                <c:pt idx="12">
                  <c:v>1600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2C-493C-8AC9-016870517293}"/>
            </c:ext>
          </c:extLst>
        </c:ser>
        <c:ser>
          <c:idx val="1"/>
          <c:order val="1"/>
          <c:tx>
            <c:strRef>
              <c:f>'Weekly Conversions'!$C$1</c:f>
              <c:strCache>
                <c:ptCount val="1"/>
                <c:pt idx="0">
                  <c:v>Predicted Conversions</c:v>
                </c:pt>
              </c:strCache>
            </c:strRef>
          </c:tx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cat>
            <c:numRef>
              <c:f>'Weekly Conversions'!$A$2:$A$14</c:f>
              <c:numCache>
                <c:formatCode>General</c:formatCode>
                <c:ptCount val="13"/>
                <c:pt idx="0">
                  <c:v>33</c:v>
                </c:pt>
                <c:pt idx="1">
                  <c:v>34</c:v>
                </c:pt>
                <c:pt idx="2">
                  <c:v>35</c:v>
                </c:pt>
                <c:pt idx="3">
                  <c:v>36</c:v>
                </c:pt>
                <c:pt idx="4">
                  <c:v>37</c:v>
                </c:pt>
                <c:pt idx="5">
                  <c:v>38</c:v>
                </c:pt>
                <c:pt idx="6">
                  <c:v>39</c:v>
                </c:pt>
                <c:pt idx="7">
                  <c:v>40</c:v>
                </c:pt>
                <c:pt idx="8">
                  <c:v>41</c:v>
                </c:pt>
                <c:pt idx="9">
                  <c:v>42</c:v>
                </c:pt>
                <c:pt idx="10">
                  <c:v>43</c:v>
                </c:pt>
                <c:pt idx="11">
                  <c:v>44</c:v>
                </c:pt>
                <c:pt idx="12">
                  <c:v>45</c:v>
                </c:pt>
              </c:numCache>
            </c:numRef>
          </c:cat>
          <c:val>
            <c:numRef>
              <c:f>'Weekly Conversions'!$C$2:$C$14</c:f>
              <c:numCache>
                <c:formatCode>General</c:formatCode>
                <c:ptCount val="13"/>
                <c:pt idx="0">
                  <c:v>2270</c:v>
                </c:pt>
                <c:pt idx="1">
                  <c:v>2270</c:v>
                </c:pt>
                <c:pt idx="2">
                  <c:v>2260</c:v>
                </c:pt>
                <c:pt idx="3">
                  <c:v>2260</c:v>
                </c:pt>
                <c:pt idx="4">
                  <c:v>2220</c:v>
                </c:pt>
                <c:pt idx="5">
                  <c:v>1880</c:v>
                </c:pt>
                <c:pt idx="6">
                  <c:v>2050</c:v>
                </c:pt>
                <c:pt idx="7">
                  <c:v>1730</c:v>
                </c:pt>
                <c:pt idx="8">
                  <c:v>2060</c:v>
                </c:pt>
                <c:pt idx="9">
                  <c:v>2050</c:v>
                </c:pt>
                <c:pt idx="10">
                  <c:v>2180</c:v>
                </c:pt>
                <c:pt idx="11">
                  <c:v>2150</c:v>
                </c:pt>
                <c:pt idx="12">
                  <c:v>2160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2C-493C-8AC9-0168705172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5471807"/>
        <c:axId val="1065472287"/>
      </c:lineChart>
      <c:catAx>
        <c:axId val="10654718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dirty="0">
                    <a:solidFill>
                      <a:schemeClr val="tx1"/>
                    </a:solidFill>
                  </a:rPr>
                  <a:t>Week (2025)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5472287"/>
        <c:crosses val="autoZero"/>
        <c:auto val="1"/>
        <c:lblAlgn val="ctr"/>
        <c:lblOffset val="100"/>
        <c:noMultiLvlLbl val="0"/>
      </c:catAx>
      <c:valAx>
        <c:axId val="1065472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dirty="0">
                    <a:solidFill>
                      <a:schemeClr val="tx1"/>
                    </a:solidFill>
                  </a:rPr>
                  <a:t>Number</a:t>
                </a:r>
                <a:r>
                  <a:rPr lang="en-US" sz="1600" baseline="0" dirty="0">
                    <a:solidFill>
                      <a:schemeClr val="tx1"/>
                    </a:solidFill>
                  </a:rPr>
                  <a:t> of Conversions</a:t>
                </a:r>
                <a:endParaRPr lang="en-US" sz="1600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5471807"/>
        <c:crosses val="autoZero"/>
        <c:crossBetween val="between"/>
      </c:valAx>
      <c:valAx>
        <c:axId val="1065499167"/>
        <c:scaling>
          <c:orientation val="minMax"/>
          <c:max val="35000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dirty="0">
                    <a:solidFill>
                      <a:schemeClr val="tx1"/>
                    </a:solidFill>
                  </a:rPr>
                  <a:t>Total Weekly</a:t>
                </a:r>
                <a:r>
                  <a:rPr lang="en-US" sz="1600" baseline="0" dirty="0">
                    <a:solidFill>
                      <a:schemeClr val="tx1"/>
                    </a:solidFill>
                  </a:rPr>
                  <a:t> Impressions </a:t>
                </a:r>
                <a:endParaRPr lang="en-US" sz="1600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5499647"/>
        <c:crosses val="max"/>
        <c:crossBetween val="between"/>
        <c:dispUnits>
          <c:builtInUnit val="hundred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catAx>
        <c:axId val="1065499647"/>
        <c:scaling>
          <c:orientation val="minMax"/>
        </c:scaling>
        <c:delete val="1"/>
        <c:axPos val="b"/>
        <c:majorTickMark val="out"/>
        <c:minorTickMark val="none"/>
        <c:tickLblPos val="nextTo"/>
        <c:crossAx val="106549916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Percent of Records by Classification Journey, 2025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Records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9AC-4AFA-BE77-D975FF702D3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9AC-4AFA-BE77-D975FF702D3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9AC-4AFA-BE77-D975FF702D3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9AC-4AFA-BE77-D975FF702D3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9AC-4AFA-BE77-D975FF702D31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9AC-4AFA-BE77-D975FF702D3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Always 1</c:v>
                </c:pt>
                <c:pt idx="1">
                  <c:v>Always 2</c:v>
                </c:pt>
                <c:pt idx="2">
                  <c:v>1 --&gt; 2</c:v>
                </c:pt>
                <c:pt idx="3">
                  <c:v>2 --&gt; 1</c:v>
                </c:pt>
                <c:pt idx="4">
                  <c:v>1 --&gt; 2 --&gt; 1</c:v>
                </c:pt>
                <c:pt idx="5">
                  <c:v>2 --&gt; 1 --&gt; 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79.900000000000006</c:v>
                </c:pt>
                <c:pt idx="1">
                  <c:v>0.56000000000000005</c:v>
                </c:pt>
                <c:pt idx="2">
                  <c:v>8.4</c:v>
                </c:pt>
                <c:pt idx="3">
                  <c:v>4.9000000000000004</c:v>
                </c:pt>
                <c:pt idx="4">
                  <c:v>5.0999999999999996</c:v>
                </c:pt>
                <c:pt idx="5">
                  <c:v>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CD-426E-BEE7-3C65904A45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solidFill>
                  <a:schemeClr val="tx1"/>
                </a:solidFill>
              </a:rPr>
              <a:t>Leads, Records, and Conversions by Income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Leads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0-50K</c:v>
                </c:pt>
                <c:pt idx="1">
                  <c:v>50-75K</c:v>
                </c:pt>
                <c:pt idx="2">
                  <c:v>75K-99K</c:v>
                </c:pt>
                <c:pt idx="3">
                  <c:v>100K-125K</c:v>
                </c:pt>
                <c:pt idx="4">
                  <c:v>125K+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534693</c:v>
                </c:pt>
                <c:pt idx="1">
                  <c:v>903091</c:v>
                </c:pt>
                <c:pt idx="2">
                  <c:v>930683</c:v>
                </c:pt>
                <c:pt idx="3">
                  <c:v>621562</c:v>
                </c:pt>
                <c:pt idx="4">
                  <c:v>816613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53-4926-9D2D-2875AB78EC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Record Count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0-50K</c:v>
                </c:pt>
                <c:pt idx="1">
                  <c:v>50-75K</c:v>
                </c:pt>
                <c:pt idx="2">
                  <c:v>75K-99K</c:v>
                </c:pt>
                <c:pt idx="3">
                  <c:v>100K-125K</c:v>
                </c:pt>
                <c:pt idx="4">
                  <c:v>125K+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4584112</c:v>
                </c:pt>
                <c:pt idx="1">
                  <c:v>2381080</c:v>
                </c:pt>
                <c:pt idx="2">
                  <c:v>1884532</c:v>
                </c:pt>
                <c:pt idx="3">
                  <c:v>1157728</c:v>
                </c:pt>
                <c:pt idx="4">
                  <c:v>3635320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53-4926-9D2D-2875AB78EC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984623"/>
        <c:axId val="3983663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Conversion Rate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0-50K</c:v>
                </c:pt>
                <c:pt idx="1">
                  <c:v>50-75K</c:v>
                </c:pt>
                <c:pt idx="2">
                  <c:v>75K-99K</c:v>
                </c:pt>
                <c:pt idx="3">
                  <c:v>100K-125K</c:v>
                </c:pt>
                <c:pt idx="4">
                  <c:v>125K+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0.21759999999999999</c:v>
                </c:pt>
                <c:pt idx="1">
                  <c:v>0.1822</c:v>
                </c:pt>
                <c:pt idx="2">
                  <c:v>0.16350000000000001</c:v>
                </c:pt>
                <c:pt idx="3">
                  <c:v>0.16520000000000001</c:v>
                </c:pt>
                <c:pt idx="4">
                  <c:v>0.15909999999999999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853-4926-9D2D-2875AB78EC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2110127"/>
        <c:axId val="112112047"/>
      </c:lineChart>
      <c:catAx>
        <c:axId val="39846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Income Group ($ Annually)</a:t>
                </a:r>
              </a:p>
            </c:rich>
          </c:tx>
          <c:layout>
            <c:manualLayout>
              <c:xMode val="edge"/>
              <c:yMode val="edge"/>
              <c:x val="0.34381754639817391"/>
              <c:y val="0.8969544246192584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83663"/>
        <c:crosses val="autoZero"/>
        <c:auto val="1"/>
        <c:lblAlgn val="ctr"/>
        <c:lblOffset val="100"/>
        <c:noMultiLvlLbl val="0"/>
      </c:catAx>
      <c:valAx>
        <c:axId val="3983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Entry 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84623"/>
        <c:crosses val="autoZero"/>
        <c:crossBetween val="between"/>
      </c:valAx>
      <c:valAx>
        <c:axId val="11211204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Conversion</a:t>
                </a:r>
                <a:r>
                  <a:rPr lang="en-US" baseline="0" dirty="0">
                    <a:solidFill>
                      <a:schemeClr val="tx1"/>
                    </a:solidFill>
                  </a:rPr>
                  <a:t> Rate (%)</a:t>
                </a:r>
                <a:endParaRPr lang="en-US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10127"/>
        <c:crosses val="max"/>
        <c:crossBetween val="between"/>
      </c:valAx>
      <c:catAx>
        <c:axId val="11211012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211204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chemeClr val="tx1"/>
                </a:solidFill>
              </a:rPr>
              <a:t>Records, Conversions by </a:t>
            </a:r>
          </a:p>
          <a:p>
            <a:pPr>
              <a:defRPr sz="1400">
                <a:solidFill>
                  <a:schemeClr val="tx1"/>
                </a:solidFill>
              </a:defRPr>
            </a:pPr>
            <a:r>
              <a:rPr lang="en-US" sz="1400" dirty="0">
                <a:solidFill>
                  <a:schemeClr val="tx1"/>
                </a:solidFill>
              </a:rPr>
              <a:t>Income Data Presence</a:t>
            </a:r>
          </a:p>
        </c:rich>
      </c:tx>
      <c:layout>
        <c:manualLayout>
          <c:xMode val="edge"/>
          <c:yMode val="edge"/>
          <c:x val="0.20941666666666667"/>
          <c:y val="1.56248599430791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Has Income Data</c:v>
                </c:pt>
                <c:pt idx="1">
                  <c:v>No Income Data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13642772</c:v>
                </c:pt>
                <c:pt idx="1">
                  <c:v>42688256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B9-4DA0-9546-90A5A9EFF4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396624559"/>
        <c:axId val="13966149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Conversion Rate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Has Income Data</c:v>
                </c:pt>
                <c:pt idx="1">
                  <c:v>No Income Data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0.18390000000000001</c:v>
                </c:pt>
                <c:pt idx="1">
                  <c:v>0.19750000000000001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8B9-4DA0-9546-90A5A9EFF4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175727"/>
        <c:axId val="111173327"/>
      </c:lineChart>
      <c:catAx>
        <c:axId val="13966245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Income Data Presence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614959"/>
        <c:crosses val="autoZero"/>
        <c:auto val="1"/>
        <c:lblAlgn val="ctr"/>
        <c:lblOffset val="100"/>
        <c:noMultiLvlLbl val="0"/>
      </c:catAx>
      <c:valAx>
        <c:axId val="1396614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Record 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624559"/>
        <c:crosses val="autoZero"/>
        <c:crossBetween val="between"/>
      </c:valAx>
      <c:valAx>
        <c:axId val="11117332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Conversion Rate</a:t>
                </a:r>
                <a:r>
                  <a:rPr lang="en-US" baseline="0" dirty="0">
                    <a:solidFill>
                      <a:schemeClr val="tx1"/>
                    </a:solidFill>
                  </a:rPr>
                  <a:t> (%)</a:t>
                </a:r>
                <a:endParaRPr lang="en-US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175727"/>
        <c:crosses val="max"/>
        <c:crossBetween val="between"/>
      </c:valAx>
      <c:catAx>
        <c:axId val="11117572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11733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Leads, Records, and Conversions by 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Leads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24 or Younger</c:v>
                </c:pt>
                <c:pt idx="1">
                  <c:v>25-39</c:v>
                </c:pt>
                <c:pt idx="2">
                  <c:v>40-54</c:v>
                </c:pt>
                <c:pt idx="3">
                  <c:v>55+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584668</c:v>
                </c:pt>
                <c:pt idx="1">
                  <c:v>1817681</c:v>
                </c:pt>
                <c:pt idx="2">
                  <c:v>1344789</c:v>
                </c:pt>
                <c:pt idx="3">
                  <c:v>797585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2F-4D23-B3E0-CC26478625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Record Count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24 or Younger</c:v>
                </c:pt>
                <c:pt idx="1">
                  <c:v>25-39</c:v>
                </c:pt>
                <c:pt idx="2">
                  <c:v>40-54</c:v>
                </c:pt>
                <c:pt idx="3">
                  <c:v>55+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568100</c:v>
                </c:pt>
                <c:pt idx="1">
                  <c:v>3089528</c:v>
                </c:pt>
                <c:pt idx="2">
                  <c:v>3076528</c:v>
                </c:pt>
                <c:pt idx="3">
                  <c:v>6908616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2F-4D23-B3E0-CC2647862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984623"/>
        <c:axId val="3983663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Conversion Rate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24 or Younger</c:v>
                </c:pt>
                <c:pt idx="1">
                  <c:v>25-39</c:v>
                </c:pt>
                <c:pt idx="2">
                  <c:v>40-54</c:v>
                </c:pt>
                <c:pt idx="3">
                  <c:v>55+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0.18060000000000001</c:v>
                </c:pt>
                <c:pt idx="1">
                  <c:v>0.18690000000000001</c:v>
                </c:pt>
                <c:pt idx="2">
                  <c:v>0.19389999999999999</c:v>
                </c:pt>
                <c:pt idx="3">
                  <c:v>0.1784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2F-4D23-B3E0-CC2647862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2110127"/>
        <c:axId val="112112047"/>
      </c:lineChart>
      <c:catAx>
        <c:axId val="39846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Age Group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83663"/>
        <c:crosses val="autoZero"/>
        <c:auto val="1"/>
        <c:lblAlgn val="ctr"/>
        <c:lblOffset val="100"/>
        <c:noMultiLvlLbl val="0"/>
      </c:catAx>
      <c:valAx>
        <c:axId val="3983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Entry 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84623"/>
        <c:crosses val="autoZero"/>
        <c:crossBetween val="between"/>
      </c:valAx>
      <c:valAx>
        <c:axId val="11211204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Conversion</a:t>
                </a:r>
                <a:r>
                  <a:rPr lang="en-US" baseline="0" dirty="0">
                    <a:solidFill>
                      <a:schemeClr val="tx1"/>
                    </a:solidFill>
                  </a:rPr>
                  <a:t> Rate (%)</a:t>
                </a:r>
                <a:endParaRPr lang="en-US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10127"/>
        <c:crosses val="max"/>
        <c:crossBetween val="between"/>
      </c:valAx>
      <c:catAx>
        <c:axId val="11211012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211204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chemeClr val="tx1"/>
                </a:solidFill>
              </a:rPr>
              <a:t>Records, Conversions by </a:t>
            </a:r>
          </a:p>
          <a:p>
            <a:pPr>
              <a:defRPr sz="1400">
                <a:solidFill>
                  <a:schemeClr val="tx1"/>
                </a:solidFill>
              </a:defRPr>
            </a:pPr>
            <a:r>
              <a:rPr lang="en-US" sz="1400" dirty="0">
                <a:solidFill>
                  <a:schemeClr val="tx1"/>
                </a:solidFill>
              </a:rPr>
              <a:t>Age Data Presence</a:t>
            </a:r>
          </a:p>
        </c:rich>
      </c:tx>
      <c:layout>
        <c:manualLayout>
          <c:xMode val="edge"/>
          <c:yMode val="edge"/>
          <c:x val="0.20941666666666667"/>
          <c:y val="1.56248599430791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Has Age Data</c:v>
                </c:pt>
                <c:pt idx="1">
                  <c:v>No Age Data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13642772</c:v>
                </c:pt>
                <c:pt idx="1">
                  <c:v>42688256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DC-4761-BE30-FC5A61ABCF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396624559"/>
        <c:axId val="13966149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Conversion Rate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Has Age Data</c:v>
                </c:pt>
                <c:pt idx="1">
                  <c:v>No Age Data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0.18390000000000001</c:v>
                </c:pt>
                <c:pt idx="1">
                  <c:v>0.19750000000000001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DC-4761-BE30-FC5A61ABCF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175727"/>
        <c:axId val="111173327"/>
      </c:lineChart>
      <c:catAx>
        <c:axId val="13966245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Age Data Presence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614959"/>
        <c:crosses val="autoZero"/>
        <c:auto val="1"/>
        <c:lblAlgn val="ctr"/>
        <c:lblOffset val="100"/>
        <c:noMultiLvlLbl val="0"/>
      </c:catAx>
      <c:valAx>
        <c:axId val="1396614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Record 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624559"/>
        <c:crosses val="autoZero"/>
        <c:crossBetween val="between"/>
      </c:valAx>
      <c:valAx>
        <c:axId val="11117332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Conversion Rate</a:t>
                </a:r>
                <a:r>
                  <a:rPr lang="en-US" baseline="0" dirty="0">
                    <a:solidFill>
                      <a:schemeClr val="tx1"/>
                    </a:solidFill>
                  </a:rPr>
                  <a:t> (%)</a:t>
                </a:r>
                <a:endParaRPr lang="en-US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175727"/>
        <c:crosses val="max"/>
        <c:crossBetween val="between"/>
      </c:valAx>
      <c:catAx>
        <c:axId val="11117572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11733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D5D0EE-5CF1-4E00-A019-771F72966D1F}" type="doc">
      <dgm:prSet loTypeId="urn:microsoft.com/office/officeart/2024/layout/NumberedTitleList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2D342F-8970-40F5-A9A2-0B54D30CF243}">
      <dgm:prSet phldrT="[Text]" phldr="0" custT="1"/>
      <dgm:spPr/>
      <dgm:t>
        <a:bodyPr/>
        <a:lstStyle/>
        <a:p>
          <a:r>
            <a:rPr lang="en-US" sz="2800" dirty="0"/>
            <a:t>What is CIIM? </a:t>
          </a:r>
        </a:p>
        <a:p>
          <a:r>
            <a:rPr lang="en-US" sz="2000" dirty="0"/>
            <a:t>Project Scope + Background</a:t>
          </a:r>
        </a:p>
      </dgm:t>
    </dgm:pt>
    <dgm:pt modelId="{3622FDCF-7029-40C7-BE07-A87D0AB94DDC}" type="parTrans" cxnId="{05AABE99-E428-4A14-9BA1-CAD6B26C2D44}">
      <dgm:prSet/>
      <dgm:spPr/>
      <dgm:t>
        <a:bodyPr/>
        <a:lstStyle/>
        <a:p>
          <a:endParaRPr lang="en-US"/>
        </a:p>
      </dgm:t>
    </dgm:pt>
    <dgm:pt modelId="{E7C89888-0A95-4365-8A79-016AD5075F3F}" type="sibTrans" cxnId="{05AABE99-E428-4A14-9BA1-CAD6B26C2D44}">
      <dgm:prSet phldrT="1" phldr="0"/>
      <dgm:spPr/>
      <dgm:t>
        <a:bodyPr/>
        <a:lstStyle/>
        <a:p>
          <a:r>
            <a:t>1</a:t>
          </a:r>
        </a:p>
      </dgm:t>
    </dgm:pt>
    <dgm:pt modelId="{F036A816-D4F3-449D-AA95-DA3438A1EA88}">
      <dgm:prSet phldrT="[Text]" phldr="0" custT="1"/>
      <dgm:spPr/>
      <dgm:t>
        <a:bodyPr/>
        <a:lstStyle/>
        <a:p>
          <a:r>
            <a:rPr lang="en-US" sz="2800" dirty="0"/>
            <a:t>What can we improve?</a:t>
          </a:r>
        </a:p>
        <a:p>
          <a:r>
            <a:rPr lang="en-US" sz="2000" dirty="0"/>
            <a:t>Workflow + Findings</a:t>
          </a:r>
        </a:p>
      </dgm:t>
    </dgm:pt>
    <dgm:pt modelId="{51C829F8-5703-4FF1-B62D-8DC8EE6A4683}" type="parTrans" cxnId="{BB37C047-9400-46DF-AEF6-305C2A9C7959}">
      <dgm:prSet/>
      <dgm:spPr/>
      <dgm:t>
        <a:bodyPr/>
        <a:lstStyle/>
        <a:p>
          <a:endParaRPr lang="en-US"/>
        </a:p>
      </dgm:t>
    </dgm:pt>
    <dgm:pt modelId="{7B40D5ED-5C96-4DC9-AF0D-CD61C6014CCE}" type="sibTrans" cxnId="{BB37C047-9400-46DF-AEF6-305C2A9C7959}">
      <dgm:prSet phldrT="2" phldr="0"/>
      <dgm:spPr/>
      <dgm:t>
        <a:bodyPr/>
        <a:lstStyle/>
        <a:p>
          <a:r>
            <a:t>2</a:t>
          </a:r>
        </a:p>
      </dgm:t>
    </dgm:pt>
    <dgm:pt modelId="{B263B08D-BCCD-4380-A40D-40423D81201D}">
      <dgm:prSet phldrT="[Text]" phldr="0" custT="1"/>
      <dgm:spPr/>
      <dgm:t>
        <a:bodyPr/>
        <a:lstStyle/>
        <a:p>
          <a:r>
            <a:rPr lang="en-US" sz="3200" dirty="0"/>
            <a:t>What comes next? </a:t>
          </a:r>
        </a:p>
        <a:p>
          <a:r>
            <a:rPr lang="en-US" sz="2000" dirty="0"/>
            <a:t>Summary + Recommendations</a:t>
          </a:r>
        </a:p>
      </dgm:t>
    </dgm:pt>
    <dgm:pt modelId="{28462229-56AD-4FDF-88DA-95FA712D7D8E}" type="parTrans" cxnId="{1DF42EC5-5660-4FE2-950E-E41DC2DF1188}">
      <dgm:prSet/>
      <dgm:spPr/>
      <dgm:t>
        <a:bodyPr/>
        <a:lstStyle/>
        <a:p>
          <a:endParaRPr lang="en-US"/>
        </a:p>
      </dgm:t>
    </dgm:pt>
    <dgm:pt modelId="{57F24F57-67E1-4E38-87E7-50EE84F2A6A4}" type="sibTrans" cxnId="{1DF42EC5-5660-4FE2-950E-E41DC2DF1188}">
      <dgm:prSet phldrT="3" phldr="0"/>
      <dgm:spPr/>
      <dgm:t>
        <a:bodyPr/>
        <a:lstStyle/>
        <a:p>
          <a:r>
            <a:t>3</a:t>
          </a:r>
        </a:p>
      </dgm:t>
    </dgm:pt>
    <dgm:pt modelId="{3CAB7FE3-6B7E-4A93-82F1-EA31B1356B86}" type="pres">
      <dgm:prSet presAssocID="{D9D5D0EE-5CF1-4E00-A019-771F72966D1F}" presName="Name0" presStyleCnt="0">
        <dgm:presLayoutVars>
          <dgm:dir/>
          <dgm:animLvl val="lvl"/>
          <dgm:resizeHandles val="exact"/>
        </dgm:presLayoutVars>
      </dgm:prSet>
      <dgm:spPr/>
    </dgm:pt>
    <dgm:pt modelId="{5BD066EF-9009-4F62-984E-4D905E5175D7}" type="pres">
      <dgm:prSet presAssocID="{4F2D342F-8970-40F5-A9A2-0B54D30CF243}" presName="compositeNode" presStyleCnt="0">
        <dgm:presLayoutVars>
          <dgm:bulletEnabled val="1"/>
        </dgm:presLayoutVars>
      </dgm:prSet>
      <dgm:spPr/>
    </dgm:pt>
    <dgm:pt modelId="{06271EBC-4CF3-4DEE-A2F9-0BB36AD2BDF9}" type="pres">
      <dgm:prSet presAssocID="{4F2D342F-8970-40F5-A9A2-0B54D30CF243}" presName="bgRect" presStyleLbl="fgAcc1" presStyleIdx="0" presStyleCnt="3"/>
      <dgm:spPr/>
    </dgm:pt>
    <dgm:pt modelId="{D6827EED-2784-47F8-9D8C-D6FCC2632941}" type="pres">
      <dgm:prSet presAssocID="{E7C89888-0A95-4365-8A79-016AD5075F3F}" presName="sibTransNodeCircle" presStyleLbl="alignNode1" presStyleIdx="0" presStyleCnt="3">
        <dgm:presLayoutVars>
          <dgm:chMax val="0"/>
          <dgm:bulletEnabled/>
        </dgm:presLayoutVars>
      </dgm:prSet>
      <dgm:spPr/>
    </dgm:pt>
    <dgm:pt modelId="{51F22F61-A559-455A-9E9A-6DACCB619180}" type="pres">
      <dgm:prSet presAssocID="{4F2D342F-8970-40F5-A9A2-0B54D30CF243}" presName="nodeText" presStyleLbl="bgAccFollowNode1" presStyleIdx="0" presStyleCnt="0">
        <dgm:presLayoutVars>
          <dgm:bulletEnabled val="1"/>
        </dgm:presLayoutVars>
      </dgm:prSet>
      <dgm:spPr/>
    </dgm:pt>
    <dgm:pt modelId="{35AB1306-D86A-454D-948A-64155C07BD48}" type="pres">
      <dgm:prSet presAssocID="{E7C89888-0A95-4365-8A79-016AD5075F3F}" presName="sibTrans" presStyleCnt="0"/>
      <dgm:spPr/>
    </dgm:pt>
    <dgm:pt modelId="{E67FE067-C0F0-4167-AC73-D4CD371EFC2A}" type="pres">
      <dgm:prSet presAssocID="{F036A816-D4F3-449D-AA95-DA3438A1EA88}" presName="compositeNode" presStyleCnt="0">
        <dgm:presLayoutVars>
          <dgm:bulletEnabled val="1"/>
        </dgm:presLayoutVars>
      </dgm:prSet>
      <dgm:spPr/>
    </dgm:pt>
    <dgm:pt modelId="{1B097358-54F6-4FAC-AF3F-2ABFBA326240}" type="pres">
      <dgm:prSet presAssocID="{F036A816-D4F3-449D-AA95-DA3438A1EA88}" presName="bgRect" presStyleLbl="fgAcc1" presStyleIdx="1" presStyleCnt="3"/>
      <dgm:spPr/>
    </dgm:pt>
    <dgm:pt modelId="{7680C690-BBC0-4E05-BE69-BAE5A6F9F8FC}" type="pres">
      <dgm:prSet presAssocID="{7B40D5ED-5C96-4DC9-AF0D-CD61C6014CCE}" presName="sibTransNodeCircle" presStyleLbl="alignNode1" presStyleIdx="1" presStyleCnt="3">
        <dgm:presLayoutVars>
          <dgm:chMax val="0"/>
          <dgm:bulletEnabled/>
        </dgm:presLayoutVars>
      </dgm:prSet>
      <dgm:spPr/>
    </dgm:pt>
    <dgm:pt modelId="{0A42D0E6-EADC-4A98-AE2E-E656736F1DDD}" type="pres">
      <dgm:prSet presAssocID="{F036A816-D4F3-449D-AA95-DA3438A1EA88}" presName="nodeText" presStyleLbl="bgAccFollowNode1" presStyleIdx="0" presStyleCnt="0">
        <dgm:presLayoutVars>
          <dgm:bulletEnabled val="1"/>
        </dgm:presLayoutVars>
      </dgm:prSet>
      <dgm:spPr/>
    </dgm:pt>
    <dgm:pt modelId="{CDC021D0-803A-47D6-AB24-6752C2A3CF97}" type="pres">
      <dgm:prSet presAssocID="{7B40D5ED-5C96-4DC9-AF0D-CD61C6014CCE}" presName="sibTrans" presStyleCnt="0"/>
      <dgm:spPr/>
    </dgm:pt>
    <dgm:pt modelId="{A1832197-EFDA-4F6C-BB46-D4A6D707EDFA}" type="pres">
      <dgm:prSet presAssocID="{B263B08D-BCCD-4380-A40D-40423D81201D}" presName="compositeNode" presStyleCnt="0">
        <dgm:presLayoutVars>
          <dgm:bulletEnabled val="1"/>
        </dgm:presLayoutVars>
      </dgm:prSet>
      <dgm:spPr/>
    </dgm:pt>
    <dgm:pt modelId="{E79B4C40-A515-4A63-96BD-81FEED899DB2}" type="pres">
      <dgm:prSet presAssocID="{B263B08D-BCCD-4380-A40D-40423D81201D}" presName="bgRect" presStyleLbl="fgAcc1" presStyleIdx="2" presStyleCnt="3" custLinFactNeighborY="-793"/>
      <dgm:spPr/>
    </dgm:pt>
    <dgm:pt modelId="{EFCCC4C3-2AD4-4E2E-A249-7E6864F46F70}" type="pres">
      <dgm:prSet presAssocID="{57F24F57-67E1-4E38-87E7-50EE84F2A6A4}" presName="sibTransNodeCircle" presStyleLbl="alignNode1" presStyleIdx="2" presStyleCnt="3">
        <dgm:presLayoutVars>
          <dgm:chMax val="0"/>
          <dgm:bulletEnabled/>
        </dgm:presLayoutVars>
      </dgm:prSet>
      <dgm:spPr/>
    </dgm:pt>
    <dgm:pt modelId="{06AD1878-2687-41F0-B412-18E3F58C27C6}" type="pres">
      <dgm:prSet presAssocID="{B263B08D-BCCD-4380-A40D-40423D81201D}" presName="nodeText" presStyleLbl="bgAccFollowNode1" presStyleIdx="0" presStyleCnt="0">
        <dgm:presLayoutVars>
          <dgm:bulletEnabled val="1"/>
        </dgm:presLayoutVars>
      </dgm:prSet>
      <dgm:spPr/>
    </dgm:pt>
  </dgm:ptLst>
  <dgm:cxnLst>
    <dgm:cxn modelId="{7AFE4501-4461-4D45-9486-7DDB855842DB}" type="presOf" srcId="{4F2D342F-8970-40F5-A9A2-0B54D30CF243}" destId="{51F22F61-A559-455A-9E9A-6DACCB619180}" srcOrd="1" destOrd="0" presId="urn:microsoft.com/office/officeart/2024/layout/NumberedTitleList#1"/>
    <dgm:cxn modelId="{B5F9CE0B-E7D6-4DF0-8A5F-A77C7AC28298}" type="presOf" srcId="{D9D5D0EE-5CF1-4E00-A019-771F72966D1F}" destId="{3CAB7FE3-6B7E-4A93-82F1-EA31B1356B86}" srcOrd="0" destOrd="0" presId="urn:microsoft.com/office/officeart/2024/layout/NumberedTitleList#1"/>
    <dgm:cxn modelId="{89311739-4757-47CB-A5E7-22921C1B1595}" type="presOf" srcId="{F036A816-D4F3-449D-AA95-DA3438A1EA88}" destId="{0A42D0E6-EADC-4A98-AE2E-E656736F1DDD}" srcOrd="1" destOrd="0" presId="urn:microsoft.com/office/officeart/2024/layout/NumberedTitleList#1"/>
    <dgm:cxn modelId="{C4520263-13A0-4505-BAD2-C97604E8B7B1}" type="presOf" srcId="{7B40D5ED-5C96-4DC9-AF0D-CD61C6014CCE}" destId="{7680C690-BBC0-4E05-BE69-BAE5A6F9F8FC}" srcOrd="0" destOrd="0" presId="urn:microsoft.com/office/officeart/2024/layout/NumberedTitleList#1"/>
    <dgm:cxn modelId="{BB37C047-9400-46DF-AEF6-305C2A9C7959}" srcId="{D9D5D0EE-5CF1-4E00-A019-771F72966D1F}" destId="{F036A816-D4F3-449D-AA95-DA3438A1EA88}" srcOrd="1" destOrd="0" parTransId="{51C829F8-5703-4FF1-B62D-8DC8EE6A4683}" sibTransId="{7B40D5ED-5C96-4DC9-AF0D-CD61C6014CCE}"/>
    <dgm:cxn modelId="{02820159-256A-458E-9769-2BA9E6232E55}" type="presOf" srcId="{E7C89888-0A95-4365-8A79-016AD5075F3F}" destId="{D6827EED-2784-47F8-9D8C-D6FCC2632941}" srcOrd="0" destOrd="0" presId="urn:microsoft.com/office/officeart/2024/layout/NumberedTitleList#1"/>
    <dgm:cxn modelId="{A72E587D-492D-4677-B80B-5E815EA83913}" type="presOf" srcId="{4F2D342F-8970-40F5-A9A2-0B54D30CF243}" destId="{06271EBC-4CF3-4DEE-A2F9-0BB36AD2BDF9}" srcOrd="0" destOrd="0" presId="urn:microsoft.com/office/officeart/2024/layout/NumberedTitleList#1"/>
    <dgm:cxn modelId="{05AABE99-E428-4A14-9BA1-CAD6B26C2D44}" srcId="{D9D5D0EE-5CF1-4E00-A019-771F72966D1F}" destId="{4F2D342F-8970-40F5-A9A2-0B54D30CF243}" srcOrd="0" destOrd="0" parTransId="{3622FDCF-7029-40C7-BE07-A87D0AB94DDC}" sibTransId="{E7C89888-0A95-4365-8A79-016AD5075F3F}"/>
    <dgm:cxn modelId="{687361B1-58DB-4853-90F5-396CA179D0A4}" type="presOf" srcId="{F036A816-D4F3-449D-AA95-DA3438A1EA88}" destId="{1B097358-54F6-4FAC-AF3F-2ABFBA326240}" srcOrd="0" destOrd="0" presId="urn:microsoft.com/office/officeart/2024/layout/NumberedTitleList#1"/>
    <dgm:cxn modelId="{1DF42EC5-5660-4FE2-950E-E41DC2DF1188}" srcId="{D9D5D0EE-5CF1-4E00-A019-771F72966D1F}" destId="{B263B08D-BCCD-4380-A40D-40423D81201D}" srcOrd="2" destOrd="0" parTransId="{28462229-56AD-4FDF-88DA-95FA712D7D8E}" sibTransId="{57F24F57-67E1-4E38-87E7-50EE84F2A6A4}"/>
    <dgm:cxn modelId="{8C7252EC-770E-4525-ADF4-70FB47352292}" type="presOf" srcId="{B263B08D-BCCD-4380-A40D-40423D81201D}" destId="{06AD1878-2687-41F0-B412-18E3F58C27C6}" srcOrd="1" destOrd="0" presId="urn:microsoft.com/office/officeart/2024/layout/NumberedTitleList#1"/>
    <dgm:cxn modelId="{4205E0F1-6C7A-47C0-B760-94C4187E0B67}" type="presOf" srcId="{B263B08D-BCCD-4380-A40D-40423D81201D}" destId="{E79B4C40-A515-4A63-96BD-81FEED899DB2}" srcOrd="0" destOrd="0" presId="urn:microsoft.com/office/officeart/2024/layout/NumberedTitleList#1"/>
    <dgm:cxn modelId="{DB36EDF8-3482-4F8D-B4D0-2AB808CC9575}" type="presOf" srcId="{57F24F57-67E1-4E38-87E7-50EE84F2A6A4}" destId="{EFCCC4C3-2AD4-4E2E-A249-7E6864F46F70}" srcOrd="0" destOrd="0" presId="urn:microsoft.com/office/officeart/2024/layout/NumberedTitleList#1"/>
    <dgm:cxn modelId="{9F1E976E-E8D5-4BAA-A227-0DA8C1369CC4}" type="presParOf" srcId="{3CAB7FE3-6B7E-4A93-82F1-EA31B1356B86}" destId="{5BD066EF-9009-4F62-984E-4D905E5175D7}" srcOrd="0" destOrd="0" presId="urn:microsoft.com/office/officeart/2024/layout/NumberedTitleList#1"/>
    <dgm:cxn modelId="{2EFDEC9E-8C38-4657-8174-57917312E232}" type="presParOf" srcId="{5BD066EF-9009-4F62-984E-4D905E5175D7}" destId="{06271EBC-4CF3-4DEE-A2F9-0BB36AD2BDF9}" srcOrd="0" destOrd="0" presId="urn:microsoft.com/office/officeart/2024/layout/NumberedTitleList#1"/>
    <dgm:cxn modelId="{58A5C989-FD9B-4AA4-B4CE-230343E802C9}" type="presParOf" srcId="{5BD066EF-9009-4F62-984E-4D905E5175D7}" destId="{D6827EED-2784-47F8-9D8C-D6FCC2632941}" srcOrd="1" destOrd="0" presId="urn:microsoft.com/office/officeart/2024/layout/NumberedTitleList#1"/>
    <dgm:cxn modelId="{66E004FD-7749-4CEE-BDE3-69FB2D4145FB}" type="presParOf" srcId="{5BD066EF-9009-4F62-984E-4D905E5175D7}" destId="{51F22F61-A559-455A-9E9A-6DACCB619180}" srcOrd="2" destOrd="0" presId="urn:microsoft.com/office/officeart/2024/layout/NumberedTitleList#1"/>
    <dgm:cxn modelId="{28959E73-AAF7-427A-A0C6-FA9E423BDB2B}" type="presParOf" srcId="{3CAB7FE3-6B7E-4A93-82F1-EA31B1356B86}" destId="{35AB1306-D86A-454D-948A-64155C07BD48}" srcOrd="1" destOrd="0" presId="urn:microsoft.com/office/officeart/2024/layout/NumberedTitleList#1"/>
    <dgm:cxn modelId="{DC355E31-2D0C-484F-A90B-7248FAD461AA}" type="presParOf" srcId="{3CAB7FE3-6B7E-4A93-82F1-EA31B1356B86}" destId="{E67FE067-C0F0-4167-AC73-D4CD371EFC2A}" srcOrd="2" destOrd="0" presId="urn:microsoft.com/office/officeart/2024/layout/NumberedTitleList#1"/>
    <dgm:cxn modelId="{297A2ABD-3198-4D15-A478-65B767DEEA73}" type="presParOf" srcId="{E67FE067-C0F0-4167-AC73-D4CD371EFC2A}" destId="{1B097358-54F6-4FAC-AF3F-2ABFBA326240}" srcOrd="0" destOrd="0" presId="urn:microsoft.com/office/officeart/2024/layout/NumberedTitleList#1"/>
    <dgm:cxn modelId="{1CE57627-E9EF-4874-BA0E-80EB9CF37541}" type="presParOf" srcId="{E67FE067-C0F0-4167-AC73-D4CD371EFC2A}" destId="{7680C690-BBC0-4E05-BE69-BAE5A6F9F8FC}" srcOrd="1" destOrd="0" presId="urn:microsoft.com/office/officeart/2024/layout/NumberedTitleList#1"/>
    <dgm:cxn modelId="{4EB7CEA2-25C1-49C7-9135-B4CFF4203E73}" type="presParOf" srcId="{E67FE067-C0F0-4167-AC73-D4CD371EFC2A}" destId="{0A42D0E6-EADC-4A98-AE2E-E656736F1DDD}" srcOrd="2" destOrd="0" presId="urn:microsoft.com/office/officeart/2024/layout/NumberedTitleList#1"/>
    <dgm:cxn modelId="{6992A89B-CC0E-42AC-9004-B27CF0F729C5}" type="presParOf" srcId="{3CAB7FE3-6B7E-4A93-82F1-EA31B1356B86}" destId="{CDC021D0-803A-47D6-AB24-6752C2A3CF97}" srcOrd="3" destOrd="0" presId="urn:microsoft.com/office/officeart/2024/layout/NumberedTitleList#1"/>
    <dgm:cxn modelId="{7FED683A-FCE9-4C83-81A1-BA883458927A}" type="presParOf" srcId="{3CAB7FE3-6B7E-4A93-82F1-EA31B1356B86}" destId="{A1832197-EFDA-4F6C-BB46-D4A6D707EDFA}" srcOrd="4" destOrd="0" presId="urn:microsoft.com/office/officeart/2024/layout/NumberedTitleList#1"/>
    <dgm:cxn modelId="{24D6B79D-E383-48E1-A942-D92227F918FD}" type="presParOf" srcId="{A1832197-EFDA-4F6C-BB46-D4A6D707EDFA}" destId="{E79B4C40-A515-4A63-96BD-81FEED899DB2}" srcOrd="0" destOrd="0" presId="urn:microsoft.com/office/officeart/2024/layout/NumberedTitleList#1"/>
    <dgm:cxn modelId="{6F6CB289-95A7-47E4-90E4-6730F7C9AC12}" type="presParOf" srcId="{A1832197-EFDA-4F6C-BB46-D4A6D707EDFA}" destId="{EFCCC4C3-2AD4-4E2E-A249-7E6864F46F70}" srcOrd="1" destOrd="0" presId="urn:microsoft.com/office/officeart/2024/layout/NumberedTitleList#1"/>
    <dgm:cxn modelId="{EBA9746A-FFA1-4DC6-8B50-230D5C8B9709}" type="presParOf" srcId="{A1832197-EFDA-4F6C-BB46-D4A6D707EDFA}" destId="{06AD1878-2687-41F0-B412-18E3F58C27C6}" srcOrd="2" destOrd="0" presId="urn:microsoft.com/office/officeart/2024/layout/NumberedTitleLis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729E41-0FCA-48FF-ADF9-99B5A3500255}" type="doc">
      <dgm:prSet loTypeId="urn:microsoft.com/office/officeart/2024/layout/NumberedTitleCardList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555B2B-685B-4E70-8D3B-6D33BB7751CA}">
      <dgm:prSet phldrT="[Text]" phldr="0" custT="1"/>
      <dgm:spPr/>
      <dgm:t>
        <a:bodyPr/>
        <a:lstStyle/>
        <a:p>
          <a:r>
            <a:rPr lang="en-US" sz="2500" dirty="0" err="1"/>
            <a:t>Adstock</a:t>
          </a:r>
          <a:endParaRPr lang="en-US" sz="2500" dirty="0"/>
        </a:p>
        <a:p>
          <a:endParaRPr lang="en-US" sz="1800" dirty="0"/>
        </a:p>
      </dgm:t>
    </dgm:pt>
    <dgm:pt modelId="{CB85FE89-2DC5-44C3-AA99-05EC0F9BD05B}" type="parTrans" cxnId="{12CDF8C0-8E36-455A-B611-CEC6FD73D2F2}">
      <dgm:prSet/>
      <dgm:spPr/>
      <dgm:t>
        <a:bodyPr/>
        <a:lstStyle/>
        <a:p>
          <a:endParaRPr lang="en-US"/>
        </a:p>
      </dgm:t>
    </dgm:pt>
    <dgm:pt modelId="{1C8F15FB-8192-443E-9BF6-CA0C5F93C668}" type="sibTrans" cxnId="{12CDF8C0-8E36-455A-B611-CEC6FD73D2F2}">
      <dgm:prSet phldrT="01" phldr="0"/>
      <dgm:spPr/>
      <dgm:t>
        <a:bodyPr/>
        <a:lstStyle/>
        <a:p>
          <a:r>
            <a:t>01</a:t>
          </a:r>
          <a:endParaRPr dirty="0"/>
        </a:p>
      </dgm:t>
    </dgm:pt>
    <dgm:pt modelId="{6F199A23-5969-4C6A-B715-F063DF9E81AB}">
      <dgm:prSet phldrT="[Text]" phldr="0" custT="1"/>
      <dgm:spPr/>
      <dgm:t>
        <a:bodyPr/>
        <a:lstStyle/>
        <a:p>
          <a:r>
            <a:rPr lang="en-US" sz="1800" dirty="0"/>
            <a:t>Volume</a:t>
          </a:r>
        </a:p>
      </dgm:t>
    </dgm:pt>
    <dgm:pt modelId="{B690DC4B-38C4-4437-BFE8-509BFF84DEBF}" type="parTrans" cxnId="{20A924B2-411D-4976-BA60-D77164FDEB64}">
      <dgm:prSet/>
      <dgm:spPr/>
      <dgm:t>
        <a:bodyPr/>
        <a:lstStyle/>
        <a:p>
          <a:endParaRPr lang="en-US"/>
        </a:p>
      </dgm:t>
    </dgm:pt>
    <dgm:pt modelId="{AAABDE90-2099-4098-AED2-FB2BE9D5B045}" type="sibTrans" cxnId="{20A924B2-411D-4976-BA60-D77164FDEB64}">
      <dgm:prSet/>
      <dgm:spPr/>
      <dgm:t>
        <a:bodyPr/>
        <a:lstStyle/>
        <a:p>
          <a:endParaRPr lang="en-US"/>
        </a:p>
      </dgm:t>
    </dgm:pt>
    <dgm:pt modelId="{57AE5EB6-F3C0-4189-8A63-99834FF62D5E}">
      <dgm:prSet phldrT="[Text]" phldr="0" custT="1"/>
      <dgm:spPr/>
      <dgm:t>
        <a:bodyPr/>
        <a:lstStyle/>
        <a:p>
          <a:r>
            <a:rPr lang="en-US" sz="1800" dirty="0"/>
            <a:t>Temporal Patterns</a:t>
          </a:r>
        </a:p>
      </dgm:t>
    </dgm:pt>
    <dgm:pt modelId="{FF43DFC2-9CF7-4263-998F-3B96C1625248}" type="parTrans" cxnId="{3BB02D19-C27C-43BE-AE32-20161A353E26}">
      <dgm:prSet/>
      <dgm:spPr/>
      <dgm:t>
        <a:bodyPr/>
        <a:lstStyle/>
        <a:p>
          <a:endParaRPr lang="en-US"/>
        </a:p>
      </dgm:t>
    </dgm:pt>
    <dgm:pt modelId="{C2795131-8B67-48AF-9A17-9C338507C5B5}" type="sibTrans" cxnId="{3BB02D19-C27C-43BE-AE32-20161A353E26}">
      <dgm:prSet/>
      <dgm:spPr/>
      <dgm:t>
        <a:bodyPr/>
        <a:lstStyle/>
        <a:p>
          <a:endParaRPr lang="en-US"/>
        </a:p>
      </dgm:t>
    </dgm:pt>
    <dgm:pt modelId="{4D8062AF-3CC4-46CA-8D3F-A98E32C83C56}">
      <dgm:prSet phldrT="[Text]" phldr="0" custT="1"/>
      <dgm:spPr/>
      <dgm:t>
        <a:bodyPr/>
        <a:lstStyle/>
        <a:p>
          <a:r>
            <a:rPr lang="en-US" sz="1800" dirty="0"/>
            <a:t>Distribution</a:t>
          </a:r>
        </a:p>
      </dgm:t>
    </dgm:pt>
    <dgm:pt modelId="{BC79CDBC-D234-452E-8B82-B17DD8F64DA3}" type="parTrans" cxnId="{7DB7DA6C-B1FD-4F4E-BF63-BDC07B65F5B5}">
      <dgm:prSet/>
      <dgm:spPr/>
      <dgm:t>
        <a:bodyPr/>
        <a:lstStyle/>
        <a:p>
          <a:endParaRPr lang="en-US"/>
        </a:p>
      </dgm:t>
    </dgm:pt>
    <dgm:pt modelId="{7A6A3AA2-DEB9-44CF-A0CE-B5C614A48FD2}" type="sibTrans" cxnId="{7DB7DA6C-B1FD-4F4E-BF63-BDC07B65F5B5}">
      <dgm:prSet/>
      <dgm:spPr/>
      <dgm:t>
        <a:bodyPr/>
        <a:lstStyle/>
        <a:p>
          <a:endParaRPr lang="en-US"/>
        </a:p>
      </dgm:t>
    </dgm:pt>
    <dgm:pt modelId="{B90F79B5-60A4-483C-892E-04955D95C471}" type="pres">
      <dgm:prSet presAssocID="{EE729E41-0FCA-48FF-ADF9-99B5A3500255}" presName="Name0" presStyleCnt="0">
        <dgm:presLayoutVars>
          <dgm:dir/>
          <dgm:animLvl val="lvl"/>
          <dgm:resizeHandles val="exact"/>
        </dgm:presLayoutVars>
      </dgm:prSet>
      <dgm:spPr/>
    </dgm:pt>
    <dgm:pt modelId="{67DE7AAD-097E-4982-9718-DF329D59BBB7}" type="pres">
      <dgm:prSet presAssocID="{6A555B2B-685B-4E70-8D3B-6D33BB7751CA}" presName="compositeNode" presStyleCnt="0">
        <dgm:presLayoutVars>
          <dgm:bulletEnabled val="1"/>
        </dgm:presLayoutVars>
      </dgm:prSet>
      <dgm:spPr/>
    </dgm:pt>
    <dgm:pt modelId="{526C3620-A9C3-4E62-93E0-8759DEA3F213}" type="pres">
      <dgm:prSet presAssocID="{6A555B2B-685B-4E70-8D3B-6D33BB7751CA}" presName="bgRect" presStyleLbl="fgAcc1" presStyleIdx="0" presStyleCnt="1" custLinFactNeighborX="-8" custLinFactNeighborY="-808"/>
      <dgm:spPr/>
    </dgm:pt>
    <dgm:pt modelId="{2946B7F4-4FE7-4734-A6D9-9D7BC63235C0}" type="pres">
      <dgm:prSet presAssocID="{1C8F15FB-8192-443E-9BF6-CA0C5F93C668}" presName="sibTransNodeRect" presStyleLbl="bgShp" presStyleIdx="0" presStyleCnt="0" custLinFactNeighborX="-8" custLinFactNeighborY="1613">
        <dgm:presLayoutVars>
          <dgm:chMax val="0"/>
          <dgm:bulletEnabled/>
        </dgm:presLayoutVars>
      </dgm:prSet>
      <dgm:spPr/>
    </dgm:pt>
    <dgm:pt modelId="{94452B22-70C2-4A28-BC63-ED321C7092A6}" type="pres">
      <dgm:prSet presAssocID="{6A555B2B-685B-4E70-8D3B-6D33BB7751CA}" presName="nodeRect" presStyleLbl="parChTrans1D1" presStyleIdx="0" presStyleCnt="0">
        <dgm:presLayoutVars>
          <dgm:bulletEnabled val="1"/>
        </dgm:presLayoutVars>
      </dgm:prSet>
      <dgm:spPr/>
    </dgm:pt>
  </dgm:ptLst>
  <dgm:cxnLst>
    <dgm:cxn modelId="{3BB02D19-C27C-43BE-AE32-20161A353E26}" srcId="{6A555B2B-685B-4E70-8D3B-6D33BB7751CA}" destId="{57AE5EB6-F3C0-4189-8A63-99834FF62D5E}" srcOrd="1" destOrd="0" parTransId="{FF43DFC2-9CF7-4263-998F-3B96C1625248}" sibTransId="{C2795131-8B67-48AF-9A17-9C338507C5B5}"/>
    <dgm:cxn modelId="{8BF43225-708E-43AA-90F3-DFDA8CD517F2}" type="presOf" srcId="{6A555B2B-685B-4E70-8D3B-6D33BB7751CA}" destId="{526C3620-A9C3-4E62-93E0-8759DEA3F213}" srcOrd="0" destOrd="0" presId="urn:microsoft.com/office/officeart/2024/layout/NumberedTitleCardList#1"/>
    <dgm:cxn modelId="{52D75162-9537-42A6-A233-13121517DE81}" type="presOf" srcId="{EE729E41-0FCA-48FF-ADF9-99B5A3500255}" destId="{B90F79B5-60A4-483C-892E-04955D95C471}" srcOrd="0" destOrd="0" presId="urn:microsoft.com/office/officeart/2024/layout/NumberedTitleCardList#1"/>
    <dgm:cxn modelId="{7DB7DA6C-B1FD-4F4E-BF63-BDC07B65F5B5}" srcId="{6A555B2B-685B-4E70-8D3B-6D33BB7751CA}" destId="{4D8062AF-3CC4-46CA-8D3F-A98E32C83C56}" srcOrd="2" destOrd="0" parTransId="{BC79CDBC-D234-452E-8B82-B17DD8F64DA3}" sibTransId="{7A6A3AA2-DEB9-44CF-A0CE-B5C614A48FD2}"/>
    <dgm:cxn modelId="{90F33E4F-425A-4503-A765-1BB272DEF5FB}" type="presOf" srcId="{4D8062AF-3CC4-46CA-8D3F-A98E32C83C56}" destId="{94452B22-70C2-4A28-BC63-ED321C7092A6}" srcOrd="0" destOrd="3" presId="urn:microsoft.com/office/officeart/2024/layout/NumberedTitleCardList#1"/>
    <dgm:cxn modelId="{42B8B287-3BA5-4904-A674-B49F8B515A39}" type="presOf" srcId="{6F199A23-5969-4C6A-B715-F063DF9E81AB}" destId="{94452B22-70C2-4A28-BC63-ED321C7092A6}" srcOrd="0" destOrd="1" presId="urn:microsoft.com/office/officeart/2024/layout/NumberedTitleCardList#1"/>
    <dgm:cxn modelId="{D6E7F98A-1199-40F7-8D5C-CAD1AA20F193}" type="presOf" srcId="{1C8F15FB-8192-443E-9BF6-CA0C5F93C668}" destId="{2946B7F4-4FE7-4734-A6D9-9D7BC63235C0}" srcOrd="0" destOrd="0" presId="urn:microsoft.com/office/officeart/2024/layout/NumberedTitleCardList#1"/>
    <dgm:cxn modelId="{799EB9A0-AF82-41B8-A9B1-5A0473F9C0FE}" type="presOf" srcId="{57AE5EB6-F3C0-4189-8A63-99834FF62D5E}" destId="{94452B22-70C2-4A28-BC63-ED321C7092A6}" srcOrd="0" destOrd="2" presId="urn:microsoft.com/office/officeart/2024/layout/NumberedTitleCardList#1"/>
    <dgm:cxn modelId="{20A924B2-411D-4976-BA60-D77164FDEB64}" srcId="{6A555B2B-685B-4E70-8D3B-6D33BB7751CA}" destId="{6F199A23-5969-4C6A-B715-F063DF9E81AB}" srcOrd="0" destOrd="0" parTransId="{B690DC4B-38C4-4437-BFE8-509BFF84DEBF}" sibTransId="{AAABDE90-2099-4098-AED2-FB2BE9D5B045}"/>
    <dgm:cxn modelId="{12CDF8C0-8E36-455A-B611-CEC6FD73D2F2}" srcId="{EE729E41-0FCA-48FF-ADF9-99B5A3500255}" destId="{6A555B2B-685B-4E70-8D3B-6D33BB7751CA}" srcOrd="0" destOrd="0" parTransId="{CB85FE89-2DC5-44C3-AA99-05EC0F9BD05B}" sibTransId="{1C8F15FB-8192-443E-9BF6-CA0C5F93C668}"/>
    <dgm:cxn modelId="{4D2FDCDE-C30C-426F-B598-F52E43113CD5}" type="presOf" srcId="{6A555B2B-685B-4E70-8D3B-6D33BB7751CA}" destId="{94452B22-70C2-4A28-BC63-ED321C7092A6}" srcOrd="1" destOrd="0" presId="urn:microsoft.com/office/officeart/2024/layout/NumberedTitleCardList#1"/>
    <dgm:cxn modelId="{EF6205DB-7C4A-41C1-9E0A-4801448D42D1}" type="presParOf" srcId="{B90F79B5-60A4-483C-892E-04955D95C471}" destId="{67DE7AAD-097E-4982-9718-DF329D59BBB7}" srcOrd="0" destOrd="0" presId="urn:microsoft.com/office/officeart/2024/layout/NumberedTitleCardList#1"/>
    <dgm:cxn modelId="{24F3C847-9B4C-441F-837C-E03B1FB549E4}" type="presParOf" srcId="{67DE7AAD-097E-4982-9718-DF329D59BBB7}" destId="{526C3620-A9C3-4E62-93E0-8759DEA3F213}" srcOrd="0" destOrd="0" presId="urn:microsoft.com/office/officeart/2024/layout/NumberedTitleCardList#1"/>
    <dgm:cxn modelId="{88B68661-EDD0-47DD-AB56-A6C90A03B364}" type="presParOf" srcId="{67DE7AAD-097E-4982-9718-DF329D59BBB7}" destId="{2946B7F4-4FE7-4734-A6D9-9D7BC63235C0}" srcOrd="1" destOrd="0" presId="urn:microsoft.com/office/officeart/2024/layout/NumberedTitleCardList#1"/>
    <dgm:cxn modelId="{F4B18911-46A2-4C15-8625-2EB70E44C890}" type="presParOf" srcId="{67DE7AAD-097E-4982-9718-DF329D59BBB7}" destId="{94452B22-70C2-4A28-BC63-ED321C7092A6}" srcOrd="2" destOrd="0" presId="urn:microsoft.com/office/officeart/2024/layout/NumberedTitleCardLis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013C96-D12B-4758-8B30-63F2677CE6B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B7D788-6D86-427F-B2B1-3BEF5A46FE3D}">
      <dgm:prSet phldrT="[Text]" phldr="0"/>
      <dgm:spPr/>
      <dgm:t>
        <a:bodyPr/>
        <a:lstStyle/>
        <a:p>
          <a:r>
            <a:rPr lang="en-US" dirty="0"/>
            <a:t>Build 19 candidate features</a:t>
          </a:r>
        </a:p>
      </dgm:t>
    </dgm:pt>
    <dgm:pt modelId="{5FD464B9-111B-4C5A-9766-4EA09E53EFD8}" type="parTrans" cxnId="{739816F5-D542-4401-98D5-C1C8A1D03FCE}">
      <dgm:prSet/>
      <dgm:spPr/>
      <dgm:t>
        <a:bodyPr/>
        <a:lstStyle/>
        <a:p>
          <a:endParaRPr lang="en-US"/>
        </a:p>
      </dgm:t>
    </dgm:pt>
    <dgm:pt modelId="{9F0264B3-A22A-4B25-B2F5-83B149B59EE7}" type="sibTrans" cxnId="{739816F5-D542-4401-98D5-C1C8A1D03FCE}">
      <dgm:prSet/>
      <dgm:spPr/>
      <dgm:t>
        <a:bodyPr/>
        <a:lstStyle/>
        <a:p>
          <a:endParaRPr lang="en-US"/>
        </a:p>
      </dgm:t>
    </dgm:pt>
    <dgm:pt modelId="{A35826BF-035E-4171-B835-43E7D313972E}">
      <dgm:prSet phldrT="[Text]" phldr="0"/>
      <dgm:spPr/>
      <dgm:t>
        <a:bodyPr/>
        <a:lstStyle/>
        <a:p>
          <a:r>
            <a:rPr lang="en-US" dirty="0"/>
            <a:t>Check correlation and signal</a:t>
          </a:r>
        </a:p>
      </dgm:t>
    </dgm:pt>
    <dgm:pt modelId="{B55366E4-9470-4636-BACC-53A73DD571AE}" type="parTrans" cxnId="{374732A6-8573-44D6-9BBD-DA1E6B9F2B9F}">
      <dgm:prSet/>
      <dgm:spPr/>
      <dgm:t>
        <a:bodyPr/>
        <a:lstStyle/>
        <a:p>
          <a:endParaRPr lang="en-US"/>
        </a:p>
      </dgm:t>
    </dgm:pt>
    <dgm:pt modelId="{9E9CB3E9-C5E7-4133-9988-9E4E98DA2AB5}" type="sibTrans" cxnId="{374732A6-8573-44D6-9BBD-DA1E6B9F2B9F}">
      <dgm:prSet/>
      <dgm:spPr/>
      <dgm:t>
        <a:bodyPr/>
        <a:lstStyle/>
        <a:p>
          <a:endParaRPr lang="en-US"/>
        </a:p>
      </dgm:t>
    </dgm:pt>
    <dgm:pt modelId="{F47767C8-BAA0-4729-8C23-F2D78F6E44C8}">
      <dgm:prSet phldrT="[Text]" phldr="0"/>
      <dgm:spPr/>
      <dgm:t>
        <a:bodyPr/>
        <a:lstStyle/>
        <a:p>
          <a:r>
            <a:rPr lang="en-US" dirty="0"/>
            <a:t>Run model iterations with approved features</a:t>
          </a:r>
        </a:p>
      </dgm:t>
    </dgm:pt>
    <dgm:pt modelId="{D5772B75-CA07-42EE-9879-07967F2A2EAF}" type="parTrans" cxnId="{5E53FAE9-2CA9-40BB-903B-2239FB18EA5B}">
      <dgm:prSet/>
      <dgm:spPr/>
      <dgm:t>
        <a:bodyPr/>
        <a:lstStyle/>
        <a:p>
          <a:endParaRPr lang="en-US"/>
        </a:p>
      </dgm:t>
    </dgm:pt>
    <dgm:pt modelId="{00AA6953-E49A-4E7B-9825-D57CD9DE3A6E}" type="sibTrans" cxnId="{5E53FAE9-2CA9-40BB-903B-2239FB18EA5B}">
      <dgm:prSet/>
      <dgm:spPr/>
      <dgm:t>
        <a:bodyPr/>
        <a:lstStyle/>
        <a:p>
          <a:endParaRPr lang="en-US"/>
        </a:p>
      </dgm:t>
    </dgm:pt>
    <dgm:pt modelId="{B7CEE759-A991-4BE4-948C-74375FAB13E5}" type="pres">
      <dgm:prSet presAssocID="{99013C96-D12B-4758-8B30-63F2677CE6BF}" presName="Name0" presStyleCnt="0">
        <dgm:presLayoutVars>
          <dgm:dir/>
          <dgm:animLvl val="lvl"/>
          <dgm:resizeHandles val="exact"/>
        </dgm:presLayoutVars>
      </dgm:prSet>
      <dgm:spPr/>
    </dgm:pt>
    <dgm:pt modelId="{B04C6D10-1E46-445C-BC9B-853E6C3C8829}" type="pres">
      <dgm:prSet presAssocID="{4CB7D788-6D86-427F-B2B1-3BEF5A46FE3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0E8B2E53-38DF-4568-B2CA-8E40620E4F34}" type="pres">
      <dgm:prSet presAssocID="{9F0264B3-A22A-4B25-B2F5-83B149B59EE7}" presName="parTxOnlySpace" presStyleCnt="0"/>
      <dgm:spPr/>
    </dgm:pt>
    <dgm:pt modelId="{7D2A6E60-CCBD-4BD6-BE54-E0EFBE108553}" type="pres">
      <dgm:prSet presAssocID="{A35826BF-035E-4171-B835-43E7D313972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DDE4BF6C-7705-4D9D-9C15-97A131E8D0CB}" type="pres">
      <dgm:prSet presAssocID="{9E9CB3E9-C5E7-4133-9988-9E4E98DA2AB5}" presName="parTxOnlySpace" presStyleCnt="0"/>
      <dgm:spPr/>
    </dgm:pt>
    <dgm:pt modelId="{C13D50A8-9FB1-49D0-87CC-9052D66FCF72}" type="pres">
      <dgm:prSet presAssocID="{F47767C8-BAA0-4729-8C23-F2D78F6E44C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DD00A568-1526-40DF-B332-950A559C058E}" type="presOf" srcId="{A35826BF-035E-4171-B835-43E7D313972E}" destId="{7D2A6E60-CCBD-4BD6-BE54-E0EFBE108553}" srcOrd="0" destOrd="0" presId="urn:microsoft.com/office/officeart/2005/8/layout/chevron1"/>
    <dgm:cxn modelId="{9572E14E-6645-4990-84F7-BDC1CEEDFC0F}" type="presOf" srcId="{99013C96-D12B-4758-8B30-63F2677CE6BF}" destId="{B7CEE759-A991-4BE4-948C-74375FAB13E5}" srcOrd="0" destOrd="0" presId="urn:microsoft.com/office/officeart/2005/8/layout/chevron1"/>
    <dgm:cxn modelId="{E0919154-D096-4EDC-8FE9-F139E7B9C764}" type="presOf" srcId="{F47767C8-BAA0-4729-8C23-F2D78F6E44C8}" destId="{C13D50A8-9FB1-49D0-87CC-9052D66FCF72}" srcOrd="0" destOrd="0" presId="urn:microsoft.com/office/officeart/2005/8/layout/chevron1"/>
    <dgm:cxn modelId="{3EBD808A-1F7B-4DFD-A6B0-1F4435E78A2A}" type="presOf" srcId="{4CB7D788-6D86-427F-B2B1-3BEF5A46FE3D}" destId="{B04C6D10-1E46-445C-BC9B-853E6C3C8829}" srcOrd="0" destOrd="0" presId="urn:microsoft.com/office/officeart/2005/8/layout/chevron1"/>
    <dgm:cxn modelId="{374732A6-8573-44D6-9BBD-DA1E6B9F2B9F}" srcId="{99013C96-D12B-4758-8B30-63F2677CE6BF}" destId="{A35826BF-035E-4171-B835-43E7D313972E}" srcOrd="1" destOrd="0" parTransId="{B55366E4-9470-4636-BACC-53A73DD571AE}" sibTransId="{9E9CB3E9-C5E7-4133-9988-9E4E98DA2AB5}"/>
    <dgm:cxn modelId="{5E53FAE9-2CA9-40BB-903B-2239FB18EA5B}" srcId="{99013C96-D12B-4758-8B30-63F2677CE6BF}" destId="{F47767C8-BAA0-4729-8C23-F2D78F6E44C8}" srcOrd="2" destOrd="0" parTransId="{D5772B75-CA07-42EE-9879-07967F2A2EAF}" sibTransId="{00AA6953-E49A-4E7B-9825-D57CD9DE3A6E}"/>
    <dgm:cxn modelId="{739816F5-D542-4401-98D5-C1C8A1D03FCE}" srcId="{99013C96-D12B-4758-8B30-63F2677CE6BF}" destId="{4CB7D788-6D86-427F-B2B1-3BEF5A46FE3D}" srcOrd="0" destOrd="0" parTransId="{5FD464B9-111B-4C5A-9766-4EA09E53EFD8}" sibTransId="{9F0264B3-A22A-4B25-B2F5-83B149B59EE7}"/>
    <dgm:cxn modelId="{6B83F9A6-A90B-47BD-9C5B-9A8DDA401DA8}" type="presParOf" srcId="{B7CEE759-A991-4BE4-948C-74375FAB13E5}" destId="{B04C6D10-1E46-445C-BC9B-853E6C3C8829}" srcOrd="0" destOrd="0" presId="urn:microsoft.com/office/officeart/2005/8/layout/chevron1"/>
    <dgm:cxn modelId="{8972B655-1ED1-40DE-A3B6-2A471501FBA3}" type="presParOf" srcId="{B7CEE759-A991-4BE4-948C-74375FAB13E5}" destId="{0E8B2E53-38DF-4568-B2CA-8E40620E4F34}" srcOrd="1" destOrd="0" presId="urn:microsoft.com/office/officeart/2005/8/layout/chevron1"/>
    <dgm:cxn modelId="{77C07D0F-3852-4616-B61C-49E96E473A94}" type="presParOf" srcId="{B7CEE759-A991-4BE4-948C-74375FAB13E5}" destId="{7D2A6E60-CCBD-4BD6-BE54-E0EFBE108553}" srcOrd="2" destOrd="0" presId="urn:microsoft.com/office/officeart/2005/8/layout/chevron1"/>
    <dgm:cxn modelId="{0B2FE505-A0EA-4919-9D5A-CCBF1AE95855}" type="presParOf" srcId="{B7CEE759-A991-4BE4-948C-74375FAB13E5}" destId="{DDE4BF6C-7705-4D9D-9C15-97A131E8D0CB}" srcOrd="3" destOrd="0" presId="urn:microsoft.com/office/officeart/2005/8/layout/chevron1"/>
    <dgm:cxn modelId="{BDC53A27-CA24-4A3A-B1C5-7DEDF0C2AB7C}" type="presParOf" srcId="{B7CEE759-A991-4BE4-948C-74375FAB13E5}" destId="{C13D50A8-9FB1-49D0-87CC-9052D66FCF72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013C96-D12B-4758-8B30-63F2677CE6B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B7D788-6D86-427F-B2B1-3BEF5A46FE3D}">
      <dgm:prSet phldrT="[Text]" phldr="0"/>
      <dgm:spPr/>
      <dgm:t>
        <a:bodyPr/>
        <a:lstStyle/>
        <a:p>
          <a:r>
            <a:rPr lang="en-US" dirty="0"/>
            <a:t>Segment demographics by aligning with leads</a:t>
          </a:r>
        </a:p>
      </dgm:t>
    </dgm:pt>
    <dgm:pt modelId="{5FD464B9-111B-4C5A-9766-4EA09E53EFD8}" type="parTrans" cxnId="{739816F5-D542-4401-98D5-C1C8A1D03FCE}">
      <dgm:prSet/>
      <dgm:spPr/>
      <dgm:t>
        <a:bodyPr/>
        <a:lstStyle/>
        <a:p>
          <a:endParaRPr lang="en-US"/>
        </a:p>
      </dgm:t>
    </dgm:pt>
    <dgm:pt modelId="{9F0264B3-A22A-4B25-B2F5-83B149B59EE7}" type="sibTrans" cxnId="{739816F5-D542-4401-98D5-C1C8A1D03FCE}">
      <dgm:prSet/>
      <dgm:spPr/>
      <dgm:t>
        <a:bodyPr/>
        <a:lstStyle/>
        <a:p>
          <a:endParaRPr lang="en-US"/>
        </a:p>
      </dgm:t>
    </dgm:pt>
    <dgm:pt modelId="{A35826BF-035E-4171-B835-43E7D313972E}">
      <dgm:prSet phldrT="[Text]" phldr="0"/>
      <dgm:spPr/>
      <dgm:t>
        <a:bodyPr/>
        <a:lstStyle/>
        <a:p>
          <a:r>
            <a:rPr lang="en-US" dirty="0"/>
            <a:t>Check conversion rate by segment</a:t>
          </a:r>
        </a:p>
      </dgm:t>
    </dgm:pt>
    <dgm:pt modelId="{B55366E4-9470-4636-BACC-53A73DD571AE}" type="parTrans" cxnId="{374732A6-8573-44D6-9BBD-DA1E6B9F2B9F}">
      <dgm:prSet/>
      <dgm:spPr/>
      <dgm:t>
        <a:bodyPr/>
        <a:lstStyle/>
        <a:p>
          <a:endParaRPr lang="en-US"/>
        </a:p>
      </dgm:t>
    </dgm:pt>
    <dgm:pt modelId="{9E9CB3E9-C5E7-4133-9988-9E4E98DA2AB5}" type="sibTrans" cxnId="{374732A6-8573-44D6-9BBD-DA1E6B9F2B9F}">
      <dgm:prSet/>
      <dgm:spPr/>
      <dgm:t>
        <a:bodyPr/>
        <a:lstStyle/>
        <a:p>
          <a:endParaRPr lang="en-US"/>
        </a:p>
      </dgm:t>
    </dgm:pt>
    <dgm:pt modelId="{F47767C8-BAA0-4729-8C23-F2D78F6E44C8}">
      <dgm:prSet phldrT="[Text]" phldr="0"/>
      <dgm:spPr/>
      <dgm:t>
        <a:bodyPr/>
        <a:lstStyle/>
        <a:p>
          <a:r>
            <a:rPr lang="en-US" dirty="0"/>
            <a:t>Run model iterations with approved features</a:t>
          </a:r>
        </a:p>
      </dgm:t>
    </dgm:pt>
    <dgm:pt modelId="{D5772B75-CA07-42EE-9879-07967F2A2EAF}" type="parTrans" cxnId="{5E53FAE9-2CA9-40BB-903B-2239FB18EA5B}">
      <dgm:prSet/>
      <dgm:spPr/>
      <dgm:t>
        <a:bodyPr/>
        <a:lstStyle/>
        <a:p>
          <a:endParaRPr lang="en-US"/>
        </a:p>
      </dgm:t>
    </dgm:pt>
    <dgm:pt modelId="{00AA6953-E49A-4E7B-9825-D57CD9DE3A6E}" type="sibTrans" cxnId="{5E53FAE9-2CA9-40BB-903B-2239FB18EA5B}">
      <dgm:prSet/>
      <dgm:spPr/>
      <dgm:t>
        <a:bodyPr/>
        <a:lstStyle/>
        <a:p>
          <a:endParaRPr lang="en-US"/>
        </a:p>
      </dgm:t>
    </dgm:pt>
    <dgm:pt modelId="{AC00EC63-811E-485D-8047-9013F5F90BA0}">
      <dgm:prSet phldrT="[Text]" phldr="0"/>
      <dgm:spPr/>
      <dgm:t>
        <a:bodyPr/>
        <a:lstStyle/>
        <a:p>
          <a:r>
            <a:rPr lang="en-US"/>
            <a:t>Identify segments with strong impact</a:t>
          </a:r>
          <a:endParaRPr lang="en-US" dirty="0"/>
        </a:p>
      </dgm:t>
    </dgm:pt>
    <dgm:pt modelId="{BB28C1C7-FB9C-437B-9585-EFB733AD0F2B}" type="parTrans" cxnId="{7D652F23-A3F9-4BB8-82F4-86C19F055C05}">
      <dgm:prSet/>
      <dgm:spPr/>
      <dgm:t>
        <a:bodyPr/>
        <a:lstStyle/>
        <a:p>
          <a:endParaRPr lang="en-US"/>
        </a:p>
      </dgm:t>
    </dgm:pt>
    <dgm:pt modelId="{3918C67A-5593-4E7C-A308-A1DB67C6D306}" type="sibTrans" cxnId="{7D652F23-A3F9-4BB8-82F4-86C19F055C05}">
      <dgm:prSet/>
      <dgm:spPr/>
      <dgm:t>
        <a:bodyPr/>
        <a:lstStyle/>
        <a:p>
          <a:endParaRPr lang="en-US"/>
        </a:p>
      </dgm:t>
    </dgm:pt>
    <dgm:pt modelId="{B7CEE759-A991-4BE4-948C-74375FAB13E5}" type="pres">
      <dgm:prSet presAssocID="{99013C96-D12B-4758-8B30-63F2677CE6BF}" presName="Name0" presStyleCnt="0">
        <dgm:presLayoutVars>
          <dgm:dir/>
          <dgm:animLvl val="lvl"/>
          <dgm:resizeHandles val="exact"/>
        </dgm:presLayoutVars>
      </dgm:prSet>
      <dgm:spPr/>
    </dgm:pt>
    <dgm:pt modelId="{B04C6D10-1E46-445C-BC9B-853E6C3C8829}" type="pres">
      <dgm:prSet presAssocID="{4CB7D788-6D86-427F-B2B1-3BEF5A46FE3D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E8B2E53-38DF-4568-B2CA-8E40620E4F34}" type="pres">
      <dgm:prSet presAssocID="{9F0264B3-A22A-4B25-B2F5-83B149B59EE7}" presName="parTxOnlySpace" presStyleCnt="0"/>
      <dgm:spPr/>
    </dgm:pt>
    <dgm:pt modelId="{7D2A6E60-CCBD-4BD6-BE54-E0EFBE108553}" type="pres">
      <dgm:prSet presAssocID="{A35826BF-035E-4171-B835-43E7D313972E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DE4BF6C-7705-4D9D-9C15-97A131E8D0CB}" type="pres">
      <dgm:prSet presAssocID="{9E9CB3E9-C5E7-4133-9988-9E4E98DA2AB5}" presName="parTxOnlySpace" presStyleCnt="0"/>
      <dgm:spPr/>
    </dgm:pt>
    <dgm:pt modelId="{DA64E49E-61D7-4466-8020-02820734BA02}" type="pres">
      <dgm:prSet presAssocID="{AC00EC63-811E-485D-8047-9013F5F90BA0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1ADBA1F-03D2-4753-B98D-C8E613331889}" type="pres">
      <dgm:prSet presAssocID="{3918C67A-5593-4E7C-A308-A1DB67C6D306}" presName="parTxOnlySpace" presStyleCnt="0"/>
      <dgm:spPr/>
    </dgm:pt>
    <dgm:pt modelId="{C13D50A8-9FB1-49D0-87CC-9052D66FCF72}" type="pres">
      <dgm:prSet presAssocID="{F47767C8-BAA0-4729-8C23-F2D78F6E44C8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D652F23-A3F9-4BB8-82F4-86C19F055C05}" srcId="{99013C96-D12B-4758-8B30-63F2677CE6BF}" destId="{AC00EC63-811E-485D-8047-9013F5F90BA0}" srcOrd="2" destOrd="0" parTransId="{BB28C1C7-FB9C-437B-9585-EFB733AD0F2B}" sibTransId="{3918C67A-5593-4E7C-A308-A1DB67C6D306}"/>
    <dgm:cxn modelId="{D3CBD129-C807-4F52-8673-C806F860F44A}" type="presOf" srcId="{AC00EC63-811E-485D-8047-9013F5F90BA0}" destId="{DA64E49E-61D7-4466-8020-02820734BA02}" srcOrd="0" destOrd="0" presId="urn:microsoft.com/office/officeart/2005/8/layout/chevron1"/>
    <dgm:cxn modelId="{DD00A568-1526-40DF-B332-950A559C058E}" type="presOf" srcId="{A35826BF-035E-4171-B835-43E7D313972E}" destId="{7D2A6E60-CCBD-4BD6-BE54-E0EFBE108553}" srcOrd="0" destOrd="0" presId="urn:microsoft.com/office/officeart/2005/8/layout/chevron1"/>
    <dgm:cxn modelId="{9572E14E-6645-4990-84F7-BDC1CEEDFC0F}" type="presOf" srcId="{99013C96-D12B-4758-8B30-63F2677CE6BF}" destId="{B7CEE759-A991-4BE4-948C-74375FAB13E5}" srcOrd="0" destOrd="0" presId="urn:microsoft.com/office/officeart/2005/8/layout/chevron1"/>
    <dgm:cxn modelId="{E0919154-D096-4EDC-8FE9-F139E7B9C764}" type="presOf" srcId="{F47767C8-BAA0-4729-8C23-F2D78F6E44C8}" destId="{C13D50A8-9FB1-49D0-87CC-9052D66FCF72}" srcOrd="0" destOrd="0" presId="urn:microsoft.com/office/officeart/2005/8/layout/chevron1"/>
    <dgm:cxn modelId="{3EBD808A-1F7B-4DFD-A6B0-1F4435E78A2A}" type="presOf" srcId="{4CB7D788-6D86-427F-B2B1-3BEF5A46FE3D}" destId="{B04C6D10-1E46-445C-BC9B-853E6C3C8829}" srcOrd="0" destOrd="0" presId="urn:microsoft.com/office/officeart/2005/8/layout/chevron1"/>
    <dgm:cxn modelId="{374732A6-8573-44D6-9BBD-DA1E6B9F2B9F}" srcId="{99013C96-D12B-4758-8B30-63F2677CE6BF}" destId="{A35826BF-035E-4171-B835-43E7D313972E}" srcOrd="1" destOrd="0" parTransId="{B55366E4-9470-4636-BACC-53A73DD571AE}" sibTransId="{9E9CB3E9-C5E7-4133-9988-9E4E98DA2AB5}"/>
    <dgm:cxn modelId="{5E53FAE9-2CA9-40BB-903B-2239FB18EA5B}" srcId="{99013C96-D12B-4758-8B30-63F2677CE6BF}" destId="{F47767C8-BAA0-4729-8C23-F2D78F6E44C8}" srcOrd="3" destOrd="0" parTransId="{D5772B75-CA07-42EE-9879-07967F2A2EAF}" sibTransId="{00AA6953-E49A-4E7B-9825-D57CD9DE3A6E}"/>
    <dgm:cxn modelId="{739816F5-D542-4401-98D5-C1C8A1D03FCE}" srcId="{99013C96-D12B-4758-8B30-63F2677CE6BF}" destId="{4CB7D788-6D86-427F-B2B1-3BEF5A46FE3D}" srcOrd="0" destOrd="0" parTransId="{5FD464B9-111B-4C5A-9766-4EA09E53EFD8}" sibTransId="{9F0264B3-A22A-4B25-B2F5-83B149B59EE7}"/>
    <dgm:cxn modelId="{6B83F9A6-A90B-47BD-9C5B-9A8DDA401DA8}" type="presParOf" srcId="{B7CEE759-A991-4BE4-948C-74375FAB13E5}" destId="{B04C6D10-1E46-445C-BC9B-853E6C3C8829}" srcOrd="0" destOrd="0" presId="urn:microsoft.com/office/officeart/2005/8/layout/chevron1"/>
    <dgm:cxn modelId="{8972B655-1ED1-40DE-A3B6-2A471501FBA3}" type="presParOf" srcId="{B7CEE759-A991-4BE4-948C-74375FAB13E5}" destId="{0E8B2E53-38DF-4568-B2CA-8E40620E4F34}" srcOrd="1" destOrd="0" presId="urn:microsoft.com/office/officeart/2005/8/layout/chevron1"/>
    <dgm:cxn modelId="{77C07D0F-3852-4616-B61C-49E96E473A94}" type="presParOf" srcId="{B7CEE759-A991-4BE4-948C-74375FAB13E5}" destId="{7D2A6E60-CCBD-4BD6-BE54-E0EFBE108553}" srcOrd="2" destOrd="0" presId="urn:microsoft.com/office/officeart/2005/8/layout/chevron1"/>
    <dgm:cxn modelId="{0B2FE505-A0EA-4919-9D5A-CCBF1AE95855}" type="presParOf" srcId="{B7CEE759-A991-4BE4-948C-74375FAB13E5}" destId="{DDE4BF6C-7705-4D9D-9C15-97A131E8D0CB}" srcOrd="3" destOrd="0" presId="urn:microsoft.com/office/officeart/2005/8/layout/chevron1"/>
    <dgm:cxn modelId="{9B182109-169E-4059-A75B-0888DDF1F8B0}" type="presParOf" srcId="{B7CEE759-A991-4BE4-948C-74375FAB13E5}" destId="{DA64E49E-61D7-4466-8020-02820734BA02}" srcOrd="4" destOrd="0" presId="urn:microsoft.com/office/officeart/2005/8/layout/chevron1"/>
    <dgm:cxn modelId="{AA9055CE-D364-44D1-8058-C6B3193584D1}" type="presParOf" srcId="{B7CEE759-A991-4BE4-948C-74375FAB13E5}" destId="{B1ADBA1F-03D2-4753-B98D-C8E613331889}" srcOrd="5" destOrd="0" presId="urn:microsoft.com/office/officeart/2005/8/layout/chevron1"/>
    <dgm:cxn modelId="{BDC53A27-CA24-4A3A-B1C5-7DEDF0C2AB7C}" type="presParOf" srcId="{B7CEE759-A991-4BE4-948C-74375FAB13E5}" destId="{C13D50A8-9FB1-49D0-87CC-9052D66FCF7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B2C8D83-C403-4613-8379-FF4A0E6890C4}" type="doc">
      <dgm:prSet loTypeId="urn:microsoft.com/office/officeart/2005/8/layout/arrow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4ADA67-0D6E-4E6F-96BF-638DC079718D}">
      <dgm:prSet phldrT="[Text]" phldr="0"/>
      <dgm:spPr/>
      <dgm:t>
        <a:bodyPr/>
        <a:lstStyle/>
        <a:p>
          <a:r>
            <a:rPr lang="en-US" dirty="0"/>
            <a:t>Income $0 - $50K</a:t>
          </a:r>
        </a:p>
      </dgm:t>
    </dgm:pt>
    <dgm:pt modelId="{F1CCDDBE-0579-4FC4-81B7-902EDF1B6E2B}" type="parTrans" cxnId="{41D07385-EEBD-4AEE-B9A2-044EF5D6CB44}">
      <dgm:prSet/>
      <dgm:spPr/>
      <dgm:t>
        <a:bodyPr/>
        <a:lstStyle/>
        <a:p>
          <a:endParaRPr lang="en-US"/>
        </a:p>
      </dgm:t>
    </dgm:pt>
    <dgm:pt modelId="{C8786491-BAB9-4E2F-83ED-EA1E44518B12}" type="sibTrans" cxnId="{41D07385-EEBD-4AEE-B9A2-044EF5D6CB44}">
      <dgm:prSet/>
      <dgm:spPr/>
      <dgm:t>
        <a:bodyPr/>
        <a:lstStyle/>
        <a:p>
          <a:endParaRPr lang="en-US"/>
        </a:p>
      </dgm:t>
    </dgm:pt>
    <dgm:pt modelId="{F1A16D0D-191D-468A-9EEF-91C8DF78684B}">
      <dgm:prSet phldrT="[Text]" phldr="0"/>
      <dgm:spPr/>
      <dgm:t>
        <a:bodyPr/>
        <a:lstStyle/>
        <a:p>
          <a:r>
            <a:rPr lang="en-US" dirty="0"/>
            <a:t>Age 55+</a:t>
          </a:r>
        </a:p>
      </dgm:t>
    </dgm:pt>
    <dgm:pt modelId="{B8089CCE-479E-407F-9267-596B90C9AD5D}" type="parTrans" cxnId="{34142739-5603-416A-B5FE-1D5940540F73}">
      <dgm:prSet/>
      <dgm:spPr/>
      <dgm:t>
        <a:bodyPr/>
        <a:lstStyle/>
        <a:p>
          <a:endParaRPr lang="en-US"/>
        </a:p>
      </dgm:t>
    </dgm:pt>
    <dgm:pt modelId="{2BAEFFE0-92F2-4117-849D-7CA408CA0F1D}" type="sibTrans" cxnId="{34142739-5603-416A-B5FE-1D5940540F73}">
      <dgm:prSet/>
      <dgm:spPr/>
      <dgm:t>
        <a:bodyPr/>
        <a:lstStyle/>
        <a:p>
          <a:endParaRPr lang="en-US"/>
        </a:p>
      </dgm:t>
    </dgm:pt>
    <dgm:pt modelId="{8F21032A-2B79-4A99-B48D-C7CED68FD53C}" type="pres">
      <dgm:prSet presAssocID="{BB2C8D83-C403-4613-8379-FF4A0E6890C4}" presName="compositeShape" presStyleCnt="0">
        <dgm:presLayoutVars>
          <dgm:chMax val="2"/>
          <dgm:dir/>
          <dgm:resizeHandles val="exact"/>
        </dgm:presLayoutVars>
      </dgm:prSet>
      <dgm:spPr/>
    </dgm:pt>
    <dgm:pt modelId="{87E2CE5A-B723-4E23-85AF-7EEDA6472C8A}" type="pres">
      <dgm:prSet presAssocID="{DB4ADA67-0D6E-4E6F-96BF-638DC079718D}" presName="upArrow" presStyleLbl="node1" presStyleIdx="0" presStyleCnt="2"/>
      <dgm:spPr/>
    </dgm:pt>
    <dgm:pt modelId="{5689C210-C54E-41B0-AFCF-9AD861574C6F}" type="pres">
      <dgm:prSet presAssocID="{DB4ADA67-0D6E-4E6F-96BF-638DC079718D}" presName="upArrowText" presStyleLbl="revTx" presStyleIdx="0" presStyleCnt="2">
        <dgm:presLayoutVars>
          <dgm:chMax val="0"/>
          <dgm:bulletEnabled val="1"/>
        </dgm:presLayoutVars>
      </dgm:prSet>
      <dgm:spPr/>
    </dgm:pt>
    <dgm:pt modelId="{F2223CCE-1294-4012-A7F1-CF71156DE059}" type="pres">
      <dgm:prSet presAssocID="{F1A16D0D-191D-468A-9EEF-91C8DF78684B}" presName="downArrow" presStyleLbl="node1" presStyleIdx="1" presStyleCnt="2"/>
      <dgm:spPr>
        <a:solidFill>
          <a:srgbClr val="A50021"/>
        </a:solidFill>
      </dgm:spPr>
    </dgm:pt>
    <dgm:pt modelId="{B02C6C22-F60F-4573-97F6-6D0D8A35D892}" type="pres">
      <dgm:prSet presAssocID="{F1A16D0D-191D-468A-9EEF-91C8DF78684B}" presName="downArrowText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B056B72D-B2B5-42F7-ABC5-6D27CA5EEED2}" type="presOf" srcId="{F1A16D0D-191D-468A-9EEF-91C8DF78684B}" destId="{B02C6C22-F60F-4573-97F6-6D0D8A35D892}" srcOrd="0" destOrd="0" presId="urn:microsoft.com/office/officeart/2005/8/layout/arrow4"/>
    <dgm:cxn modelId="{34142739-5603-416A-B5FE-1D5940540F73}" srcId="{BB2C8D83-C403-4613-8379-FF4A0E6890C4}" destId="{F1A16D0D-191D-468A-9EEF-91C8DF78684B}" srcOrd="1" destOrd="0" parTransId="{B8089CCE-479E-407F-9267-596B90C9AD5D}" sibTransId="{2BAEFFE0-92F2-4117-849D-7CA408CA0F1D}"/>
    <dgm:cxn modelId="{41D07385-EEBD-4AEE-B9A2-044EF5D6CB44}" srcId="{BB2C8D83-C403-4613-8379-FF4A0E6890C4}" destId="{DB4ADA67-0D6E-4E6F-96BF-638DC079718D}" srcOrd="0" destOrd="0" parTransId="{F1CCDDBE-0579-4FC4-81B7-902EDF1B6E2B}" sibTransId="{C8786491-BAB9-4E2F-83ED-EA1E44518B12}"/>
    <dgm:cxn modelId="{B47D2AD2-6E07-408E-AB84-1B91FDFA7DB3}" type="presOf" srcId="{DB4ADA67-0D6E-4E6F-96BF-638DC079718D}" destId="{5689C210-C54E-41B0-AFCF-9AD861574C6F}" srcOrd="0" destOrd="0" presId="urn:microsoft.com/office/officeart/2005/8/layout/arrow4"/>
    <dgm:cxn modelId="{55AE39E4-A4A7-4CA4-959F-004F45726861}" type="presOf" srcId="{BB2C8D83-C403-4613-8379-FF4A0E6890C4}" destId="{8F21032A-2B79-4A99-B48D-C7CED68FD53C}" srcOrd="0" destOrd="0" presId="urn:microsoft.com/office/officeart/2005/8/layout/arrow4"/>
    <dgm:cxn modelId="{8A770BC1-AA70-482B-A7A5-57A9F210AAAA}" type="presParOf" srcId="{8F21032A-2B79-4A99-B48D-C7CED68FD53C}" destId="{87E2CE5A-B723-4E23-85AF-7EEDA6472C8A}" srcOrd="0" destOrd="0" presId="urn:microsoft.com/office/officeart/2005/8/layout/arrow4"/>
    <dgm:cxn modelId="{9FE93BBF-F5B6-455F-B89B-84420B599C75}" type="presParOf" srcId="{8F21032A-2B79-4A99-B48D-C7CED68FD53C}" destId="{5689C210-C54E-41B0-AFCF-9AD861574C6F}" srcOrd="1" destOrd="0" presId="urn:microsoft.com/office/officeart/2005/8/layout/arrow4"/>
    <dgm:cxn modelId="{36AE27CF-956E-4675-A604-4B4A8D687214}" type="presParOf" srcId="{8F21032A-2B79-4A99-B48D-C7CED68FD53C}" destId="{F2223CCE-1294-4012-A7F1-CF71156DE059}" srcOrd="2" destOrd="0" presId="urn:microsoft.com/office/officeart/2005/8/layout/arrow4"/>
    <dgm:cxn modelId="{7E9588BF-634D-4481-A27B-77CFD90BCECC}" type="presParOf" srcId="{8F21032A-2B79-4A99-B48D-C7CED68FD53C}" destId="{B02C6C22-F60F-4573-97F6-6D0D8A35D892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AA6BF73-FC1D-484B-9634-63B5341384B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02931D-EE1C-423F-8D92-767B26704BFC}">
      <dgm:prSet phldrT="[Text]" phldr="0"/>
      <dgm:spPr>
        <a:solidFill>
          <a:schemeClr val="accent3"/>
        </a:solidFill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Room for Improvement</a:t>
          </a:r>
        </a:p>
      </dgm:t>
    </dgm:pt>
    <dgm:pt modelId="{F850C127-CEE4-4990-AF84-AF68C04B7EB2}" type="parTrans" cxnId="{7597EC60-D4FB-437A-833A-0DB81FD92C7D}">
      <dgm:prSet/>
      <dgm:spPr/>
      <dgm:t>
        <a:bodyPr/>
        <a:lstStyle/>
        <a:p>
          <a:endParaRPr lang="en-US"/>
        </a:p>
      </dgm:t>
    </dgm:pt>
    <dgm:pt modelId="{BDA81170-A41D-4EE6-9BCE-ABD63E458016}" type="sibTrans" cxnId="{7597EC60-D4FB-437A-833A-0DB81FD92C7D}">
      <dgm:prSet/>
      <dgm:spPr/>
      <dgm:t>
        <a:bodyPr/>
        <a:lstStyle/>
        <a:p>
          <a:endParaRPr lang="en-US"/>
        </a:p>
      </dgm:t>
    </dgm:pt>
    <dgm:pt modelId="{A9A5C947-909E-4FBD-A631-7B0FE19F6B7A}">
      <dgm:prSet phldrT="[Text]" phldr="0"/>
      <dgm:spPr>
        <a:solidFill>
          <a:schemeClr val="accent3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Combine features</a:t>
          </a:r>
        </a:p>
      </dgm:t>
    </dgm:pt>
    <dgm:pt modelId="{56442FBE-EC8F-4511-878C-D5D7166A4BC9}" type="parTrans" cxnId="{79E3E4EA-44B4-4D3B-BB37-844715B8B3F0}">
      <dgm:prSet/>
      <dgm:spPr/>
      <dgm:t>
        <a:bodyPr/>
        <a:lstStyle/>
        <a:p>
          <a:endParaRPr lang="en-US"/>
        </a:p>
      </dgm:t>
    </dgm:pt>
    <dgm:pt modelId="{DBE3AB1D-049E-495D-919F-3EA3B359D96B}" type="sibTrans" cxnId="{79E3E4EA-44B4-4D3B-BB37-844715B8B3F0}">
      <dgm:prSet/>
      <dgm:spPr/>
      <dgm:t>
        <a:bodyPr/>
        <a:lstStyle/>
        <a:p>
          <a:endParaRPr lang="en-US"/>
        </a:p>
      </dgm:t>
    </dgm:pt>
    <dgm:pt modelId="{5707F4E4-B395-47A6-89B9-BB02EA8B1A83}">
      <dgm:prSet phldrT="[Text]" phldr="0"/>
      <dgm:spPr>
        <a:solidFill>
          <a:schemeClr val="accent3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Interaction</a:t>
          </a:r>
        </a:p>
      </dgm:t>
    </dgm:pt>
    <dgm:pt modelId="{17812FCB-B87D-435F-BE58-09ABCACC6F76}" type="parTrans" cxnId="{9DF351A6-1F8D-48F7-A92F-4E5C4682DE56}">
      <dgm:prSet/>
      <dgm:spPr/>
      <dgm:t>
        <a:bodyPr/>
        <a:lstStyle/>
        <a:p>
          <a:endParaRPr lang="en-US"/>
        </a:p>
      </dgm:t>
    </dgm:pt>
    <dgm:pt modelId="{35A120A3-915A-4101-91D5-FB9781C9F25F}" type="sibTrans" cxnId="{9DF351A6-1F8D-48F7-A92F-4E5C4682DE56}">
      <dgm:prSet/>
      <dgm:spPr/>
      <dgm:t>
        <a:bodyPr/>
        <a:lstStyle/>
        <a:p>
          <a:endParaRPr lang="en-US"/>
        </a:p>
      </dgm:t>
    </dgm:pt>
    <dgm:pt modelId="{F826A04D-99CD-4E12-8B1B-8F86349C2FED}">
      <dgm:prSet phldrT="[Text]" phldr="0"/>
      <dgm:spPr>
        <a:solidFill>
          <a:schemeClr val="accent3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Model build</a:t>
          </a:r>
        </a:p>
      </dgm:t>
    </dgm:pt>
    <dgm:pt modelId="{D36DF1B3-C856-451A-9A1E-5D56ACF2C3D6}" type="parTrans" cxnId="{A985A5E7-51FD-4442-8BB2-757BCF5444E7}">
      <dgm:prSet/>
      <dgm:spPr/>
      <dgm:t>
        <a:bodyPr/>
        <a:lstStyle/>
        <a:p>
          <a:endParaRPr lang="en-US"/>
        </a:p>
      </dgm:t>
    </dgm:pt>
    <dgm:pt modelId="{700232F2-361A-4C90-8ABD-5CC451D0C81E}" type="sibTrans" cxnId="{A985A5E7-51FD-4442-8BB2-757BCF5444E7}">
      <dgm:prSet/>
      <dgm:spPr/>
      <dgm:t>
        <a:bodyPr/>
        <a:lstStyle/>
        <a:p>
          <a:endParaRPr lang="en-US"/>
        </a:p>
      </dgm:t>
    </dgm:pt>
    <dgm:pt modelId="{246485D3-DA7C-48CE-B90E-93F010B5497C}">
      <dgm:prSet phldrT="[Text]" phldr="0"/>
      <dgm:spPr>
        <a:solidFill>
          <a:schemeClr val="accent3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Feature engineering </a:t>
          </a:r>
        </a:p>
      </dgm:t>
    </dgm:pt>
    <dgm:pt modelId="{46EF9D35-2C01-4661-A840-97E02A018768}" type="parTrans" cxnId="{BC0C7863-1E1F-45E7-8CD4-06AE4BAD2B89}">
      <dgm:prSet/>
      <dgm:spPr/>
      <dgm:t>
        <a:bodyPr/>
        <a:lstStyle/>
        <a:p>
          <a:endParaRPr lang="en-US"/>
        </a:p>
      </dgm:t>
    </dgm:pt>
    <dgm:pt modelId="{53276054-F3B9-4A51-887E-C42EA43D44F1}" type="sibTrans" cxnId="{BC0C7863-1E1F-45E7-8CD4-06AE4BAD2B89}">
      <dgm:prSet/>
      <dgm:spPr/>
      <dgm:t>
        <a:bodyPr/>
        <a:lstStyle/>
        <a:p>
          <a:endParaRPr lang="en-US"/>
        </a:p>
      </dgm:t>
    </dgm:pt>
    <dgm:pt modelId="{E932CE54-F382-4B0C-ABC3-3B68FDA60A1C}" type="pres">
      <dgm:prSet presAssocID="{5AA6BF73-FC1D-484B-9634-63B5341384B5}" presName="diagram" presStyleCnt="0">
        <dgm:presLayoutVars>
          <dgm:dir/>
          <dgm:resizeHandles val="exact"/>
        </dgm:presLayoutVars>
      </dgm:prSet>
      <dgm:spPr/>
    </dgm:pt>
    <dgm:pt modelId="{0D0E78B4-6B7E-4F3C-BB64-310991E28DFE}" type="pres">
      <dgm:prSet presAssocID="{5A02931D-EE1C-423F-8D92-767B26704BFC}" presName="node" presStyleLbl="node1" presStyleIdx="0" presStyleCnt="1">
        <dgm:presLayoutVars>
          <dgm:bulletEnabled val="1"/>
        </dgm:presLayoutVars>
      </dgm:prSet>
      <dgm:spPr/>
    </dgm:pt>
  </dgm:ptLst>
  <dgm:cxnLst>
    <dgm:cxn modelId="{1DAFEE25-4A1B-4CAC-8384-EC2204E8B7A9}" type="presOf" srcId="{5707F4E4-B395-47A6-89B9-BB02EA8B1A83}" destId="{0D0E78B4-6B7E-4F3C-BB64-310991E28DFE}" srcOrd="0" destOrd="2" presId="urn:microsoft.com/office/officeart/2005/8/layout/default"/>
    <dgm:cxn modelId="{7597EC60-D4FB-437A-833A-0DB81FD92C7D}" srcId="{5AA6BF73-FC1D-484B-9634-63B5341384B5}" destId="{5A02931D-EE1C-423F-8D92-767B26704BFC}" srcOrd="0" destOrd="0" parTransId="{F850C127-CEE4-4990-AF84-AF68C04B7EB2}" sibTransId="{BDA81170-A41D-4EE6-9BCE-ABD63E458016}"/>
    <dgm:cxn modelId="{BC0C7863-1E1F-45E7-8CD4-06AE4BAD2B89}" srcId="{5A02931D-EE1C-423F-8D92-767B26704BFC}" destId="{246485D3-DA7C-48CE-B90E-93F010B5497C}" srcOrd="3" destOrd="0" parTransId="{46EF9D35-2C01-4661-A840-97E02A018768}" sibTransId="{53276054-F3B9-4A51-887E-C42EA43D44F1}"/>
    <dgm:cxn modelId="{07F7E44B-3080-4BE6-BCBA-021A6732A9E0}" type="presOf" srcId="{A9A5C947-909E-4FBD-A631-7B0FE19F6B7A}" destId="{0D0E78B4-6B7E-4F3C-BB64-310991E28DFE}" srcOrd="0" destOrd="1" presId="urn:microsoft.com/office/officeart/2005/8/layout/default"/>
    <dgm:cxn modelId="{A9994355-1221-4A14-B95D-B56DC95B28A2}" type="presOf" srcId="{F826A04D-99CD-4E12-8B1B-8F86349C2FED}" destId="{0D0E78B4-6B7E-4F3C-BB64-310991E28DFE}" srcOrd="0" destOrd="3" presId="urn:microsoft.com/office/officeart/2005/8/layout/default"/>
    <dgm:cxn modelId="{3A0AE0A2-6812-4E9D-A607-7397B6558D4A}" type="presOf" srcId="{5A02931D-EE1C-423F-8D92-767B26704BFC}" destId="{0D0E78B4-6B7E-4F3C-BB64-310991E28DFE}" srcOrd="0" destOrd="0" presId="urn:microsoft.com/office/officeart/2005/8/layout/default"/>
    <dgm:cxn modelId="{9DF351A6-1F8D-48F7-A92F-4E5C4682DE56}" srcId="{5A02931D-EE1C-423F-8D92-767B26704BFC}" destId="{5707F4E4-B395-47A6-89B9-BB02EA8B1A83}" srcOrd="1" destOrd="0" parTransId="{17812FCB-B87D-435F-BE58-09ABCACC6F76}" sibTransId="{35A120A3-915A-4101-91D5-FB9781C9F25F}"/>
    <dgm:cxn modelId="{3C599BDD-0F41-47E3-91F5-20F9EB398457}" type="presOf" srcId="{246485D3-DA7C-48CE-B90E-93F010B5497C}" destId="{0D0E78B4-6B7E-4F3C-BB64-310991E28DFE}" srcOrd="0" destOrd="4" presId="urn:microsoft.com/office/officeart/2005/8/layout/default"/>
    <dgm:cxn modelId="{A985A5E7-51FD-4442-8BB2-757BCF5444E7}" srcId="{5A02931D-EE1C-423F-8D92-767B26704BFC}" destId="{F826A04D-99CD-4E12-8B1B-8F86349C2FED}" srcOrd="2" destOrd="0" parTransId="{D36DF1B3-C856-451A-9A1E-5D56ACF2C3D6}" sibTransId="{700232F2-361A-4C90-8ABD-5CC451D0C81E}"/>
    <dgm:cxn modelId="{79E3E4EA-44B4-4D3B-BB37-844715B8B3F0}" srcId="{5A02931D-EE1C-423F-8D92-767B26704BFC}" destId="{A9A5C947-909E-4FBD-A631-7B0FE19F6B7A}" srcOrd="0" destOrd="0" parTransId="{56442FBE-EC8F-4511-878C-D5D7166A4BC9}" sibTransId="{DBE3AB1D-049E-495D-919F-3EA3B359D96B}"/>
    <dgm:cxn modelId="{BB7D15FB-6AC9-4A5D-809E-95BAAA487C52}" type="presOf" srcId="{5AA6BF73-FC1D-484B-9634-63B5341384B5}" destId="{E932CE54-F382-4B0C-ABC3-3B68FDA60A1C}" srcOrd="0" destOrd="0" presId="urn:microsoft.com/office/officeart/2005/8/layout/default"/>
    <dgm:cxn modelId="{E89BD059-D8F4-4A67-B70B-DF6AEC5084B3}" type="presParOf" srcId="{E932CE54-F382-4B0C-ABC3-3B68FDA60A1C}" destId="{0D0E78B4-6B7E-4F3C-BB64-310991E28DFE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87C623A-682F-4AD3-B2B1-E2FBD19EC8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B35327C-EBEE-485E-ABDA-093A3E8A461B}">
      <dgm:prSet/>
      <dgm:spPr/>
      <dgm:t>
        <a:bodyPr/>
        <a:lstStyle/>
        <a:p>
          <a:r>
            <a:rPr lang="en-US" b="0" dirty="0"/>
            <a:t>Understand TV identity and behavior</a:t>
          </a:r>
        </a:p>
      </dgm:t>
    </dgm:pt>
    <dgm:pt modelId="{ECE52D80-D918-4544-8F83-4336AD2F95D9}" type="parTrans" cxnId="{040DF832-3F46-426C-8324-9BC4BEB8A7DD}">
      <dgm:prSet/>
      <dgm:spPr/>
      <dgm:t>
        <a:bodyPr/>
        <a:lstStyle/>
        <a:p>
          <a:endParaRPr lang="en-US"/>
        </a:p>
      </dgm:t>
    </dgm:pt>
    <dgm:pt modelId="{C1718EE9-AFC3-4047-A686-84A115E4276D}" type="sibTrans" cxnId="{040DF832-3F46-426C-8324-9BC4BEB8A7DD}">
      <dgm:prSet/>
      <dgm:spPr/>
      <dgm:t>
        <a:bodyPr/>
        <a:lstStyle/>
        <a:p>
          <a:endParaRPr lang="en-US"/>
        </a:p>
      </dgm:t>
    </dgm:pt>
    <dgm:pt modelId="{9789CE83-1B77-4198-910C-7BAFC038EE96}">
      <dgm:prSet/>
      <dgm:spPr/>
      <dgm:t>
        <a:bodyPr/>
        <a:lstStyle/>
        <a:p>
          <a:r>
            <a:rPr lang="en-US" b="0" dirty="0"/>
            <a:t>Focus on TVs with a long enough history</a:t>
          </a:r>
        </a:p>
      </dgm:t>
    </dgm:pt>
    <dgm:pt modelId="{095CF191-1B4A-4FF2-8B0A-BC83E32BA7E3}" type="parTrans" cxnId="{82881AE1-58FB-47A5-8AD4-B69C2BDEE62F}">
      <dgm:prSet/>
      <dgm:spPr/>
      <dgm:t>
        <a:bodyPr/>
        <a:lstStyle/>
        <a:p>
          <a:endParaRPr lang="en-US"/>
        </a:p>
      </dgm:t>
    </dgm:pt>
    <dgm:pt modelId="{8078509D-9684-4E1B-A835-6E274DCBBCF1}" type="sibTrans" cxnId="{82881AE1-58FB-47A5-8AD4-B69C2BDEE62F}">
      <dgm:prSet/>
      <dgm:spPr/>
      <dgm:t>
        <a:bodyPr/>
        <a:lstStyle/>
        <a:p>
          <a:endParaRPr lang="en-US"/>
        </a:p>
      </dgm:t>
    </dgm:pt>
    <dgm:pt modelId="{16BFF9C5-349E-433B-85B9-449592731086}">
      <dgm:prSet/>
      <dgm:spPr/>
      <dgm:t>
        <a:bodyPr/>
        <a:lstStyle/>
        <a:p>
          <a:r>
            <a:rPr lang="en-US" b="0" dirty="0"/>
            <a:t>Shift calibration method to not need a specific period to match</a:t>
          </a:r>
        </a:p>
      </dgm:t>
    </dgm:pt>
    <dgm:pt modelId="{E2A0446D-B5F0-44D7-87CE-A906F69BABE3}" type="parTrans" cxnId="{A8EAD06D-96BE-48AE-B8F1-B2A14796757C}">
      <dgm:prSet/>
      <dgm:spPr/>
      <dgm:t>
        <a:bodyPr/>
        <a:lstStyle/>
        <a:p>
          <a:endParaRPr lang="en-US"/>
        </a:p>
      </dgm:t>
    </dgm:pt>
    <dgm:pt modelId="{DCE6C0BC-5FC4-4D87-8405-0FC187A92A26}" type="sibTrans" cxnId="{A8EAD06D-96BE-48AE-B8F1-B2A14796757C}">
      <dgm:prSet/>
      <dgm:spPr/>
      <dgm:t>
        <a:bodyPr/>
        <a:lstStyle/>
        <a:p>
          <a:endParaRPr lang="en-US"/>
        </a:p>
      </dgm:t>
    </dgm:pt>
    <dgm:pt modelId="{1E79DC2C-48A8-4F85-8CE5-F71112CF7697}">
      <dgm:prSet/>
      <dgm:spPr/>
      <dgm:t>
        <a:bodyPr/>
        <a:lstStyle/>
        <a:p>
          <a:r>
            <a:rPr lang="en-US" b="0" dirty="0"/>
            <a:t>Discuss marketing tactics</a:t>
          </a:r>
        </a:p>
      </dgm:t>
    </dgm:pt>
    <dgm:pt modelId="{1C020B38-6071-495B-8EB7-09A81382F739}" type="parTrans" cxnId="{92E8DF8D-E401-4DF1-801C-A3469F5A2846}">
      <dgm:prSet/>
      <dgm:spPr/>
      <dgm:t>
        <a:bodyPr/>
        <a:lstStyle/>
        <a:p>
          <a:endParaRPr lang="en-US"/>
        </a:p>
      </dgm:t>
    </dgm:pt>
    <dgm:pt modelId="{273DB229-8C5A-451B-8B90-21804CDA43A3}" type="sibTrans" cxnId="{92E8DF8D-E401-4DF1-801C-A3469F5A2846}">
      <dgm:prSet/>
      <dgm:spPr/>
      <dgm:t>
        <a:bodyPr/>
        <a:lstStyle/>
        <a:p>
          <a:endParaRPr lang="en-US"/>
        </a:p>
      </dgm:t>
    </dgm:pt>
    <dgm:pt modelId="{015971A4-BA52-42D1-A85A-3307CEC479C6}">
      <dgm:prSet/>
      <dgm:spPr/>
      <dgm:t>
        <a:bodyPr/>
        <a:lstStyle/>
        <a:p>
          <a:r>
            <a:rPr lang="en-US" b="0" dirty="0"/>
            <a:t>Check alignment of average conversion rate</a:t>
          </a:r>
        </a:p>
      </dgm:t>
    </dgm:pt>
    <dgm:pt modelId="{A456F805-2C47-40F7-801B-D565AB77D23C}" type="parTrans" cxnId="{6E00B9F8-EB99-4E73-B148-586BA7A466BA}">
      <dgm:prSet/>
      <dgm:spPr/>
      <dgm:t>
        <a:bodyPr/>
        <a:lstStyle/>
        <a:p>
          <a:endParaRPr lang="en-US"/>
        </a:p>
      </dgm:t>
    </dgm:pt>
    <dgm:pt modelId="{35436568-96BB-4DA6-8214-ABA797601603}" type="sibTrans" cxnId="{6E00B9F8-EB99-4E73-B148-586BA7A466BA}">
      <dgm:prSet/>
      <dgm:spPr/>
      <dgm:t>
        <a:bodyPr/>
        <a:lstStyle/>
        <a:p>
          <a:endParaRPr lang="en-US"/>
        </a:p>
      </dgm:t>
    </dgm:pt>
    <dgm:pt modelId="{B58ABD8A-2CFD-4E5E-B8FA-2C2646C34D07}">
      <dgm:prSet/>
      <dgm:spPr/>
      <dgm:t>
        <a:bodyPr/>
        <a:lstStyle/>
        <a:p>
          <a:r>
            <a:rPr lang="en-US" b="0" dirty="0"/>
            <a:t>Measure change in impression metrics</a:t>
          </a:r>
        </a:p>
      </dgm:t>
    </dgm:pt>
    <dgm:pt modelId="{56344B36-BCCC-43F3-9DD5-16DF50ABFB15}" type="parTrans" cxnId="{1E12E3FD-558E-44E2-83EF-500D156353F0}">
      <dgm:prSet/>
      <dgm:spPr/>
      <dgm:t>
        <a:bodyPr/>
        <a:lstStyle/>
        <a:p>
          <a:endParaRPr lang="en-US"/>
        </a:p>
      </dgm:t>
    </dgm:pt>
    <dgm:pt modelId="{9CAE34E2-0784-43D2-9F39-1CC0F5657F0C}" type="sibTrans" cxnId="{1E12E3FD-558E-44E2-83EF-500D156353F0}">
      <dgm:prSet/>
      <dgm:spPr/>
      <dgm:t>
        <a:bodyPr/>
        <a:lstStyle/>
        <a:p>
          <a:endParaRPr lang="en-US"/>
        </a:p>
      </dgm:t>
    </dgm:pt>
    <dgm:pt modelId="{CB436EB8-9479-43C1-9B11-C9A46221A614}">
      <dgm:prSet/>
      <dgm:spPr/>
      <dgm:t>
        <a:bodyPr/>
        <a:lstStyle/>
        <a:p>
          <a:r>
            <a:rPr lang="en-US" b="0" dirty="0"/>
            <a:t>Define conversion rate and instances of behavior</a:t>
          </a:r>
        </a:p>
      </dgm:t>
    </dgm:pt>
    <dgm:pt modelId="{FDD62AC3-318A-4712-8503-61B97F6F230A}" type="parTrans" cxnId="{FD1DB6B2-B733-45CF-91E3-28735CEFAC95}">
      <dgm:prSet/>
      <dgm:spPr/>
      <dgm:t>
        <a:bodyPr/>
        <a:lstStyle/>
        <a:p>
          <a:endParaRPr lang="en-US"/>
        </a:p>
      </dgm:t>
    </dgm:pt>
    <dgm:pt modelId="{26B6B5B5-A31E-4870-8084-85A1D5CE049D}" type="sibTrans" cxnId="{FD1DB6B2-B733-45CF-91E3-28735CEFAC95}">
      <dgm:prSet/>
      <dgm:spPr/>
      <dgm:t>
        <a:bodyPr/>
        <a:lstStyle/>
        <a:p>
          <a:endParaRPr lang="en-US"/>
        </a:p>
      </dgm:t>
    </dgm:pt>
    <dgm:pt modelId="{6B8153BE-B672-46DF-884B-6F186818BE56}">
      <dgm:prSet/>
      <dgm:spPr/>
      <dgm:t>
        <a:bodyPr/>
        <a:lstStyle/>
        <a:p>
          <a:r>
            <a:rPr lang="en-US" b="0" dirty="0"/>
            <a:t>Investigate data availability, sources, and structure</a:t>
          </a:r>
        </a:p>
      </dgm:t>
    </dgm:pt>
    <dgm:pt modelId="{6D340A05-D008-461C-9E04-90585F82CD66}" type="parTrans" cxnId="{86A0A0B1-4284-47DC-9052-BBD74C7C5093}">
      <dgm:prSet/>
      <dgm:spPr/>
      <dgm:t>
        <a:bodyPr/>
        <a:lstStyle/>
        <a:p>
          <a:endParaRPr lang="en-US"/>
        </a:p>
      </dgm:t>
    </dgm:pt>
    <dgm:pt modelId="{F0255D4C-DBB0-4B76-AC49-279887EE89C3}" type="sibTrans" cxnId="{86A0A0B1-4284-47DC-9052-BBD74C7C5093}">
      <dgm:prSet/>
      <dgm:spPr/>
      <dgm:t>
        <a:bodyPr/>
        <a:lstStyle/>
        <a:p>
          <a:endParaRPr lang="en-US"/>
        </a:p>
      </dgm:t>
    </dgm:pt>
    <dgm:pt modelId="{61AE9C93-8BEC-4936-BFF0-9B8506706612}" type="pres">
      <dgm:prSet presAssocID="{187C623A-682F-4AD3-B2B1-E2FBD19EC8C0}" presName="linear" presStyleCnt="0">
        <dgm:presLayoutVars>
          <dgm:animLvl val="lvl"/>
          <dgm:resizeHandles val="exact"/>
        </dgm:presLayoutVars>
      </dgm:prSet>
      <dgm:spPr/>
    </dgm:pt>
    <dgm:pt modelId="{573E8313-502B-4DF0-B2A0-6E0E2137A682}" type="pres">
      <dgm:prSet presAssocID="{4B35327C-EBEE-485E-ABDA-093A3E8A461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576563D8-5826-4B1F-AE72-A8231BF9A84D}" type="pres">
      <dgm:prSet presAssocID="{C1718EE9-AFC3-4047-A686-84A115E4276D}" presName="spacer" presStyleCnt="0"/>
      <dgm:spPr/>
    </dgm:pt>
    <dgm:pt modelId="{ECE2B7F1-B732-481F-A8A9-C22F13757335}" type="pres">
      <dgm:prSet presAssocID="{9789CE83-1B77-4198-910C-7BAFC038EE96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88751F33-BBE8-4D9D-A732-870B2C7F2A53}" type="pres">
      <dgm:prSet presAssocID="{8078509D-9684-4E1B-A835-6E274DCBBCF1}" presName="spacer" presStyleCnt="0"/>
      <dgm:spPr/>
    </dgm:pt>
    <dgm:pt modelId="{DF5B4CBD-63A6-4FF4-969C-1F95D99BC42A}" type="pres">
      <dgm:prSet presAssocID="{16BFF9C5-349E-433B-85B9-449592731086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24F3F4EA-F484-4EB4-97C3-27904334E928}" type="pres">
      <dgm:prSet presAssocID="{DCE6C0BC-5FC4-4D87-8405-0FC187A92A26}" presName="spacer" presStyleCnt="0"/>
      <dgm:spPr/>
    </dgm:pt>
    <dgm:pt modelId="{7380EFF2-E0CE-4C9A-A072-DA4D6E9B0B89}" type="pres">
      <dgm:prSet presAssocID="{1E79DC2C-48A8-4F85-8CE5-F71112CF7697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EA1C1849-D19C-47B3-A051-81F2C5AABE53}" type="pres">
      <dgm:prSet presAssocID="{273DB229-8C5A-451B-8B90-21804CDA43A3}" presName="spacer" presStyleCnt="0"/>
      <dgm:spPr/>
    </dgm:pt>
    <dgm:pt modelId="{8B064107-3AEC-4AC3-9AB5-9589A42684DA}" type="pres">
      <dgm:prSet presAssocID="{015971A4-BA52-42D1-A85A-3307CEC479C6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30749E25-D577-434F-A7ED-6461BE00CC90}" type="pres">
      <dgm:prSet presAssocID="{35436568-96BB-4DA6-8214-ABA797601603}" presName="spacer" presStyleCnt="0"/>
      <dgm:spPr/>
    </dgm:pt>
    <dgm:pt modelId="{E9AE27A5-7E6C-4778-ACCB-889AA4ECDFA2}" type="pres">
      <dgm:prSet presAssocID="{B58ABD8A-2CFD-4E5E-B8FA-2C2646C34D07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330A6743-71A9-4EB3-944D-DFCB80F39672}" type="pres">
      <dgm:prSet presAssocID="{9CAE34E2-0784-43D2-9F39-1CC0F5657F0C}" presName="spacer" presStyleCnt="0"/>
      <dgm:spPr/>
    </dgm:pt>
    <dgm:pt modelId="{E3754723-2017-4861-9A81-0F369728EAF1}" type="pres">
      <dgm:prSet presAssocID="{CB436EB8-9479-43C1-9B11-C9A46221A614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BBD9661C-F2CA-49E0-A375-3F07D5A06280}" type="pres">
      <dgm:prSet presAssocID="{26B6B5B5-A31E-4870-8084-85A1D5CE049D}" presName="spacer" presStyleCnt="0"/>
      <dgm:spPr/>
    </dgm:pt>
    <dgm:pt modelId="{C35F32BD-D47D-493A-B38A-89FC59C527A4}" type="pres">
      <dgm:prSet presAssocID="{6B8153BE-B672-46DF-884B-6F186818BE56}" presName="parentText" presStyleLbl="node1" presStyleIdx="7" presStyleCnt="8" custLinFactNeighborX="-1086" custLinFactNeighborY="-39074">
        <dgm:presLayoutVars>
          <dgm:chMax val="0"/>
          <dgm:bulletEnabled val="1"/>
        </dgm:presLayoutVars>
      </dgm:prSet>
      <dgm:spPr/>
    </dgm:pt>
  </dgm:ptLst>
  <dgm:cxnLst>
    <dgm:cxn modelId="{7967CA0C-A098-4832-BB72-F61E6CA81573}" type="presOf" srcId="{9789CE83-1B77-4198-910C-7BAFC038EE96}" destId="{ECE2B7F1-B732-481F-A8A9-C22F13757335}" srcOrd="0" destOrd="0" presId="urn:microsoft.com/office/officeart/2005/8/layout/vList2"/>
    <dgm:cxn modelId="{78D82D10-8E1A-4633-8841-16F7C902D5EE}" type="presOf" srcId="{187C623A-682F-4AD3-B2B1-E2FBD19EC8C0}" destId="{61AE9C93-8BEC-4936-BFF0-9B8506706612}" srcOrd="0" destOrd="0" presId="urn:microsoft.com/office/officeart/2005/8/layout/vList2"/>
    <dgm:cxn modelId="{964DBB13-AED1-4449-B6E7-5C4821354AA9}" type="presOf" srcId="{015971A4-BA52-42D1-A85A-3307CEC479C6}" destId="{8B064107-3AEC-4AC3-9AB5-9589A42684DA}" srcOrd="0" destOrd="0" presId="urn:microsoft.com/office/officeart/2005/8/layout/vList2"/>
    <dgm:cxn modelId="{7FE6D51A-CAFC-429C-8736-A5B32C77A71B}" type="presOf" srcId="{4B35327C-EBEE-485E-ABDA-093A3E8A461B}" destId="{573E8313-502B-4DF0-B2A0-6E0E2137A682}" srcOrd="0" destOrd="0" presId="urn:microsoft.com/office/officeart/2005/8/layout/vList2"/>
    <dgm:cxn modelId="{040DF832-3F46-426C-8324-9BC4BEB8A7DD}" srcId="{187C623A-682F-4AD3-B2B1-E2FBD19EC8C0}" destId="{4B35327C-EBEE-485E-ABDA-093A3E8A461B}" srcOrd="0" destOrd="0" parTransId="{ECE52D80-D918-4544-8F83-4336AD2F95D9}" sibTransId="{C1718EE9-AFC3-4047-A686-84A115E4276D}"/>
    <dgm:cxn modelId="{78B3D441-615A-4921-82B9-9E25B3E280AF}" type="presOf" srcId="{16BFF9C5-349E-433B-85B9-449592731086}" destId="{DF5B4CBD-63A6-4FF4-969C-1F95D99BC42A}" srcOrd="0" destOrd="0" presId="urn:microsoft.com/office/officeart/2005/8/layout/vList2"/>
    <dgm:cxn modelId="{4F34E44A-B5BC-4BBA-A603-1B3E3DA9EECD}" type="presOf" srcId="{CB436EB8-9479-43C1-9B11-C9A46221A614}" destId="{E3754723-2017-4861-9A81-0F369728EAF1}" srcOrd="0" destOrd="0" presId="urn:microsoft.com/office/officeart/2005/8/layout/vList2"/>
    <dgm:cxn modelId="{A8EAD06D-96BE-48AE-B8F1-B2A14796757C}" srcId="{187C623A-682F-4AD3-B2B1-E2FBD19EC8C0}" destId="{16BFF9C5-349E-433B-85B9-449592731086}" srcOrd="2" destOrd="0" parTransId="{E2A0446D-B5F0-44D7-87CE-A906F69BABE3}" sibTransId="{DCE6C0BC-5FC4-4D87-8405-0FC187A92A26}"/>
    <dgm:cxn modelId="{92E8DF8D-E401-4DF1-801C-A3469F5A2846}" srcId="{187C623A-682F-4AD3-B2B1-E2FBD19EC8C0}" destId="{1E79DC2C-48A8-4F85-8CE5-F71112CF7697}" srcOrd="3" destOrd="0" parTransId="{1C020B38-6071-495B-8EB7-09A81382F739}" sibTransId="{273DB229-8C5A-451B-8B90-21804CDA43A3}"/>
    <dgm:cxn modelId="{86A0A0B1-4284-47DC-9052-BBD74C7C5093}" srcId="{187C623A-682F-4AD3-B2B1-E2FBD19EC8C0}" destId="{6B8153BE-B672-46DF-884B-6F186818BE56}" srcOrd="7" destOrd="0" parTransId="{6D340A05-D008-461C-9E04-90585F82CD66}" sibTransId="{F0255D4C-DBB0-4B76-AC49-279887EE89C3}"/>
    <dgm:cxn modelId="{FD1DB6B2-B733-45CF-91E3-28735CEFAC95}" srcId="{187C623A-682F-4AD3-B2B1-E2FBD19EC8C0}" destId="{CB436EB8-9479-43C1-9B11-C9A46221A614}" srcOrd="6" destOrd="0" parTransId="{FDD62AC3-318A-4712-8503-61B97F6F230A}" sibTransId="{26B6B5B5-A31E-4870-8084-85A1D5CE049D}"/>
    <dgm:cxn modelId="{C08675BF-34A1-4832-86C3-DF08AFD0A022}" type="presOf" srcId="{B58ABD8A-2CFD-4E5E-B8FA-2C2646C34D07}" destId="{E9AE27A5-7E6C-4778-ACCB-889AA4ECDFA2}" srcOrd="0" destOrd="0" presId="urn:microsoft.com/office/officeart/2005/8/layout/vList2"/>
    <dgm:cxn modelId="{82881AE1-58FB-47A5-8AD4-B69C2BDEE62F}" srcId="{187C623A-682F-4AD3-B2B1-E2FBD19EC8C0}" destId="{9789CE83-1B77-4198-910C-7BAFC038EE96}" srcOrd="1" destOrd="0" parTransId="{095CF191-1B4A-4FF2-8B0A-BC83E32BA7E3}" sibTransId="{8078509D-9684-4E1B-A835-6E274DCBBCF1}"/>
    <dgm:cxn modelId="{6E00B9F8-EB99-4E73-B148-586BA7A466BA}" srcId="{187C623A-682F-4AD3-B2B1-E2FBD19EC8C0}" destId="{015971A4-BA52-42D1-A85A-3307CEC479C6}" srcOrd="4" destOrd="0" parTransId="{A456F805-2C47-40F7-801B-D565AB77D23C}" sibTransId="{35436568-96BB-4DA6-8214-ABA797601603}"/>
    <dgm:cxn modelId="{A9100FFA-9B79-4A21-85F6-1728C5E41821}" type="presOf" srcId="{6B8153BE-B672-46DF-884B-6F186818BE56}" destId="{C35F32BD-D47D-493A-B38A-89FC59C527A4}" srcOrd="0" destOrd="0" presId="urn:microsoft.com/office/officeart/2005/8/layout/vList2"/>
    <dgm:cxn modelId="{8374A9FB-97F1-4310-A257-302CFA9DB60E}" type="presOf" srcId="{1E79DC2C-48A8-4F85-8CE5-F71112CF7697}" destId="{7380EFF2-E0CE-4C9A-A072-DA4D6E9B0B89}" srcOrd="0" destOrd="0" presId="urn:microsoft.com/office/officeart/2005/8/layout/vList2"/>
    <dgm:cxn modelId="{1E12E3FD-558E-44E2-83EF-500D156353F0}" srcId="{187C623A-682F-4AD3-B2B1-E2FBD19EC8C0}" destId="{B58ABD8A-2CFD-4E5E-B8FA-2C2646C34D07}" srcOrd="5" destOrd="0" parTransId="{56344B36-BCCC-43F3-9DD5-16DF50ABFB15}" sibTransId="{9CAE34E2-0784-43D2-9F39-1CC0F5657F0C}"/>
    <dgm:cxn modelId="{91DFEC02-0BC6-4561-AADC-23D3B79D30DD}" type="presParOf" srcId="{61AE9C93-8BEC-4936-BFF0-9B8506706612}" destId="{573E8313-502B-4DF0-B2A0-6E0E2137A682}" srcOrd="0" destOrd="0" presId="urn:microsoft.com/office/officeart/2005/8/layout/vList2"/>
    <dgm:cxn modelId="{C2610E1C-3F70-49F9-9749-BE111A13DE97}" type="presParOf" srcId="{61AE9C93-8BEC-4936-BFF0-9B8506706612}" destId="{576563D8-5826-4B1F-AE72-A8231BF9A84D}" srcOrd="1" destOrd="0" presId="urn:microsoft.com/office/officeart/2005/8/layout/vList2"/>
    <dgm:cxn modelId="{A58D0371-7B8A-48DB-A50F-CEAF5C13F5BD}" type="presParOf" srcId="{61AE9C93-8BEC-4936-BFF0-9B8506706612}" destId="{ECE2B7F1-B732-481F-A8A9-C22F13757335}" srcOrd="2" destOrd="0" presId="urn:microsoft.com/office/officeart/2005/8/layout/vList2"/>
    <dgm:cxn modelId="{8C6E1644-63AA-44C6-A81A-FBC8F1BA32F0}" type="presParOf" srcId="{61AE9C93-8BEC-4936-BFF0-9B8506706612}" destId="{88751F33-BBE8-4D9D-A732-870B2C7F2A53}" srcOrd="3" destOrd="0" presId="urn:microsoft.com/office/officeart/2005/8/layout/vList2"/>
    <dgm:cxn modelId="{0F041A95-004D-496C-834B-03E45BBE47DC}" type="presParOf" srcId="{61AE9C93-8BEC-4936-BFF0-9B8506706612}" destId="{DF5B4CBD-63A6-4FF4-969C-1F95D99BC42A}" srcOrd="4" destOrd="0" presId="urn:microsoft.com/office/officeart/2005/8/layout/vList2"/>
    <dgm:cxn modelId="{87F35D9C-5ED1-41CA-A88D-7D4E84D28B46}" type="presParOf" srcId="{61AE9C93-8BEC-4936-BFF0-9B8506706612}" destId="{24F3F4EA-F484-4EB4-97C3-27904334E928}" srcOrd="5" destOrd="0" presId="urn:microsoft.com/office/officeart/2005/8/layout/vList2"/>
    <dgm:cxn modelId="{EF21B1C1-C63F-4F3B-A661-A65C66DF17CE}" type="presParOf" srcId="{61AE9C93-8BEC-4936-BFF0-9B8506706612}" destId="{7380EFF2-E0CE-4C9A-A072-DA4D6E9B0B89}" srcOrd="6" destOrd="0" presId="urn:microsoft.com/office/officeart/2005/8/layout/vList2"/>
    <dgm:cxn modelId="{AC751242-21A8-4CCF-BBB7-98157755843B}" type="presParOf" srcId="{61AE9C93-8BEC-4936-BFF0-9B8506706612}" destId="{EA1C1849-D19C-47B3-A051-81F2C5AABE53}" srcOrd="7" destOrd="0" presId="urn:microsoft.com/office/officeart/2005/8/layout/vList2"/>
    <dgm:cxn modelId="{1431933E-D940-43B8-B879-4AA6BD6CA7B1}" type="presParOf" srcId="{61AE9C93-8BEC-4936-BFF0-9B8506706612}" destId="{8B064107-3AEC-4AC3-9AB5-9589A42684DA}" srcOrd="8" destOrd="0" presId="urn:microsoft.com/office/officeart/2005/8/layout/vList2"/>
    <dgm:cxn modelId="{B63F6B53-6B87-4745-A33F-02DA2A815C70}" type="presParOf" srcId="{61AE9C93-8BEC-4936-BFF0-9B8506706612}" destId="{30749E25-D577-434F-A7ED-6461BE00CC90}" srcOrd="9" destOrd="0" presId="urn:microsoft.com/office/officeart/2005/8/layout/vList2"/>
    <dgm:cxn modelId="{6A87A78E-6C04-4398-8934-EC3BC54DE4E2}" type="presParOf" srcId="{61AE9C93-8BEC-4936-BFF0-9B8506706612}" destId="{E9AE27A5-7E6C-4778-ACCB-889AA4ECDFA2}" srcOrd="10" destOrd="0" presId="urn:microsoft.com/office/officeart/2005/8/layout/vList2"/>
    <dgm:cxn modelId="{8C913559-6E1C-46A9-A938-548B058E4497}" type="presParOf" srcId="{61AE9C93-8BEC-4936-BFF0-9B8506706612}" destId="{330A6743-71A9-4EB3-944D-DFCB80F39672}" srcOrd="11" destOrd="0" presId="urn:microsoft.com/office/officeart/2005/8/layout/vList2"/>
    <dgm:cxn modelId="{A261E658-1C93-4BC7-9C71-A265E8D59553}" type="presParOf" srcId="{61AE9C93-8BEC-4936-BFF0-9B8506706612}" destId="{E3754723-2017-4861-9A81-0F369728EAF1}" srcOrd="12" destOrd="0" presId="urn:microsoft.com/office/officeart/2005/8/layout/vList2"/>
    <dgm:cxn modelId="{E5F85C71-1589-4A7A-9BDC-BF06CDC5B4FB}" type="presParOf" srcId="{61AE9C93-8BEC-4936-BFF0-9B8506706612}" destId="{BBD9661C-F2CA-49E0-A375-3F07D5A06280}" srcOrd="13" destOrd="0" presId="urn:microsoft.com/office/officeart/2005/8/layout/vList2"/>
    <dgm:cxn modelId="{08B4CE53-06A4-497B-890B-DF0D9F125E04}" type="presParOf" srcId="{61AE9C93-8BEC-4936-BFF0-9B8506706612}" destId="{C35F32BD-D47D-493A-B38A-89FC59C527A4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777D4B3-E748-43BC-94D4-86E221ECC40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A0D634-5BB9-4A6E-A11E-EABF85F044FD}">
      <dgm:prSet phldrT="[Text]" phldr="0"/>
      <dgm:spPr/>
      <dgm:t>
        <a:bodyPr/>
        <a:lstStyle/>
        <a:p>
          <a:r>
            <a:rPr lang="en-US" dirty="0"/>
            <a:t>Learn patterns from historical data</a:t>
          </a:r>
        </a:p>
      </dgm:t>
    </dgm:pt>
    <dgm:pt modelId="{98A23B88-F7B7-4A24-9D96-D2623CCA22DB}" type="parTrans" cxnId="{7B253B17-2257-449D-959A-63ECAA416448}">
      <dgm:prSet/>
      <dgm:spPr/>
      <dgm:t>
        <a:bodyPr/>
        <a:lstStyle/>
        <a:p>
          <a:endParaRPr lang="en-US"/>
        </a:p>
      </dgm:t>
    </dgm:pt>
    <dgm:pt modelId="{8D7EBBD1-FD4E-4FF2-A7AC-194040403DFC}" type="sibTrans" cxnId="{7B253B17-2257-449D-959A-63ECAA416448}">
      <dgm:prSet/>
      <dgm:spPr/>
      <dgm:t>
        <a:bodyPr/>
        <a:lstStyle/>
        <a:p>
          <a:endParaRPr lang="en-US"/>
        </a:p>
      </dgm:t>
    </dgm:pt>
    <dgm:pt modelId="{B4B5A372-3117-41FF-A0A2-0817EE7A4BFD}">
      <dgm:prSet phldrT="[Text]" phldr="0"/>
      <dgm:spPr/>
      <dgm:t>
        <a:bodyPr/>
        <a:lstStyle/>
        <a:p>
          <a:r>
            <a:rPr lang="en-US" dirty="0"/>
            <a:t>Calibrate to match reality and adjust unknowns</a:t>
          </a:r>
        </a:p>
      </dgm:t>
    </dgm:pt>
    <dgm:pt modelId="{688C6870-7775-423B-9F87-E2B9C78C7673}" type="parTrans" cxnId="{1E561243-D8E0-4D0B-8849-DAB12F3C48FD}">
      <dgm:prSet/>
      <dgm:spPr/>
      <dgm:t>
        <a:bodyPr/>
        <a:lstStyle/>
        <a:p>
          <a:endParaRPr lang="en-US"/>
        </a:p>
      </dgm:t>
    </dgm:pt>
    <dgm:pt modelId="{EDDC424E-2F8F-4FFD-8BF3-B0FBCB7226EF}" type="sibTrans" cxnId="{1E561243-D8E0-4D0B-8849-DAB12F3C48FD}">
      <dgm:prSet/>
      <dgm:spPr/>
      <dgm:t>
        <a:bodyPr/>
        <a:lstStyle/>
        <a:p>
          <a:endParaRPr lang="en-US"/>
        </a:p>
      </dgm:t>
    </dgm:pt>
    <dgm:pt modelId="{13F4A875-30CE-4146-BFDD-F2340E039F27}">
      <dgm:prSet phldrT="[Text]" phldr="0"/>
      <dgm:spPr/>
      <dgm:t>
        <a:bodyPr/>
        <a:lstStyle/>
        <a:p>
          <a:r>
            <a:rPr lang="en-US" dirty="0"/>
            <a:t>Test and evaluate on unseen data</a:t>
          </a:r>
        </a:p>
      </dgm:t>
    </dgm:pt>
    <dgm:pt modelId="{49F501F1-1724-4269-A0AF-579AC76788EE}" type="parTrans" cxnId="{5EF447F3-A1C2-4D7F-BCD3-D3796C285C98}">
      <dgm:prSet/>
      <dgm:spPr/>
      <dgm:t>
        <a:bodyPr/>
        <a:lstStyle/>
        <a:p>
          <a:endParaRPr lang="en-US"/>
        </a:p>
      </dgm:t>
    </dgm:pt>
    <dgm:pt modelId="{B8C6667B-E14B-4B9C-90E1-966453DE0C49}" type="sibTrans" cxnId="{5EF447F3-A1C2-4D7F-BCD3-D3796C285C98}">
      <dgm:prSet/>
      <dgm:spPr/>
      <dgm:t>
        <a:bodyPr/>
        <a:lstStyle/>
        <a:p>
          <a:endParaRPr lang="en-US"/>
        </a:p>
      </dgm:t>
    </dgm:pt>
    <dgm:pt modelId="{256EA787-2812-48FF-8DC5-B47DD499FA79}">
      <dgm:prSet phldrT="[Text]" phldr="0"/>
      <dgm:spPr/>
      <dgm:t>
        <a:bodyPr/>
        <a:lstStyle/>
        <a:p>
          <a:r>
            <a:rPr lang="en-US" dirty="0"/>
            <a:t>Model deployment</a:t>
          </a:r>
        </a:p>
      </dgm:t>
    </dgm:pt>
    <dgm:pt modelId="{9D573399-0515-4C77-9C1E-2744873068F2}" type="parTrans" cxnId="{1FD2C138-3E2C-469C-AA13-9156739E0815}">
      <dgm:prSet/>
      <dgm:spPr/>
      <dgm:t>
        <a:bodyPr/>
        <a:lstStyle/>
        <a:p>
          <a:endParaRPr lang="en-US"/>
        </a:p>
      </dgm:t>
    </dgm:pt>
    <dgm:pt modelId="{7F3488B6-2373-4B41-B01F-C10A9F1BF66A}" type="sibTrans" cxnId="{1FD2C138-3E2C-469C-AA13-9156739E0815}">
      <dgm:prSet/>
      <dgm:spPr/>
      <dgm:t>
        <a:bodyPr/>
        <a:lstStyle/>
        <a:p>
          <a:endParaRPr lang="en-US"/>
        </a:p>
      </dgm:t>
    </dgm:pt>
    <dgm:pt modelId="{3285BC4E-F34D-4494-9DFD-2366F27ADC0B}" type="pres">
      <dgm:prSet presAssocID="{E777D4B3-E748-43BC-94D4-86E221ECC400}" presName="Name0" presStyleCnt="0">
        <dgm:presLayoutVars>
          <dgm:dir/>
          <dgm:resizeHandles val="exact"/>
        </dgm:presLayoutVars>
      </dgm:prSet>
      <dgm:spPr/>
    </dgm:pt>
    <dgm:pt modelId="{99166C3A-46CB-444F-B616-9D912904E871}" type="pres">
      <dgm:prSet presAssocID="{52A0D634-5BB9-4A6E-A11E-EABF85F044FD}" presName="node" presStyleLbl="node1" presStyleIdx="0" presStyleCnt="4">
        <dgm:presLayoutVars>
          <dgm:bulletEnabled val="1"/>
        </dgm:presLayoutVars>
      </dgm:prSet>
      <dgm:spPr/>
    </dgm:pt>
    <dgm:pt modelId="{0D6ED083-6DBF-4011-A794-60F27139A316}" type="pres">
      <dgm:prSet presAssocID="{8D7EBBD1-FD4E-4FF2-A7AC-194040403DFC}" presName="sibTrans" presStyleLbl="sibTrans2D1" presStyleIdx="0" presStyleCnt="3"/>
      <dgm:spPr/>
    </dgm:pt>
    <dgm:pt modelId="{58E8645D-5946-438F-B7FC-DF17FA444713}" type="pres">
      <dgm:prSet presAssocID="{8D7EBBD1-FD4E-4FF2-A7AC-194040403DFC}" presName="connectorText" presStyleLbl="sibTrans2D1" presStyleIdx="0" presStyleCnt="3"/>
      <dgm:spPr/>
    </dgm:pt>
    <dgm:pt modelId="{6B37598B-5E96-45EE-8E21-24D5FE0AD20E}" type="pres">
      <dgm:prSet presAssocID="{B4B5A372-3117-41FF-A0A2-0817EE7A4BFD}" presName="node" presStyleLbl="node1" presStyleIdx="1" presStyleCnt="4">
        <dgm:presLayoutVars>
          <dgm:bulletEnabled val="1"/>
        </dgm:presLayoutVars>
      </dgm:prSet>
      <dgm:spPr/>
    </dgm:pt>
    <dgm:pt modelId="{BC4B1734-A7AA-4CAA-B89A-7171CF1EC0B0}" type="pres">
      <dgm:prSet presAssocID="{EDDC424E-2F8F-4FFD-8BF3-B0FBCB7226EF}" presName="sibTrans" presStyleLbl="sibTrans2D1" presStyleIdx="1" presStyleCnt="3"/>
      <dgm:spPr/>
    </dgm:pt>
    <dgm:pt modelId="{7B745204-DF5A-40D6-8ACA-C83A119E36E2}" type="pres">
      <dgm:prSet presAssocID="{EDDC424E-2F8F-4FFD-8BF3-B0FBCB7226EF}" presName="connectorText" presStyleLbl="sibTrans2D1" presStyleIdx="1" presStyleCnt="3"/>
      <dgm:spPr/>
    </dgm:pt>
    <dgm:pt modelId="{059AD5FF-ADC4-4194-B6DA-AFC0783A640E}" type="pres">
      <dgm:prSet presAssocID="{13F4A875-30CE-4146-BFDD-F2340E039F27}" presName="node" presStyleLbl="node1" presStyleIdx="2" presStyleCnt="4">
        <dgm:presLayoutVars>
          <dgm:bulletEnabled val="1"/>
        </dgm:presLayoutVars>
      </dgm:prSet>
      <dgm:spPr/>
    </dgm:pt>
    <dgm:pt modelId="{06EC9161-72F4-46A7-991E-4E1B26417EB3}" type="pres">
      <dgm:prSet presAssocID="{B8C6667B-E14B-4B9C-90E1-966453DE0C49}" presName="sibTrans" presStyleLbl="sibTrans2D1" presStyleIdx="2" presStyleCnt="3"/>
      <dgm:spPr/>
    </dgm:pt>
    <dgm:pt modelId="{175C9EA2-EA17-45C4-9CBB-AD10C3339C43}" type="pres">
      <dgm:prSet presAssocID="{B8C6667B-E14B-4B9C-90E1-966453DE0C49}" presName="connectorText" presStyleLbl="sibTrans2D1" presStyleIdx="2" presStyleCnt="3"/>
      <dgm:spPr/>
    </dgm:pt>
    <dgm:pt modelId="{22FEFE0C-0359-433F-B6EC-4D194B2175AD}" type="pres">
      <dgm:prSet presAssocID="{256EA787-2812-48FF-8DC5-B47DD499FA79}" presName="node" presStyleLbl="node1" presStyleIdx="3" presStyleCnt="4">
        <dgm:presLayoutVars>
          <dgm:bulletEnabled val="1"/>
        </dgm:presLayoutVars>
      </dgm:prSet>
      <dgm:spPr/>
    </dgm:pt>
  </dgm:ptLst>
  <dgm:cxnLst>
    <dgm:cxn modelId="{E7CF560B-0C35-48B2-9531-3938F27108A1}" type="presOf" srcId="{EDDC424E-2F8F-4FFD-8BF3-B0FBCB7226EF}" destId="{7B745204-DF5A-40D6-8ACA-C83A119E36E2}" srcOrd="1" destOrd="0" presId="urn:microsoft.com/office/officeart/2005/8/layout/process1"/>
    <dgm:cxn modelId="{7B253B17-2257-449D-959A-63ECAA416448}" srcId="{E777D4B3-E748-43BC-94D4-86E221ECC400}" destId="{52A0D634-5BB9-4A6E-A11E-EABF85F044FD}" srcOrd="0" destOrd="0" parTransId="{98A23B88-F7B7-4A24-9D96-D2623CCA22DB}" sibTransId="{8D7EBBD1-FD4E-4FF2-A7AC-194040403DFC}"/>
    <dgm:cxn modelId="{40FAFB17-199B-4682-8FBF-A1741414F28B}" type="presOf" srcId="{B8C6667B-E14B-4B9C-90E1-966453DE0C49}" destId="{06EC9161-72F4-46A7-991E-4E1B26417EB3}" srcOrd="0" destOrd="0" presId="urn:microsoft.com/office/officeart/2005/8/layout/process1"/>
    <dgm:cxn modelId="{6F2A2F1D-BCAB-4D0F-94E6-64BFBC464A99}" type="presOf" srcId="{8D7EBBD1-FD4E-4FF2-A7AC-194040403DFC}" destId="{0D6ED083-6DBF-4011-A794-60F27139A316}" srcOrd="0" destOrd="0" presId="urn:microsoft.com/office/officeart/2005/8/layout/process1"/>
    <dgm:cxn modelId="{1FD2C138-3E2C-469C-AA13-9156739E0815}" srcId="{E777D4B3-E748-43BC-94D4-86E221ECC400}" destId="{256EA787-2812-48FF-8DC5-B47DD499FA79}" srcOrd="3" destOrd="0" parTransId="{9D573399-0515-4C77-9C1E-2744873068F2}" sibTransId="{7F3488B6-2373-4B41-B01F-C10A9F1BF66A}"/>
    <dgm:cxn modelId="{1E561243-D8E0-4D0B-8849-DAB12F3C48FD}" srcId="{E777D4B3-E748-43BC-94D4-86E221ECC400}" destId="{B4B5A372-3117-41FF-A0A2-0817EE7A4BFD}" srcOrd="1" destOrd="0" parTransId="{688C6870-7775-423B-9F87-E2B9C78C7673}" sibTransId="{EDDC424E-2F8F-4FFD-8BF3-B0FBCB7226EF}"/>
    <dgm:cxn modelId="{6F04AB43-83FB-4E03-AEBE-5390B1147215}" type="presOf" srcId="{B4B5A372-3117-41FF-A0A2-0817EE7A4BFD}" destId="{6B37598B-5E96-45EE-8E21-24D5FE0AD20E}" srcOrd="0" destOrd="0" presId="urn:microsoft.com/office/officeart/2005/8/layout/process1"/>
    <dgm:cxn modelId="{17775B67-4E34-48D9-845F-9DA09344F219}" type="presOf" srcId="{B8C6667B-E14B-4B9C-90E1-966453DE0C49}" destId="{175C9EA2-EA17-45C4-9CBB-AD10C3339C43}" srcOrd="1" destOrd="0" presId="urn:microsoft.com/office/officeart/2005/8/layout/process1"/>
    <dgm:cxn modelId="{34BB2A4E-3494-4C88-8061-46A546EA02AD}" type="presOf" srcId="{EDDC424E-2F8F-4FFD-8BF3-B0FBCB7226EF}" destId="{BC4B1734-A7AA-4CAA-B89A-7171CF1EC0B0}" srcOrd="0" destOrd="0" presId="urn:microsoft.com/office/officeart/2005/8/layout/process1"/>
    <dgm:cxn modelId="{077C97B2-D713-4304-BAAD-AED28F15E5AA}" type="presOf" srcId="{8D7EBBD1-FD4E-4FF2-A7AC-194040403DFC}" destId="{58E8645D-5946-438F-B7FC-DF17FA444713}" srcOrd="1" destOrd="0" presId="urn:microsoft.com/office/officeart/2005/8/layout/process1"/>
    <dgm:cxn modelId="{4EEB9AB8-DAF2-4F9C-A310-110B44601FA8}" type="presOf" srcId="{E777D4B3-E748-43BC-94D4-86E221ECC400}" destId="{3285BC4E-F34D-4494-9DFD-2366F27ADC0B}" srcOrd="0" destOrd="0" presId="urn:microsoft.com/office/officeart/2005/8/layout/process1"/>
    <dgm:cxn modelId="{E05E4BC1-0CAC-4946-AC7A-CDD110C2525C}" type="presOf" srcId="{256EA787-2812-48FF-8DC5-B47DD499FA79}" destId="{22FEFE0C-0359-433F-B6EC-4D194B2175AD}" srcOrd="0" destOrd="0" presId="urn:microsoft.com/office/officeart/2005/8/layout/process1"/>
    <dgm:cxn modelId="{41FA82C8-9589-4D69-9890-8B0C382C8308}" type="presOf" srcId="{13F4A875-30CE-4146-BFDD-F2340E039F27}" destId="{059AD5FF-ADC4-4194-B6DA-AFC0783A640E}" srcOrd="0" destOrd="0" presId="urn:microsoft.com/office/officeart/2005/8/layout/process1"/>
    <dgm:cxn modelId="{A23541EA-99A1-4B57-B1B0-5A10C5501EF8}" type="presOf" srcId="{52A0D634-5BB9-4A6E-A11E-EABF85F044FD}" destId="{99166C3A-46CB-444F-B616-9D912904E871}" srcOrd="0" destOrd="0" presId="urn:microsoft.com/office/officeart/2005/8/layout/process1"/>
    <dgm:cxn modelId="{5EF447F3-A1C2-4D7F-BCD3-D3796C285C98}" srcId="{E777D4B3-E748-43BC-94D4-86E221ECC400}" destId="{13F4A875-30CE-4146-BFDD-F2340E039F27}" srcOrd="2" destOrd="0" parTransId="{49F501F1-1724-4269-A0AF-579AC76788EE}" sibTransId="{B8C6667B-E14B-4B9C-90E1-966453DE0C49}"/>
    <dgm:cxn modelId="{2C770A98-A235-4320-933F-AD80C1B786B9}" type="presParOf" srcId="{3285BC4E-F34D-4494-9DFD-2366F27ADC0B}" destId="{99166C3A-46CB-444F-B616-9D912904E871}" srcOrd="0" destOrd="0" presId="urn:microsoft.com/office/officeart/2005/8/layout/process1"/>
    <dgm:cxn modelId="{2D0710BA-194F-4C8F-822A-188873BD47BC}" type="presParOf" srcId="{3285BC4E-F34D-4494-9DFD-2366F27ADC0B}" destId="{0D6ED083-6DBF-4011-A794-60F27139A316}" srcOrd="1" destOrd="0" presId="urn:microsoft.com/office/officeart/2005/8/layout/process1"/>
    <dgm:cxn modelId="{CEEB8BEB-08B8-479D-9A59-39894E40C726}" type="presParOf" srcId="{0D6ED083-6DBF-4011-A794-60F27139A316}" destId="{58E8645D-5946-438F-B7FC-DF17FA444713}" srcOrd="0" destOrd="0" presId="urn:microsoft.com/office/officeart/2005/8/layout/process1"/>
    <dgm:cxn modelId="{0564F2D2-FEA4-4DBC-B530-E70D88C13CC6}" type="presParOf" srcId="{3285BC4E-F34D-4494-9DFD-2366F27ADC0B}" destId="{6B37598B-5E96-45EE-8E21-24D5FE0AD20E}" srcOrd="2" destOrd="0" presId="urn:microsoft.com/office/officeart/2005/8/layout/process1"/>
    <dgm:cxn modelId="{7BD70447-5FF9-490D-8E1E-9C1FD618D6A7}" type="presParOf" srcId="{3285BC4E-F34D-4494-9DFD-2366F27ADC0B}" destId="{BC4B1734-A7AA-4CAA-B89A-7171CF1EC0B0}" srcOrd="3" destOrd="0" presId="urn:microsoft.com/office/officeart/2005/8/layout/process1"/>
    <dgm:cxn modelId="{AF0A815D-B750-4633-9C44-AB55A4BA4CFF}" type="presParOf" srcId="{BC4B1734-A7AA-4CAA-B89A-7171CF1EC0B0}" destId="{7B745204-DF5A-40D6-8ACA-C83A119E36E2}" srcOrd="0" destOrd="0" presId="urn:microsoft.com/office/officeart/2005/8/layout/process1"/>
    <dgm:cxn modelId="{3861FAAE-6114-4994-8375-952769149417}" type="presParOf" srcId="{3285BC4E-F34D-4494-9DFD-2366F27ADC0B}" destId="{059AD5FF-ADC4-4194-B6DA-AFC0783A640E}" srcOrd="4" destOrd="0" presId="urn:microsoft.com/office/officeart/2005/8/layout/process1"/>
    <dgm:cxn modelId="{11851379-091F-4865-8619-DFAD354E1BA2}" type="presParOf" srcId="{3285BC4E-F34D-4494-9DFD-2366F27ADC0B}" destId="{06EC9161-72F4-46A7-991E-4E1B26417EB3}" srcOrd="5" destOrd="0" presId="urn:microsoft.com/office/officeart/2005/8/layout/process1"/>
    <dgm:cxn modelId="{2FCC5010-A8F6-4CBA-BC70-5B5F84D63868}" type="presParOf" srcId="{06EC9161-72F4-46A7-991E-4E1B26417EB3}" destId="{175C9EA2-EA17-45C4-9CBB-AD10C3339C43}" srcOrd="0" destOrd="0" presId="urn:microsoft.com/office/officeart/2005/8/layout/process1"/>
    <dgm:cxn modelId="{59535530-6B4E-4A9A-B5C5-1707FEECDC40}" type="presParOf" srcId="{3285BC4E-F34D-4494-9DFD-2366F27ADC0B}" destId="{22FEFE0C-0359-433F-B6EC-4D194B2175A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01699BB-2F1C-4238-9099-5A96DDBC4C38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6191B7-42DB-4D4F-9374-E5CB679CDA10}">
      <dgm:prSet phldrT="Title" phldr="0"/>
      <dgm:spPr/>
      <dgm:t>
        <a:bodyPr/>
        <a:lstStyle/>
        <a:p>
          <a:r>
            <a:rPr lang="en-US" dirty="0"/>
            <a:t>Signal</a:t>
          </a:r>
        </a:p>
      </dgm:t>
    </dgm:pt>
    <dgm:pt modelId="{46403B7A-2BA1-4154-A70D-B7B78411D8B7}" type="parTrans" cxnId="{D699A31C-5EC4-41DA-896B-79CB576365C6}">
      <dgm:prSet/>
      <dgm:spPr/>
      <dgm:t>
        <a:bodyPr/>
        <a:lstStyle/>
        <a:p>
          <a:endParaRPr lang="en-US"/>
        </a:p>
      </dgm:t>
    </dgm:pt>
    <dgm:pt modelId="{A10EACA1-2DB4-4EF5-8A57-A0DB30664BBC}" type="sibTrans" cxnId="{D699A31C-5EC4-41DA-896B-79CB576365C6}">
      <dgm:prSet phldrT="01" phldr="0"/>
      <dgm:spPr/>
    </dgm:pt>
    <dgm:pt modelId="{B8852916-294D-4E84-B30A-4DE9D73ADA20}">
      <dgm:prSet phldrT="Description" phldr="0"/>
      <dgm:spPr/>
      <dgm:t>
        <a:bodyPr/>
        <a:lstStyle/>
        <a:p>
          <a:r>
            <a:rPr lang="en-US" dirty="0"/>
            <a:t>Relationship with target</a:t>
          </a:r>
        </a:p>
      </dgm:t>
    </dgm:pt>
    <dgm:pt modelId="{190EFBF8-2F34-4D92-A57F-376287DCB8BB}" type="parTrans" cxnId="{D18C9D07-3B9D-40BE-AE50-C2E7281AE124}">
      <dgm:prSet/>
      <dgm:spPr/>
      <dgm:t>
        <a:bodyPr/>
        <a:lstStyle/>
        <a:p>
          <a:endParaRPr lang="en-US"/>
        </a:p>
      </dgm:t>
    </dgm:pt>
    <dgm:pt modelId="{1844A35B-4214-40A3-A036-EA62A6C2E332}" type="sibTrans" cxnId="{D18C9D07-3B9D-40BE-AE50-C2E7281AE124}">
      <dgm:prSet/>
      <dgm:spPr/>
      <dgm:t>
        <a:bodyPr/>
        <a:lstStyle/>
        <a:p>
          <a:endParaRPr lang="en-US"/>
        </a:p>
      </dgm:t>
    </dgm:pt>
    <dgm:pt modelId="{333639AD-CF87-49F0-8F43-812DA08419BF}">
      <dgm:prSet phldrT="Title" phldr="0"/>
      <dgm:spPr/>
      <dgm:t>
        <a:bodyPr/>
        <a:lstStyle/>
        <a:p>
          <a:r>
            <a:rPr lang="en-US" dirty="0"/>
            <a:t>Unique</a:t>
          </a:r>
        </a:p>
      </dgm:t>
    </dgm:pt>
    <dgm:pt modelId="{F81398C5-598C-4E04-9665-1D9947755CA2}" type="parTrans" cxnId="{EBD5D801-E5B0-41D3-815E-DCFE152D5D67}">
      <dgm:prSet/>
      <dgm:spPr/>
      <dgm:t>
        <a:bodyPr/>
        <a:lstStyle/>
        <a:p>
          <a:endParaRPr lang="en-US"/>
        </a:p>
      </dgm:t>
    </dgm:pt>
    <dgm:pt modelId="{3D351B9F-1714-4289-A341-8583C6D1FA49}" type="sibTrans" cxnId="{EBD5D801-E5B0-41D3-815E-DCFE152D5D67}">
      <dgm:prSet phldrT="02" phldr="0"/>
      <dgm:spPr/>
    </dgm:pt>
    <dgm:pt modelId="{E0ADBE2E-936D-43CE-8C97-BA737A6523BF}">
      <dgm:prSet phldrT="Description" phldr="0"/>
      <dgm:spPr/>
      <dgm:t>
        <a:bodyPr/>
        <a:lstStyle/>
        <a:p>
          <a:r>
            <a:rPr lang="en-US" dirty="0"/>
            <a:t>Unique information to model</a:t>
          </a:r>
        </a:p>
      </dgm:t>
    </dgm:pt>
    <dgm:pt modelId="{CC0D974B-2336-4587-AD8E-86CB3A017A93}" type="parTrans" cxnId="{86FE91E5-6489-4E25-801D-FE5E4A84C1A8}">
      <dgm:prSet/>
      <dgm:spPr/>
      <dgm:t>
        <a:bodyPr/>
        <a:lstStyle/>
        <a:p>
          <a:endParaRPr lang="en-US"/>
        </a:p>
      </dgm:t>
    </dgm:pt>
    <dgm:pt modelId="{22A915ED-DCB6-4C10-8959-9FE57E1BEE0B}" type="sibTrans" cxnId="{86FE91E5-6489-4E25-801D-FE5E4A84C1A8}">
      <dgm:prSet/>
      <dgm:spPr/>
      <dgm:t>
        <a:bodyPr/>
        <a:lstStyle/>
        <a:p>
          <a:endParaRPr lang="en-US"/>
        </a:p>
      </dgm:t>
    </dgm:pt>
    <dgm:pt modelId="{088F61D7-6129-4064-8FBC-FA1B51778E1A}">
      <dgm:prSet phldrT="Title" phldr="0"/>
      <dgm:spPr/>
      <dgm:t>
        <a:bodyPr/>
        <a:lstStyle/>
        <a:p>
          <a:r>
            <a:rPr lang="en-US" dirty="0"/>
            <a:t>Insight</a:t>
          </a:r>
        </a:p>
      </dgm:t>
    </dgm:pt>
    <dgm:pt modelId="{583B8F16-9CEF-4A98-A4C7-B8E8D5D33C6B}" type="parTrans" cxnId="{5681B2ED-3418-46EF-9D05-30333D0416E8}">
      <dgm:prSet/>
      <dgm:spPr/>
      <dgm:t>
        <a:bodyPr/>
        <a:lstStyle/>
        <a:p>
          <a:endParaRPr lang="en-US"/>
        </a:p>
      </dgm:t>
    </dgm:pt>
    <dgm:pt modelId="{9C2725FB-AE93-4156-9D24-BFED839D82B9}" type="sibTrans" cxnId="{5681B2ED-3418-46EF-9D05-30333D0416E8}">
      <dgm:prSet phldrT="03" phldr="0"/>
      <dgm:spPr/>
    </dgm:pt>
    <dgm:pt modelId="{E6FE557A-5427-4BB2-BB5F-902D8FE61144}">
      <dgm:prSet phldrT="Description" phldr="0"/>
      <dgm:spPr/>
      <dgm:t>
        <a:bodyPr/>
        <a:lstStyle/>
        <a:p>
          <a:r>
            <a:rPr lang="en-US" dirty="0"/>
            <a:t>Actionable and interpretable</a:t>
          </a:r>
        </a:p>
      </dgm:t>
    </dgm:pt>
    <dgm:pt modelId="{0A726ED0-CB3B-4744-961D-CB7CCE587B27}" type="parTrans" cxnId="{10A64A6F-8D83-41EB-B82A-316D2CFFED60}">
      <dgm:prSet/>
      <dgm:spPr/>
      <dgm:t>
        <a:bodyPr/>
        <a:lstStyle/>
        <a:p>
          <a:endParaRPr lang="en-US"/>
        </a:p>
      </dgm:t>
    </dgm:pt>
    <dgm:pt modelId="{DD554F78-4E0F-4022-A6B6-0F5CDB229F6B}" type="sibTrans" cxnId="{10A64A6F-8D83-41EB-B82A-316D2CFFED60}">
      <dgm:prSet/>
      <dgm:spPr/>
      <dgm:t>
        <a:bodyPr/>
        <a:lstStyle/>
        <a:p>
          <a:endParaRPr lang="en-US"/>
        </a:p>
      </dgm:t>
    </dgm:pt>
    <dgm:pt modelId="{4302C5A1-70AE-4CBA-BC0F-0A0615AC0856}">
      <dgm:prSet phldrT="Description" phldr="0"/>
      <dgm:spPr/>
      <dgm:t>
        <a:bodyPr/>
        <a:lstStyle/>
        <a:p>
          <a:r>
            <a:rPr lang="en-US" dirty="0"/>
            <a:t>Differences between groups</a:t>
          </a:r>
        </a:p>
      </dgm:t>
    </dgm:pt>
    <dgm:pt modelId="{138FB2D9-F60D-42DE-8358-67F875802366}" type="parTrans" cxnId="{7F605781-C63E-4255-9D17-321DC35C8B57}">
      <dgm:prSet/>
      <dgm:spPr/>
      <dgm:t>
        <a:bodyPr/>
        <a:lstStyle/>
        <a:p>
          <a:endParaRPr lang="en-US"/>
        </a:p>
      </dgm:t>
    </dgm:pt>
    <dgm:pt modelId="{BBD1F628-1185-4670-ACC8-5F0242B53812}" type="sibTrans" cxnId="{7F605781-C63E-4255-9D17-321DC35C8B57}">
      <dgm:prSet/>
      <dgm:spPr/>
      <dgm:t>
        <a:bodyPr/>
        <a:lstStyle/>
        <a:p>
          <a:endParaRPr lang="en-US"/>
        </a:p>
      </dgm:t>
    </dgm:pt>
    <dgm:pt modelId="{71552EAE-F1E9-4FE1-ADE1-305D3133B1A0}">
      <dgm:prSet phldrT="Description" phldr="0"/>
      <dgm:spPr/>
      <dgm:t>
        <a:bodyPr/>
        <a:lstStyle/>
        <a:p>
          <a:r>
            <a:rPr lang="en-US" dirty="0"/>
            <a:t>Aligns with business knowledge</a:t>
          </a:r>
        </a:p>
      </dgm:t>
    </dgm:pt>
    <dgm:pt modelId="{996FAD37-2B2A-4506-A2DC-BFAA4B3C5122}" type="parTrans" cxnId="{C944A278-DD3F-436F-8474-A90FA3F0A341}">
      <dgm:prSet/>
      <dgm:spPr/>
      <dgm:t>
        <a:bodyPr/>
        <a:lstStyle/>
        <a:p>
          <a:endParaRPr lang="en-US"/>
        </a:p>
      </dgm:t>
    </dgm:pt>
    <dgm:pt modelId="{F89BFC67-5B20-4172-A7C3-4EDCCCD4FD8C}" type="sibTrans" cxnId="{C944A278-DD3F-436F-8474-A90FA3F0A341}">
      <dgm:prSet/>
      <dgm:spPr/>
      <dgm:t>
        <a:bodyPr/>
        <a:lstStyle/>
        <a:p>
          <a:endParaRPr lang="en-US"/>
        </a:p>
      </dgm:t>
    </dgm:pt>
    <dgm:pt modelId="{92EAE791-D9EE-4FF2-A6B1-35138953C084}">
      <dgm:prSet phldrT="Description" phldr="0"/>
      <dgm:spPr/>
      <dgm:t>
        <a:bodyPr/>
        <a:lstStyle/>
        <a:p>
          <a:r>
            <a:rPr lang="en-US" dirty="0"/>
            <a:t>Durability</a:t>
          </a:r>
        </a:p>
      </dgm:t>
    </dgm:pt>
    <dgm:pt modelId="{F642C896-5645-42C2-96F1-8B06935DA03C}" type="sibTrans" cxnId="{6E07A24F-A52D-4F68-B087-3879697A3A39}">
      <dgm:prSet phldrT="04" phldr="0"/>
      <dgm:spPr/>
    </dgm:pt>
    <dgm:pt modelId="{918C37DE-0680-494D-B958-1DCFC5224204}" type="parTrans" cxnId="{6E07A24F-A52D-4F68-B087-3879697A3A39}">
      <dgm:prSet/>
      <dgm:spPr/>
      <dgm:t>
        <a:bodyPr/>
        <a:lstStyle/>
        <a:p>
          <a:endParaRPr lang="en-US"/>
        </a:p>
      </dgm:t>
    </dgm:pt>
    <dgm:pt modelId="{D1D90B41-94F0-4FED-8C62-76D576AA957E}">
      <dgm:prSet phldrT="Description" phldr="0"/>
      <dgm:spPr/>
      <dgm:t>
        <a:bodyPr/>
        <a:lstStyle/>
        <a:p>
          <a:r>
            <a:rPr lang="en-US"/>
            <a:t>Quality</a:t>
          </a:r>
          <a:endParaRPr lang="en-US" dirty="0"/>
        </a:p>
      </dgm:t>
    </dgm:pt>
    <dgm:pt modelId="{F56EFAB5-062D-4363-8897-6F3497EF3C72}" type="parTrans" cxnId="{7433B45E-5CC6-4671-8767-6670EBC56B98}">
      <dgm:prSet/>
      <dgm:spPr/>
      <dgm:t>
        <a:bodyPr/>
        <a:lstStyle/>
        <a:p>
          <a:endParaRPr lang="en-US"/>
        </a:p>
      </dgm:t>
    </dgm:pt>
    <dgm:pt modelId="{D3F0FB32-4039-41B3-A5FB-998B8756E19E}" type="sibTrans" cxnId="{7433B45E-5CC6-4671-8767-6670EBC56B98}">
      <dgm:prSet/>
      <dgm:spPr/>
      <dgm:t>
        <a:bodyPr/>
        <a:lstStyle/>
        <a:p>
          <a:endParaRPr lang="en-US"/>
        </a:p>
      </dgm:t>
    </dgm:pt>
    <dgm:pt modelId="{829A7000-DBAD-4407-B54D-FFAF4CE52DE5}">
      <dgm:prSet phldrT="Description" phldr="0"/>
      <dgm:spPr/>
      <dgm:t>
        <a:bodyPr/>
        <a:lstStyle/>
        <a:p>
          <a:r>
            <a:rPr lang="en-US" dirty="0"/>
            <a:t>Meaningfully improve key metrics</a:t>
          </a:r>
        </a:p>
      </dgm:t>
    </dgm:pt>
    <dgm:pt modelId="{506E5681-264F-4F72-A427-AF34826B826A}" type="parTrans" cxnId="{DA610220-6867-4830-8145-8AD7DEB1ED3C}">
      <dgm:prSet/>
      <dgm:spPr/>
      <dgm:t>
        <a:bodyPr/>
        <a:lstStyle/>
        <a:p>
          <a:endParaRPr lang="en-US"/>
        </a:p>
      </dgm:t>
    </dgm:pt>
    <dgm:pt modelId="{C4172DFF-67F4-4CE0-A4D0-5DC5A6055A71}" type="sibTrans" cxnId="{DA610220-6867-4830-8145-8AD7DEB1ED3C}">
      <dgm:prSet/>
      <dgm:spPr/>
      <dgm:t>
        <a:bodyPr/>
        <a:lstStyle/>
        <a:p>
          <a:endParaRPr lang="en-US"/>
        </a:p>
      </dgm:t>
    </dgm:pt>
    <dgm:pt modelId="{5D90C3D8-E943-4F7B-97EB-1680CCC82032}">
      <dgm:prSet phldrT="Description" phldr="0"/>
      <dgm:spPr/>
      <dgm:t>
        <a:bodyPr/>
        <a:lstStyle/>
        <a:p>
          <a:r>
            <a:rPr lang="en-US"/>
            <a:t>Elastic with changes in regime and behavior</a:t>
          </a:r>
          <a:endParaRPr lang="en-US" dirty="0"/>
        </a:p>
      </dgm:t>
    </dgm:pt>
    <dgm:pt modelId="{6761C250-F032-4423-AB1F-8AF6C36E135D}" type="parTrans" cxnId="{A6043EC8-4D2A-4047-8AAD-0B3FF0CA1784}">
      <dgm:prSet/>
      <dgm:spPr/>
      <dgm:t>
        <a:bodyPr/>
        <a:lstStyle/>
        <a:p>
          <a:endParaRPr lang="en-US"/>
        </a:p>
      </dgm:t>
    </dgm:pt>
    <dgm:pt modelId="{3927F2F3-B416-4D53-B8DE-A50BB0E1B5E0}" type="sibTrans" cxnId="{A6043EC8-4D2A-4047-8AAD-0B3FF0CA1784}">
      <dgm:prSet/>
      <dgm:spPr/>
      <dgm:t>
        <a:bodyPr/>
        <a:lstStyle/>
        <a:p>
          <a:endParaRPr lang="en-US"/>
        </a:p>
      </dgm:t>
    </dgm:pt>
    <dgm:pt modelId="{6D400F14-594A-40FD-A327-7C5C6E221BD0}">
      <dgm:prSet phldrT="Description" phldr="0"/>
      <dgm:spPr/>
      <dgm:t>
        <a:bodyPr/>
        <a:lstStyle/>
        <a:p>
          <a:r>
            <a:rPr lang="en-US"/>
            <a:t>Avoid overfitting</a:t>
          </a:r>
          <a:endParaRPr lang="en-US" dirty="0"/>
        </a:p>
      </dgm:t>
    </dgm:pt>
    <dgm:pt modelId="{88E5C603-E451-4073-85BF-07CEDCCD4F7B}" type="parTrans" cxnId="{FC80CDBA-50FC-48B0-8CE9-DD0CE683FC71}">
      <dgm:prSet/>
      <dgm:spPr/>
      <dgm:t>
        <a:bodyPr/>
        <a:lstStyle/>
        <a:p>
          <a:endParaRPr lang="en-US"/>
        </a:p>
      </dgm:t>
    </dgm:pt>
    <dgm:pt modelId="{6BC0B3CB-9942-4983-90C8-CD25B40EDB46}" type="sibTrans" cxnId="{FC80CDBA-50FC-48B0-8CE9-DD0CE683FC71}">
      <dgm:prSet/>
      <dgm:spPr/>
      <dgm:t>
        <a:bodyPr/>
        <a:lstStyle/>
        <a:p>
          <a:endParaRPr lang="en-US"/>
        </a:p>
      </dgm:t>
    </dgm:pt>
    <dgm:pt modelId="{07023D88-6CEF-4026-8973-007F661F5DF6}">
      <dgm:prSet phldrT="Description" phldr="0"/>
      <dgm:spPr/>
      <dgm:t>
        <a:bodyPr/>
        <a:lstStyle/>
        <a:p>
          <a:r>
            <a:rPr lang="en-US" dirty="0"/>
            <a:t>Generalizes well</a:t>
          </a:r>
        </a:p>
      </dgm:t>
    </dgm:pt>
    <dgm:pt modelId="{87170397-C6BC-4FBE-B81C-99E33E6213AA}" type="parTrans" cxnId="{967B5EF0-847F-4B27-9A33-26C4DEA5CD27}">
      <dgm:prSet/>
      <dgm:spPr/>
      <dgm:t>
        <a:bodyPr/>
        <a:lstStyle/>
        <a:p>
          <a:endParaRPr lang="en-US"/>
        </a:p>
      </dgm:t>
    </dgm:pt>
    <dgm:pt modelId="{FC8C3E10-CDA0-432C-8975-D38F8B09F20C}" type="sibTrans" cxnId="{967B5EF0-847F-4B27-9A33-26C4DEA5CD27}">
      <dgm:prSet/>
      <dgm:spPr/>
      <dgm:t>
        <a:bodyPr/>
        <a:lstStyle/>
        <a:p>
          <a:endParaRPr lang="en-US"/>
        </a:p>
      </dgm:t>
    </dgm:pt>
    <dgm:pt modelId="{00C8A39D-E21F-4029-AE2A-02A2F85CDA1C}" type="pres">
      <dgm:prSet presAssocID="{101699BB-2F1C-4238-9099-5A96DDBC4C38}" presName="theList" presStyleCnt="0">
        <dgm:presLayoutVars>
          <dgm:dir/>
          <dgm:animLvl val="lvl"/>
          <dgm:resizeHandles val="exact"/>
        </dgm:presLayoutVars>
      </dgm:prSet>
      <dgm:spPr/>
    </dgm:pt>
    <dgm:pt modelId="{2DF0D413-6DA6-45D9-B117-EE9A0255D35D}" type="pres">
      <dgm:prSet presAssocID="{356191B7-42DB-4D4F-9374-E5CB679CDA10}" presName="compNode" presStyleCnt="0"/>
      <dgm:spPr/>
    </dgm:pt>
    <dgm:pt modelId="{FC17131A-98E0-4822-8A60-7AF5CFC45FA4}" type="pres">
      <dgm:prSet presAssocID="{356191B7-42DB-4D4F-9374-E5CB679CDA10}" presName="aNode" presStyleLbl="bgShp" presStyleIdx="0" presStyleCnt="5"/>
      <dgm:spPr/>
    </dgm:pt>
    <dgm:pt modelId="{73B5699A-23D8-43EE-99F5-F22891DE3591}" type="pres">
      <dgm:prSet presAssocID="{356191B7-42DB-4D4F-9374-E5CB679CDA10}" presName="textNode" presStyleLbl="bgShp" presStyleIdx="0" presStyleCnt="5"/>
      <dgm:spPr/>
    </dgm:pt>
    <dgm:pt modelId="{29B49F96-9F50-4186-8F5C-A32F979684FA}" type="pres">
      <dgm:prSet presAssocID="{356191B7-42DB-4D4F-9374-E5CB679CDA10}" presName="compChildNode" presStyleCnt="0"/>
      <dgm:spPr/>
    </dgm:pt>
    <dgm:pt modelId="{187C6BA0-62B7-40DB-80E4-DAF48DF8E8DC}" type="pres">
      <dgm:prSet presAssocID="{356191B7-42DB-4D4F-9374-E5CB679CDA10}" presName="theInnerList" presStyleCnt="0"/>
      <dgm:spPr/>
    </dgm:pt>
    <dgm:pt modelId="{2047D4D5-5B26-4AF5-8826-3924C3F7F34B}" type="pres">
      <dgm:prSet presAssocID="{B8852916-294D-4E84-B30A-4DE9D73ADA20}" presName="childNode" presStyleLbl="node1" presStyleIdx="0" presStyleCnt="9">
        <dgm:presLayoutVars>
          <dgm:bulletEnabled val="1"/>
        </dgm:presLayoutVars>
      </dgm:prSet>
      <dgm:spPr/>
    </dgm:pt>
    <dgm:pt modelId="{03889EF3-BA87-4E1C-9B37-D563E3CA2CDE}" type="pres">
      <dgm:prSet presAssocID="{B8852916-294D-4E84-B30A-4DE9D73ADA20}" presName="aSpace2" presStyleCnt="0"/>
      <dgm:spPr/>
    </dgm:pt>
    <dgm:pt modelId="{BF4E89E0-89B8-40FC-AB79-1E328C33AB1F}" type="pres">
      <dgm:prSet presAssocID="{4302C5A1-70AE-4CBA-BC0F-0A0615AC0856}" presName="childNode" presStyleLbl="node1" presStyleIdx="1" presStyleCnt="9">
        <dgm:presLayoutVars>
          <dgm:bulletEnabled val="1"/>
        </dgm:presLayoutVars>
      </dgm:prSet>
      <dgm:spPr/>
    </dgm:pt>
    <dgm:pt modelId="{C72B47A7-3C2F-48DD-AA9D-6CF9F5B09AD0}" type="pres">
      <dgm:prSet presAssocID="{356191B7-42DB-4D4F-9374-E5CB679CDA10}" presName="aSpace" presStyleCnt="0"/>
      <dgm:spPr/>
    </dgm:pt>
    <dgm:pt modelId="{6879ACCF-6BC2-47EB-8F46-16F3DD1815F3}" type="pres">
      <dgm:prSet presAssocID="{D1D90B41-94F0-4FED-8C62-76D576AA957E}" presName="compNode" presStyleCnt="0"/>
      <dgm:spPr/>
    </dgm:pt>
    <dgm:pt modelId="{92260840-19A0-4F65-A1B4-28349F97FCD4}" type="pres">
      <dgm:prSet presAssocID="{D1D90B41-94F0-4FED-8C62-76D576AA957E}" presName="aNode" presStyleLbl="bgShp" presStyleIdx="1" presStyleCnt="5"/>
      <dgm:spPr/>
    </dgm:pt>
    <dgm:pt modelId="{F8563E52-F060-464A-9995-C2A5E83F9533}" type="pres">
      <dgm:prSet presAssocID="{D1D90B41-94F0-4FED-8C62-76D576AA957E}" presName="textNode" presStyleLbl="bgShp" presStyleIdx="1" presStyleCnt="5"/>
      <dgm:spPr/>
    </dgm:pt>
    <dgm:pt modelId="{BC394EFA-4B51-4950-9198-D1DF597CFBC7}" type="pres">
      <dgm:prSet presAssocID="{D1D90B41-94F0-4FED-8C62-76D576AA957E}" presName="compChildNode" presStyleCnt="0"/>
      <dgm:spPr/>
    </dgm:pt>
    <dgm:pt modelId="{D34B32CA-4346-40CC-8ED7-2BA090AF462C}" type="pres">
      <dgm:prSet presAssocID="{D1D90B41-94F0-4FED-8C62-76D576AA957E}" presName="theInnerList" presStyleCnt="0"/>
      <dgm:spPr/>
    </dgm:pt>
    <dgm:pt modelId="{FC97B15A-D541-4588-9C52-13AF04AB73F8}" type="pres">
      <dgm:prSet presAssocID="{829A7000-DBAD-4407-B54D-FFAF4CE52DE5}" presName="childNode" presStyleLbl="node1" presStyleIdx="2" presStyleCnt="9">
        <dgm:presLayoutVars>
          <dgm:bulletEnabled val="1"/>
        </dgm:presLayoutVars>
      </dgm:prSet>
      <dgm:spPr/>
    </dgm:pt>
    <dgm:pt modelId="{3A9F3975-F1C9-4351-9500-FBF23A696BD8}" type="pres">
      <dgm:prSet presAssocID="{D1D90B41-94F0-4FED-8C62-76D576AA957E}" presName="aSpace" presStyleCnt="0"/>
      <dgm:spPr/>
    </dgm:pt>
    <dgm:pt modelId="{AAFF5E66-0FFF-463E-A284-675FA164D5EA}" type="pres">
      <dgm:prSet presAssocID="{333639AD-CF87-49F0-8F43-812DA08419BF}" presName="compNode" presStyleCnt="0"/>
      <dgm:spPr/>
    </dgm:pt>
    <dgm:pt modelId="{1902ADE9-93F8-4094-82ED-59D09364A69A}" type="pres">
      <dgm:prSet presAssocID="{333639AD-CF87-49F0-8F43-812DA08419BF}" presName="aNode" presStyleLbl="bgShp" presStyleIdx="2" presStyleCnt="5"/>
      <dgm:spPr/>
    </dgm:pt>
    <dgm:pt modelId="{FB2FC3DB-0119-43A7-A091-561B930EE959}" type="pres">
      <dgm:prSet presAssocID="{333639AD-CF87-49F0-8F43-812DA08419BF}" presName="textNode" presStyleLbl="bgShp" presStyleIdx="2" presStyleCnt="5"/>
      <dgm:spPr/>
    </dgm:pt>
    <dgm:pt modelId="{FAE639A2-7DD2-4971-A2A9-7AFC80B07DEB}" type="pres">
      <dgm:prSet presAssocID="{333639AD-CF87-49F0-8F43-812DA08419BF}" presName="compChildNode" presStyleCnt="0"/>
      <dgm:spPr/>
    </dgm:pt>
    <dgm:pt modelId="{EA43296A-82DA-4BB7-8508-B46C37A2304D}" type="pres">
      <dgm:prSet presAssocID="{333639AD-CF87-49F0-8F43-812DA08419BF}" presName="theInnerList" presStyleCnt="0"/>
      <dgm:spPr/>
    </dgm:pt>
    <dgm:pt modelId="{B158643E-6ECA-4A19-A023-81D81220953E}" type="pres">
      <dgm:prSet presAssocID="{E0ADBE2E-936D-43CE-8C97-BA737A6523BF}" presName="childNode" presStyleLbl="node1" presStyleIdx="3" presStyleCnt="9">
        <dgm:presLayoutVars>
          <dgm:bulletEnabled val="1"/>
        </dgm:presLayoutVars>
      </dgm:prSet>
      <dgm:spPr/>
    </dgm:pt>
    <dgm:pt modelId="{614B4104-6283-4893-A3FF-6751FAD7D6A3}" type="pres">
      <dgm:prSet presAssocID="{333639AD-CF87-49F0-8F43-812DA08419BF}" presName="aSpace" presStyleCnt="0"/>
      <dgm:spPr/>
    </dgm:pt>
    <dgm:pt modelId="{4F776FD3-ADC2-4D0A-8429-CE8514E4286C}" type="pres">
      <dgm:prSet presAssocID="{088F61D7-6129-4064-8FBC-FA1B51778E1A}" presName="compNode" presStyleCnt="0"/>
      <dgm:spPr/>
    </dgm:pt>
    <dgm:pt modelId="{48B4132D-0E2D-45E1-919D-D2D342108F08}" type="pres">
      <dgm:prSet presAssocID="{088F61D7-6129-4064-8FBC-FA1B51778E1A}" presName="aNode" presStyleLbl="bgShp" presStyleIdx="3" presStyleCnt="5"/>
      <dgm:spPr/>
    </dgm:pt>
    <dgm:pt modelId="{2A71CF88-D4D1-4F42-B380-0000B12F8C7E}" type="pres">
      <dgm:prSet presAssocID="{088F61D7-6129-4064-8FBC-FA1B51778E1A}" presName="textNode" presStyleLbl="bgShp" presStyleIdx="3" presStyleCnt="5"/>
      <dgm:spPr/>
    </dgm:pt>
    <dgm:pt modelId="{747A5F34-3F91-4A01-B096-BA1FAE87BB51}" type="pres">
      <dgm:prSet presAssocID="{088F61D7-6129-4064-8FBC-FA1B51778E1A}" presName="compChildNode" presStyleCnt="0"/>
      <dgm:spPr/>
    </dgm:pt>
    <dgm:pt modelId="{C4BA03C4-D7F9-4F6F-A31A-AA9A903C45D5}" type="pres">
      <dgm:prSet presAssocID="{088F61D7-6129-4064-8FBC-FA1B51778E1A}" presName="theInnerList" presStyleCnt="0"/>
      <dgm:spPr/>
    </dgm:pt>
    <dgm:pt modelId="{5106E446-E88C-4EC2-A466-530AA74A6CD8}" type="pres">
      <dgm:prSet presAssocID="{E6FE557A-5427-4BB2-BB5F-902D8FE61144}" presName="childNode" presStyleLbl="node1" presStyleIdx="4" presStyleCnt="9">
        <dgm:presLayoutVars>
          <dgm:bulletEnabled val="1"/>
        </dgm:presLayoutVars>
      </dgm:prSet>
      <dgm:spPr/>
    </dgm:pt>
    <dgm:pt modelId="{9ED1DA72-B27E-42F5-B97D-065AB958395C}" type="pres">
      <dgm:prSet presAssocID="{E6FE557A-5427-4BB2-BB5F-902D8FE61144}" presName="aSpace2" presStyleCnt="0"/>
      <dgm:spPr/>
    </dgm:pt>
    <dgm:pt modelId="{BEF5A24D-B37F-46FF-8AE2-C089FA2DCF61}" type="pres">
      <dgm:prSet presAssocID="{71552EAE-F1E9-4FE1-ADE1-305D3133B1A0}" presName="childNode" presStyleLbl="node1" presStyleIdx="5" presStyleCnt="9">
        <dgm:presLayoutVars>
          <dgm:bulletEnabled val="1"/>
        </dgm:presLayoutVars>
      </dgm:prSet>
      <dgm:spPr/>
    </dgm:pt>
    <dgm:pt modelId="{118D58E7-D848-473A-B870-B5FF818E771B}" type="pres">
      <dgm:prSet presAssocID="{088F61D7-6129-4064-8FBC-FA1B51778E1A}" presName="aSpace" presStyleCnt="0"/>
      <dgm:spPr/>
    </dgm:pt>
    <dgm:pt modelId="{429FB0C7-2E1E-480E-A12A-41222A844E5D}" type="pres">
      <dgm:prSet presAssocID="{92EAE791-D9EE-4FF2-A6B1-35138953C084}" presName="compNode" presStyleCnt="0"/>
      <dgm:spPr/>
    </dgm:pt>
    <dgm:pt modelId="{33D7300E-36C3-4D97-9CA2-4541040533AC}" type="pres">
      <dgm:prSet presAssocID="{92EAE791-D9EE-4FF2-A6B1-35138953C084}" presName="aNode" presStyleLbl="bgShp" presStyleIdx="4" presStyleCnt="5"/>
      <dgm:spPr/>
    </dgm:pt>
    <dgm:pt modelId="{F14C4800-0BCA-49B6-82EB-4AB485C272C9}" type="pres">
      <dgm:prSet presAssocID="{92EAE791-D9EE-4FF2-A6B1-35138953C084}" presName="textNode" presStyleLbl="bgShp" presStyleIdx="4" presStyleCnt="5"/>
      <dgm:spPr/>
    </dgm:pt>
    <dgm:pt modelId="{E02110B2-4425-4CA7-8BDF-A607A0B96929}" type="pres">
      <dgm:prSet presAssocID="{92EAE791-D9EE-4FF2-A6B1-35138953C084}" presName="compChildNode" presStyleCnt="0"/>
      <dgm:spPr/>
    </dgm:pt>
    <dgm:pt modelId="{4B37B5D8-501A-49D2-A412-DFDDC1C41FF3}" type="pres">
      <dgm:prSet presAssocID="{92EAE791-D9EE-4FF2-A6B1-35138953C084}" presName="theInnerList" presStyleCnt="0"/>
      <dgm:spPr/>
    </dgm:pt>
    <dgm:pt modelId="{AD62BDBC-04BC-401E-9DBD-6C969E590237}" type="pres">
      <dgm:prSet presAssocID="{5D90C3D8-E943-4F7B-97EB-1680CCC82032}" presName="childNode" presStyleLbl="node1" presStyleIdx="6" presStyleCnt="9">
        <dgm:presLayoutVars>
          <dgm:bulletEnabled val="1"/>
        </dgm:presLayoutVars>
      </dgm:prSet>
      <dgm:spPr/>
    </dgm:pt>
    <dgm:pt modelId="{6AFAB0C9-3E62-4F5B-A905-A019F721ABE7}" type="pres">
      <dgm:prSet presAssocID="{5D90C3D8-E943-4F7B-97EB-1680CCC82032}" presName="aSpace2" presStyleCnt="0"/>
      <dgm:spPr/>
    </dgm:pt>
    <dgm:pt modelId="{1A219934-8EFF-4694-9513-47AB6BC0535C}" type="pres">
      <dgm:prSet presAssocID="{6D400F14-594A-40FD-A327-7C5C6E221BD0}" presName="childNode" presStyleLbl="node1" presStyleIdx="7" presStyleCnt="9">
        <dgm:presLayoutVars>
          <dgm:bulletEnabled val="1"/>
        </dgm:presLayoutVars>
      </dgm:prSet>
      <dgm:spPr/>
    </dgm:pt>
    <dgm:pt modelId="{888B1E13-7806-4976-9C48-0BDA18DAC2D6}" type="pres">
      <dgm:prSet presAssocID="{6D400F14-594A-40FD-A327-7C5C6E221BD0}" presName="aSpace2" presStyleCnt="0"/>
      <dgm:spPr/>
    </dgm:pt>
    <dgm:pt modelId="{EB7BE758-F3D9-4AB4-A195-978A6A7E2864}" type="pres">
      <dgm:prSet presAssocID="{07023D88-6CEF-4026-8973-007F661F5DF6}" presName="childNode" presStyleLbl="node1" presStyleIdx="8" presStyleCnt="9">
        <dgm:presLayoutVars>
          <dgm:bulletEnabled val="1"/>
        </dgm:presLayoutVars>
      </dgm:prSet>
      <dgm:spPr/>
    </dgm:pt>
  </dgm:ptLst>
  <dgm:cxnLst>
    <dgm:cxn modelId="{981A7B00-94C6-4C7D-90A3-7B07710D5980}" type="presOf" srcId="{D1D90B41-94F0-4FED-8C62-76D576AA957E}" destId="{92260840-19A0-4F65-A1B4-28349F97FCD4}" srcOrd="0" destOrd="0" presId="urn:microsoft.com/office/officeart/2005/8/layout/lProcess2"/>
    <dgm:cxn modelId="{EBD5D801-E5B0-41D3-815E-DCFE152D5D67}" srcId="{101699BB-2F1C-4238-9099-5A96DDBC4C38}" destId="{333639AD-CF87-49F0-8F43-812DA08419BF}" srcOrd="2" destOrd="0" parTransId="{F81398C5-598C-4E04-9665-1D9947755CA2}" sibTransId="{3D351B9F-1714-4289-A341-8583C6D1FA49}"/>
    <dgm:cxn modelId="{D18C9D07-3B9D-40BE-AE50-C2E7281AE124}" srcId="{356191B7-42DB-4D4F-9374-E5CB679CDA10}" destId="{B8852916-294D-4E84-B30A-4DE9D73ADA20}" srcOrd="0" destOrd="0" parTransId="{190EFBF8-2F34-4D92-A57F-376287DCB8BB}" sibTransId="{1844A35B-4214-40A3-A036-EA62A6C2E332}"/>
    <dgm:cxn modelId="{B9C4C708-3A2A-4664-B4CC-EB5D8D9E2701}" type="presOf" srcId="{71552EAE-F1E9-4FE1-ADE1-305D3133B1A0}" destId="{BEF5A24D-B37F-46FF-8AE2-C089FA2DCF61}" srcOrd="0" destOrd="0" presId="urn:microsoft.com/office/officeart/2005/8/layout/lProcess2"/>
    <dgm:cxn modelId="{D7BA5F0E-8807-430A-A90A-5940AC5C31A7}" type="presOf" srcId="{333639AD-CF87-49F0-8F43-812DA08419BF}" destId="{FB2FC3DB-0119-43A7-A091-561B930EE959}" srcOrd="1" destOrd="0" presId="urn:microsoft.com/office/officeart/2005/8/layout/lProcess2"/>
    <dgm:cxn modelId="{69E95E10-71C6-4568-990B-E45779AFCAD2}" type="presOf" srcId="{829A7000-DBAD-4407-B54D-FFAF4CE52DE5}" destId="{FC97B15A-D541-4588-9C52-13AF04AB73F8}" srcOrd="0" destOrd="0" presId="urn:microsoft.com/office/officeart/2005/8/layout/lProcess2"/>
    <dgm:cxn modelId="{815C7119-71A3-4119-B67C-AAE9F3F3A614}" type="presOf" srcId="{101699BB-2F1C-4238-9099-5A96DDBC4C38}" destId="{00C8A39D-E21F-4029-AE2A-02A2F85CDA1C}" srcOrd="0" destOrd="0" presId="urn:microsoft.com/office/officeart/2005/8/layout/lProcess2"/>
    <dgm:cxn modelId="{06C59F1C-14AE-405D-87ED-B751125BFCBD}" type="presOf" srcId="{356191B7-42DB-4D4F-9374-E5CB679CDA10}" destId="{FC17131A-98E0-4822-8A60-7AF5CFC45FA4}" srcOrd="0" destOrd="0" presId="urn:microsoft.com/office/officeart/2005/8/layout/lProcess2"/>
    <dgm:cxn modelId="{D699A31C-5EC4-41DA-896B-79CB576365C6}" srcId="{101699BB-2F1C-4238-9099-5A96DDBC4C38}" destId="{356191B7-42DB-4D4F-9374-E5CB679CDA10}" srcOrd="0" destOrd="0" parTransId="{46403B7A-2BA1-4154-A70D-B7B78411D8B7}" sibTransId="{A10EACA1-2DB4-4EF5-8A57-A0DB30664BBC}"/>
    <dgm:cxn modelId="{DA610220-6867-4830-8145-8AD7DEB1ED3C}" srcId="{D1D90B41-94F0-4FED-8C62-76D576AA957E}" destId="{829A7000-DBAD-4407-B54D-FFAF4CE52DE5}" srcOrd="0" destOrd="0" parTransId="{506E5681-264F-4F72-A427-AF34826B826A}" sibTransId="{C4172DFF-67F4-4CE0-A4D0-5DC5A6055A71}"/>
    <dgm:cxn modelId="{7433B45E-5CC6-4671-8767-6670EBC56B98}" srcId="{101699BB-2F1C-4238-9099-5A96DDBC4C38}" destId="{D1D90B41-94F0-4FED-8C62-76D576AA957E}" srcOrd="1" destOrd="0" parTransId="{F56EFAB5-062D-4363-8897-6F3497EF3C72}" sibTransId="{D3F0FB32-4039-41B3-A5FB-998B8756E19E}"/>
    <dgm:cxn modelId="{7228C347-4B3E-43E4-9F25-15F96645A7C9}" type="presOf" srcId="{E6FE557A-5427-4BB2-BB5F-902D8FE61144}" destId="{5106E446-E88C-4EC2-A466-530AA74A6CD8}" srcOrd="0" destOrd="0" presId="urn:microsoft.com/office/officeart/2005/8/layout/lProcess2"/>
    <dgm:cxn modelId="{D862646B-2070-4569-9F0F-D1C7BF98D71D}" type="presOf" srcId="{5D90C3D8-E943-4F7B-97EB-1680CCC82032}" destId="{AD62BDBC-04BC-401E-9DBD-6C969E590237}" srcOrd="0" destOrd="0" presId="urn:microsoft.com/office/officeart/2005/8/layout/lProcess2"/>
    <dgm:cxn modelId="{C72F326D-F0F3-40AE-AED7-072E05E93EED}" type="presOf" srcId="{4302C5A1-70AE-4CBA-BC0F-0A0615AC0856}" destId="{BF4E89E0-89B8-40FC-AB79-1E328C33AB1F}" srcOrd="0" destOrd="0" presId="urn:microsoft.com/office/officeart/2005/8/layout/lProcess2"/>
    <dgm:cxn modelId="{10A64A6F-8D83-41EB-B82A-316D2CFFED60}" srcId="{088F61D7-6129-4064-8FBC-FA1B51778E1A}" destId="{E6FE557A-5427-4BB2-BB5F-902D8FE61144}" srcOrd="0" destOrd="0" parTransId="{0A726ED0-CB3B-4744-961D-CB7CCE587B27}" sibTransId="{DD554F78-4E0F-4022-A6B6-0F5CDB229F6B}"/>
    <dgm:cxn modelId="{6E07A24F-A52D-4F68-B087-3879697A3A39}" srcId="{101699BB-2F1C-4238-9099-5A96DDBC4C38}" destId="{92EAE791-D9EE-4FF2-A6B1-35138953C084}" srcOrd="4" destOrd="0" parTransId="{918C37DE-0680-494D-B958-1DCFC5224204}" sibTransId="{F642C896-5645-42C2-96F1-8B06935DA03C}"/>
    <dgm:cxn modelId="{AB052453-F7FE-42F8-A94B-AA4E9052728D}" type="presOf" srcId="{333639AD-CF87-49F0-8F43-812DA08419BF}" destId="{1902ADE9-93F8-4094-82ED-59D09364A69A}" srcOrd="0" destOrd="0" presId="urn:microsoft.com/office/officeart/2005/8/layout/lProcess2"/>
    <dgm:cxn modelId="{C944A278-DD3F-436F-8474-A90FA3F0A341}" srcId="{088F61D7-6129-4064-8FBC-FA1B51778E1A}" destId="{71552EAE-F1E9-4FE1-ADE1-305D3133B1A0}" srcOrd="1" destOrd="0" parTransId="{996FAD37-2B2A-4506-A2DC-BFAA4B3C5122}" sibTransId="{F89BFC67-5B20-4172-A7C3-4EDCCCD4FD8C}"/>
    <dgm:cxn modelId="{87883D59-3F68-45D4-9F12-DFD202163DAA}" type="presOf" srcId="{088F61D7-6129-4064-8FBC-FA1B51778E1A}" destId="{48B4132D-0E2D-45E1-919D-D2D342108F08}" srcOrd="0" destOrd="0" presId="urn:microsoft.com/office/officeart/2005/8/layout/lProcess2"/>
    <dgm:cxn modelId="{7F605781-C63E-4255-9D17-321DC35C8B57}" srcId="{356191B7-42DB-4D4F-9374-E5CB679CDA10}" destId="{4302C5A1-70AE-4CBA-BC0F-0A0615AC0856}" srcOrd="1" destOrd="0" parTransId="{138FB2D9-F60D-42DE-8358-67F875802366}" sibTransId="{BBD1F628-1185-4670-ACC8-5F0242B53812}"/>
    <dgm:cxn modelId="{3F5E9F8B-FAF4-4105-B1C1-5CC1CB4FA227}" type="presOf" srcId="{6D400F14-594A-40FD-A327-7C5C6E221BD0}" destId="{1A219934-8EFF-4694-9513-47AB6BC0535C}" srcOrd="0" destOrd="0" presId="urn:microsoft.com/office/officeart/2005/8/layout/lProcess2"/>
    <dgm:cxn modelId="{389D628F-527F-4997-8FEA-0F6709858E7C}" type="presOf" srcId="{92EAE791-D9EE-4FF2-A6B1-35138953C084}" destId="{F14C4800-0BCA-49B6-82EB-4AB485C272C9}" srcOrd="1" destOrd="0" presId="urn:microsoft.com/office/officeart/2005/8/layout/lProcess2"/>
    <dgm:cxn modelId="{E3F32D96-F086-44AB-8FE6-C8B7FBFA2352}" type="presOf" srcId="{356191B7-42DB-4D4F-9374-E5CB679CDA10}" destId="{73B5699A-23D8-43EE-99F5-F22891DE3591}" srcOrd="1" destOrd="0" presId="urn:microsoft.com/office/officeart/2005/8/layout/lProcess2"/>
    <dgm:cxn modelId="{74975F9D-D8DF-4025-BB47-B571FEAE1C90}" type="presOf" srcId="{B8852916-294D-4E84-B30A-4DE9D73ADA20}" destId="{2047D4D5-5B26-4AF5-8826-3924C3F7F34B}" srcOrd="0" destOrd="0" presId="urn:microsoft.com/office/officeart/2005/8/layout/lProcess2"/>
    <dgm:cxn modelId="{49462CB1-DE5F-4F6A-B76F-0D4F8DD20458}" type="presOf" srcId="{07023D88-6CEF-4026-8973-007F661F5DF6}" destId="{EB7BE758-F3D9-4AB4-A195-978A6A7E2864}" srcOrd="0" destOrd="0" presId="urn:microsoft.com/office/officeart/2005/8/layout/lProcess2"/>
    <dgm:cxn modelId="{FC80CDBA-50FC-48B0-8CE9-DD0CE683FC71}" srcId="{92EAE791-D9EE-4FF2-A6B1-35138953C084}" destId="{6D400F14-594A-40FD-A327-7C5C6E221BD0}" srcOrd="1" destOrd="0" parTransId="{88E5C603-E451-4073-85BF-07CEDCCD4F7B}" sibTransId="{6BC0B3CB-9942-4983-90C8-CD25B40EDB46}"/>
    <dgm:cxn modelId="{A6043EC8-4D2A-4047-8AAD-0B3FF0CA1784}" srcId="{92EAE791-D9EE-4FF2-A6B1-35138953C084}" destId="{5D90C3D8-E943-4F7B-97EB-1680CCC82032}" srcOrd="0" destOrd="0" parTransId="{6761C250-F032-4423-AB1F-8AF6C36E135D}" sibTransId="{3927F2F3-B416-4D53-B8DE-A50BB0E1B5E0}"/>
    <dgm:cxn modelId="{3EF6C2DF-7E02-4AC8-9A90-5F886F735E95}" type="presOf" srcId="{D1D90B41-94F0-4FED-8C62-76D576AA957E}" destId="{F8563E52-F060-464A-9995-C2A5E83F9533}" srcOrd="1" destOrd="0" presId="urn:microsoft.com/office/officeart/2005/8/layout/lProcess2"/>
    <dgm:cxn modelId="{1736FEE4-2659-4BEA-9391-36BF257FF5DF}" type="presOf" srcId="{92EAE791-D9EE-4FF2-A6B1-35138953C084}" destId="{33D7300E-36C3-4D97-9CA2-4541040533AC}" srcOrd="0" destOrd="0" presId="urn:microsoft.com/office/officeart/2005/8/layout/lProcess2"/>
    <dgm:cxn modelId="{86FE91E5-6489-4E25-801D-FE5E4A84C1A8}" srcId="{333639AD-CF87-49F0-8F43-812DA08419BF}" destId="{E0ADBE2E-936D-43CE-8C97-BA737A6523BF}" srcOrd="0" destOrd="0" parTransId="{CC0D974B-2336-4587-AD8E-86CB3A017A93}" sibTransId="{22A915ED-DCB6-4C10-8959-9FE57E1BEE0B}"/>
    <dgm:cxn modelId="{7BB774E6-2B88-4736-8D25-A0D34FAB2ACD}" type="presOf" srcId="{E0ADBE2E-936D-43CE-8C97-BA737A6523BF}" destId="{B158643E-6ECA-4A19-A023-81D81220953E}" srcOrd="0" destOrd="0" presId="urn:microsoft.com/office/officeart/2005/8/layout/lProcess2"/>
    <dgm:cxn modelId="{3B7223E7-D597-4369-B58A-C1B5A20A5AFE}" type="presOf" srcId="{088F61D7-6129-4064-8FBC-FA1B51778E1A}" destId="{2A71CF88-D4D1-4F42-B380-0000B12F8C7E}" srcOrd="1" destOrd="0" presId="urn:microsoft.com/office/officeart/2005/8/layout/lProcess2"/>
    <dgm:cxn modelId="{5681B2ED-3418-46EF-9D05-30333D0416E8}" srcId="{101699BB-2F1C-4238-9099-5A96DDBC4C38}" destId="{088F61D7-6129-4064-8FBC-FA1B51778E1A}" srcOrd="3" destOrd="0" parTransId="{583B8F16-9CEF-4A98-A4C7-B8E8D5D33C6B}" sibTransId="{9C2725FB-AE93-4156-9D24-BFED839D82B9}"/>
    <dgm:cxn modelId="{967B5EF0-847F-4B27-9A33-26C4DEA5CD27}" srcId="{92EAE791-D9EE-4FF2-A6B1-35138953C084}" destId="{07023D88-6CEF-4026-8973-007F661F5DF6}" srcOrd="2" destOrd="0" parTransId="{87170397-C6BC-4FBE-B81C-99E33E6213AA}" sibTransId="{FC8C3E10-CDA0-432C-8975-D38F8B09F20C}"/>
    <dgm:cxn modelId="{2DA7C8D4-9B3C-4E78-983E-6177C57DA82B}" type="presParOf" srcId="{00C8A39D-E21F-4029-AE2A-02A2F85CDA1C}" destId="{2DF0D413-6DA6-45D9-B117-EE9A0255D35D}" srcOrd="0" destOrd="0" presId="urn:microsoft.com/office/officeart/2005/8/layout/lProcess2"/>
    <dgm:cxn modelId="{E3F3F062-3D12-4818-8BB8-A99B24EF3EDC}" type="presParOf" srcId="{2DF0D413-6DA6-45D9-B117-EE9A0255D35D}" destId="{FC17131A-98E0-4822-8A60-7AF5CFC45FA4}" srcOrd="0" destOrd="0" presId="urn:microsoft.com/office/officeart/2005/8/layout/lProcess2"/>
    <dgm:cxn modelId="{775B9578-4D93-4E65-8F7F-F731CAD55934}" type="presParOf" srcId="{2DF0D413-6DA6-45D9-B117-EE9A0255D35D}" destId="{73B5699A-23D8-43EE-99F5-F22891DE3591}" srcOrd="1" destOrd="0" presId="urn:microsoft.com/office/officeart/2005/8/layout/lProcess2"/>
    <dgm:cxn modelId="{264E3C6B-9C41-4E9F-BDF5-F967814552ED}" type="presParOf" srcId="{2DF0D413-6DA6-45D9-B117-EE9A0255D35D}" destId="{29B49F96-9F50-4186-8F5C-A32F979684FA}" srcOrd="2" destOrd="0" presId="urn:microsoft.com/office/officeart/2005/8/layout/lProcess2"/>
    <dgm:cxn modelId="{82AE9F1F-6E9E-4B0C-8D8B-6473D7A241A5}" type="presParOf" srcId="{29B49F96-9F50-4186-8F5C-A32F979684FA}" destId="{187C6BA0-62B7-40DB-80E4-DAF48DF8E8DC}" srcOrd="0" destOrd="0" presId="urn:microsoft.com/office/officeart/2005/8/layout/lProcess2"/>
    <dgm:cxn modelId="{33192BA8-B22C-4691-A36F-60A148B09780}" type="presParOf" srcId="{187C6BA0-62B7-40DB-80E4-DAF48DF8E8DC}" destId="{2047D4D5-5B26-4AF5-8826-3924C3F7F34B}" srcOrd="0" destOrd="0" presId="urn:microsoft.com/office/officeart/2005/8/layout/lProcess2"/>
    <dgm:cxn modelId="{5DE14FD1-777F-4D11-A7A1-9515C0BA6B39}" type="presParOf" srcId="{187C6BA0-62B7-40DB-80E4-DAF48DF8E8DC}" destId="{03889EF3-BA87-4E1C-9B37-D563E3CA2CDE}" srcOrd="1" destOrd="0" presId="urn:microsoft.com/office/officeart/2005/8/layout/lProcess2"/>
    <dgm:cxn modelId="{68CD74CF-68C6-4161-90D7-74E559677C70}" type="presParOf" srcId="{187C6BA0-62B7-40DB-80E4-DAF48DF8E8DC}" destId="{BF4E89E0-89B8-40FC-AB79-1E328C33AB1F}" srcOrd="2" destOrd="0" presId="urn:microsoft.com/office/officeart/2005/8/layout/lProcess2"/>
    <dgm:cxn modelId="{1A21A1D9-16F2-4BFF-9817-21637A3BFC53}" type="presParOf" srcId="{00C8A39D-E21F-4029-AE2A-02A2F85CDA1C}" destId="{C72B47A7-3C2F-48DD-AA9D-6CF9F5B09AD0}" srcOrd="1" destOrd="0" presId="urn:microsoft.com/office/officeart/2005/8/layout/lProcess2"/>
    <dgm:cxn modelId="{C6BF26F2-8351-4B2B-9307-E89C359A32E4}" type="presParOf" srcId="{00C8A39D-E21F-4029-AE2A-02A2F85CDA1C}" destId="{6879ACCF-6BC2-47EB-8F46-16F3DD1815F3}" srcOrd="2" destOrd="0" presId="urn:microsoft.com/office/officeart/2005/8/layout/lProcess2"/>
    <dgm:cxn modelId="{4AA553A6-DFE1-4358-8660-55D4AFF58395}" type="presParOf" srcId="{6879ACCF-6BC2-47EB-8F46-16F3DD1815F3}" destId="{92260840-19A0-4F65-A1B4-28349F97FCD4}" srcOrd="0" destOrd="0" presId="urn:microsoft.com/office/officeart/2005/8/layout/lProcess2"/>
    <dgm:cxn modelId="{38031CD2-5E5A-4AC9-AD75-32133C44D333}" type="presParOf" srcId="{6879ACCF-6BC2-47EB-8F46-16F3DD1815F3}" destId="{F8563E52-F060-464A-9995-C2A5E83F9533}" srcOrd="1" destOrd="0" presId="urn:microsoft.com/office/officeart/2005/8/layout/lProcess2"/>
    <dgm:cxn modelId="{6D27CCB6-1973-43B3-AA5A-B4BCF587AD46}" type="presParOf" srcId="{6879ACCF-6BC2-47EB-8F46-16F3DD1815F3}" destId="{BC394EFA-4B51-4950-9198-D1DF597CFBC7}" srcOrd="2" destOrd="0" presId="urn:microsoft.com/office/officeart/2005/8/layout/lProcess2"/>
    <dgm:cxn modelId="{7BB91C03-5021-45E7-A008-D53EF5D8192A}" type="presParOf" srcId="{BC394EFA-4B51-4950-9198-D1DF597CFBC7}" destId="{D34B32CA-4346-40CC-8ED7-2BA090AF462C}" srcOrd="0" destOrd="0" presId="urn:microsoft.com/office/officeart/2005/8/layout/lProcess2"/>
    <dgm:cxn modelId="{1EC91647-4C4E-4E43-90EE-47244C474C72}" type="presParOf" srcId="{D34B32CA-4346-40CC-8ED7-2BA090AF462C}" destId="{FC97B15A-D541-4588-9C52-13AF04AB73F8}" srcOrd="0" destOrd="0" presId="urn:microsoft.com/office/officeart/2005/8/layout/lProcess2"/>
    <dgm:cxn modelId="{F8A2E704-5339-418A-BE3A-5262F810C37F}" type="presParOf" srcId="{00C8A39D-E21F-4029-AE2A-02A2F85CDA1C}" destId="{3A9F3975-F1C9-4351-9500-FBF23A696BD8}" srcOrd="3" destOrd="0" presId="urn:microsoft.com/office/officeart/2005/8/layout/lProcess2"/>
    <dgm:cxn modelId="{7A2B0317-6C32-4FB7-8881-6B954571CF47}" type="presParOf" srcId="{00C8A39D-E21F-4029-AE2A-02A2F85CDA1C}" destId="{AAFF5E66-0FFF-463E-A284-675FA164D5EA}" srcOrd="4" destOrd="0" presId="urn:microsoft.com/office/officeart/2005/8/layout/lProcess2"/>
    <dgm:cxn modelId="{6D354DC5-CF80-4A41-9217-0A0AD0F621A9}" type="presParOf" srcId="{AAFF5E66-0FFF-463E-A284-675FA164D5EA}" destId="{1902ADE9-93F8-4094-82ED-59D09364A69A}" srcOrd="0" destOrd="0" presId="urn:microsoft.com/office/officeart/2005/8/layout/lProcess2"/>
    <dgm:cxn modelId="{7EECDFA5-2DF1-4FF9-A9E5-3B87EC61FFB6}" type="presParOf" srcId="{AAFF5E66-0FFF-463E-A284-675FA164D5EA}" destId="{FB2FC3DB-0119-43A7-A091-561B930EE959}" srcOrd="1" destOrd="0" presId="urn:microsoft.com/office/officeart/2005/8/layout/lProcess2"/>
    <dgm:cxn modelId="{BBFFDC7D-5D79-49C4-A4D3-FA58D961AC2B}" type="presParOf" srcId="{AAFF5E66-0FFF-463E-A284-675FA164D5EA}" destId="{FAE639A2-7DD2-4971-A2A9-7AFC80B07DEB}" srcOrd="2" destOrd="0" presId="urn:microsoft.com/office/officeart/2005/8/layout/lProcess2"/>
    <dgm:cxn modelId="{A7C56A69-64E9-4404-B8D7-E6AC92273475}" type="presParOf" srcId="{FAE639A2-7DD2-4971-A2A9-7AFC80B07DEB}" destId="{EA43296A-82DA-4BB7-8508-B46C37A2304D}" srcOrd="0" destOrd="0" presId="urn:microsoft.com/office/officeart/2005/8/layout/lProcess2"/>
    <dgm:cxn modelId="{74462EA2-F760-4C41-B2EE-617AC2F6C8A2}" type="presParOf" srcId="{EA43296A-82DA-4BB7-8508-B46C37A2304D}" destId="{B158643E-6ECA-4A19-A023-81D81220953E}" srcOrd="0" destOrd="0" presId="urn:microsoft.com/office/officeart/2005/8/layout/lProcess2"/>
    <dgm:cxn modelId="{19D9E668-E882-4CF9-9626-CD8FC32B6D8C}" type="presParOf" srcId="{00C8A39D-E21F-4029-AE2A-02A2F85CDA1C}" destId="{614B4104-6283-4893-A3FF-6751FAD7D6A3}" srcOrd="5" destOrd="0" presId="urn:microsoft.com/office/officeart/2005/8/layout/lProcess2"/>
    <dgm:cxn modelId="{01800FA0-169A-4E90-AA05-7A45FAC75BA3}" type="presParOf" srcId="{00C8A39D-E21F-4029-AE2A-02A2F85CDA1C}" destId="{4F776FD3-ADC2-4D0A-8429-CE8514E4286C}" srcOrd="6" destOrd="0" presId="urn:microsoft.com/office/officeart/2005/8/layout/lProcess2"/>
    <dgm:cxn modelId="{31E27076-480F-4737-BC33-C04A326F8152}" type="presParOf" srcId="{4F776FD3-ADC2-4D0A-8429-CE8514E4286C}" destId="{48B4132D-0E2D-45E1-919D-D2D342108F08}" srcOrd="0" destOrd="0" presId="urn:microsoft.com/office/officeart/2005/8/layout/lProcess2"/>
    <dgm:cxn modelId="{6C75EA76-3E04-4DA0-B732-CCC68015DFA0}" type="presParOf" srcId="{4F776FD3-ADC2-4D0A-8429-CE8514E4286C}" destId="{2A71CF88-D4D1-4F42-B380-0000B12F8C7E}" srcOrd="1" destOrd="0" presId="urn:microsoft.com/office/officeart/2005/8/layout/lProcess2"/>
    <dgm:cxn modelId="{31E1291A-CDA3-4EE7-893D-630792FB843C}" type="presParOf" srcId="{4F776FD3-ADC2-4D0A-8429-CE8514E4286C}" destId="{747A5F34-3F91-4A01-B096-BA1FAE87BB51}" srcOrd="2" destOrd="0" presId="urn:microsoft.com/office/officeart/2005/8/layout/lProcess2"/>
    <dgm:cxn modelId="{9C99031D-271C-409B-9A24-EAB4755347D6}" type="presParOf" srcId="{747A5F34-3F91-4A01-B096-BA1FAE87BB51}" destId="{C4BA03C4-D7F9-4F6F-A31A-AA9A903C45D5}" srcOrd="0" destOrd="0" presId="urn:microsoft.com/office/officeart/2005/8/layout/lProcess2"/>
    <dgm:cxn modelId="{F79FAD6F-46FE-4DBE-92AF-2350AE3D5CE7}" type="presParOf" srcId="{C4BA03C4-D7F9-4F6F-A31A-AA9A903C45D5}" destId="{5106E446-E88C-4EC2-A466-530AA74A6CD8}" srcOrd="0" destOrd="0" presId="urn:microsoft.com/office/officeart/2005/8/layout/lProcess2"/>
    <dgm:cxn modelId="{CD59F136-DDC4-4AAA-9F17-595F68105C09}" type="presParOf" srcId="{C4BA03C4-D7F9-4F6F-A31A-AA9A903C45D5}" destId="{9ED1DA72-B27E-42F5-B97D-065AB958395C}" srcOrd="1" destOrd="0" presId="urn:microsoft.com/office/officeart/2005/8/layout/lProcess2"/>
    <dgm:cxn modelId="{34BCEF7B-4B2E-4A5E-834A-E8F15BB08E56}" type="presParOf" srcId="{C4BA03C4-D7F9-4F6F-A31A-AA9A903C45D5}" destId="{BEF5A24D-B37F-46FF-8AE2-C089FA2DCF61}" srcOrd="2" destOrd="0" presId="urn:microsoft.com/office/officeart/2005/8/layout/lProcess2"/>
    <dgm:cxn modelId="{82DEFFB8-2BBF-41FF-A5E7-7B00DE9F9B9B}" type="presParOf" srcId="{00C8A39D-E21F-4029-AE2A-02A2F85CDA1C}" destId="{118D58E7-D848-473A-B870-B5FF818E771B}" srcOrd="7" destOrd="0" presId="urn:microsoft.com/office/officeart/2005/8/layout/lProcess2"/>
    <dgm:cxn modelId="{53623BC6-013E-4F0C-94DF-6A3ABEFE6972}" type="presParOf" srcId="{00C8A39D-E21F-4029-AE2A-02A2F85CDA1C}" destId="{429FB0C7-2E1E-480E-A12A-41222A844E5D}" srcOrd="8" destOrd="0" presId="urn:microsoft.com/office/officeart/2005/8/layout/lProcess2"/>
    <dgm:cxn modelId="{2F9FDFF2-40A9-4A14-B274-96EC316A1634}" type="presParOf" srcId="{429FB0C7-2E1E-480E-A12A-41222A844E5D}" destId="{33D7300E-36C3-4D97-9CA2-4541040533AC}" srcOrd="0" destOrd="0" presId="urn:microsoft.com/office/officeart/2005/8/layout/lProcess2"/>
    <dgm:cxn modelId="{0BA0056B-2341-4425-86BB-EE1B64828F0C}" type="presParOf" srcId="{429FB0C7-2E1E-480E-A12A-41222A844E5D}" destId="{F14C4800-0BCA-49B6-82EB-4AB485C272C9}" srcOrd="1" destOrd="0" presId="urn:microsoft.com/office/officeart/2005/8/layout/lProcess2"/>
    <dgm:cxn modelId="{FADC4498-87BB-419E-B9A2-05D6E1A8B7FB}" type="presParOf" srcId="{429FB0C7-2E1E-480E-A12A-41222A844E5D}" destId="{E02110B2-4425-4CA7-8BDF-A607A0B96929}" srcOrd="2" destOrd="0" presId="urn:microsoft.com/office/officeart/2005/8/layout/lProcess2"/>
    <dgm:cxn modelId="{DD778B1D-14A8-4934-95DE-64C9A7B343AE}" type="presParOf" srcId="{E02110B2-4425-4CA7-8BDF-A607A0B96929}" destId="{4B37B5D8-501A-49D2-A412-DFDDC1C41FF3}" srcOrd="0" destOrd="0" presId="urn:microsoft.com/office/officeart/2005/8/layout/lProcess2"/>
    <dgm:cxn modelId="{C54F0783-5988-4B51-BD53-6894EB135C5E}" type="presParOf" srcId="{4B37B5D8-501A-49D2-A412-DFDDC1C41FF3}" destId="{AD62BDBC-04BC-401E-9DBD-6C969E590237}" srcOrd="0" destOrd="0" presId="urn:microsoft.com/office/officeart/2005/8/layout/lProcess2"/>
    <dgm:cxn modelId="{5457CCA4-B9BE-4372-9A61-13F51906A1CF}" type="presParOf" srcId="{4B37B5D8-501A-49D2-A412-DFDDC1C41FF3}" destId="{6AFAB0C9-3E62-4F5B-A905-A019F721ABE7}" srcOrd="1" destOrd="0" presId="urn:microsoft.com/office/officeart/2005/8/layout/lProcess2"/>
    <dgm:cxn modelId="{28CF1901-B027-4217-831A-A60EABAB8ED5}" type="presParOf" srcId="{4B37B5D8-501A-49D2-A412-DFDDC1C41FF3}" destId="{1A219934-8EFF-4694-9513-47AB6BC0535C}" srcOrd="2" destOrd="0" presId="urn:microsoft.com/office/officeart/2005/8/layout/lProcess2"/>
    <dgm:cxn modelId="{3296AFAD-F4FD-4656-8C36-53561378D68E}" type="presParOf" srcId="{4B37B5D8-501A-49D2-A412-DFDDC1C41FF3}" destId="{888B1E13-7806-4976-9C48-0BDA18DAC2D6}" srcOrd="3" destOrd="0" presId="urn:microsoft.com/office/officeart/2005/8/layout/lProcess2"/>
    <dgm:cxn modelId="{3DC4D039-ED0D-44E9-A8ED-887FB45B63DE}" type="presParOf" srcId="{4B37B5D8-501A-49D2-A412-DFDDC1C41FF3}" destId="{EB7BE758-F3D9-4AB4-A195-978A6A7E2864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271EBC-4CF3-4DEE-A2F9-0BB36AD2BDF9}">
      <dsp:nvSpPr>
        <dsp:cNvPr id="0" name=""/>
        <dsp:cNvSpPr/>
      </dsp:nvSpPr>
      <dsp:spPr>
        <a:xfrm>
          <a:off x="0" y="607996"/>
          <a:ext cx="3296027" cy="4614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415" tIns="330200" rIns="174415" bIns="3302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What is CIIM?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Project Scope + Background</a:t>
          </a:r>
        </a:p>
      </dsp:txBody>
      <dsp:txXfrm>
        <a:off x="0" y="2822927"/>
        <a:ext cx="3296027" cy="2399507"/>
      </dsp:txXfrm>
    </dsp:sp>
    <dsp:sp modelId="{D6827EED-2784-47F8-9D8C-D6FCC2632941}">
      <dsp:nvSpPr>
        <dsp:cNvPr id="0" name=""/>
        <dsp:cNvSpPr/>
      </dsp:nvSpPr>
      <dsp:spPr>
        <a:xfrm>
          <a:off x="725125" y="954079"/>
          <a:ext cx="1845775" cy="18457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672" tIns="12700" rIns="9767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800" kern="1200"/>
            <a:t>1</a:t>
          </a:r>
        </a:p>
      </dsp:txBody>
      <dsp:txXfrm>
        <a:off x="995432" y="1224386"/>
        <a:ext cx="1305161" cy="1305161"/>
      </dsp:txXfrm>
    </dsp:sp>
    <dsp:sp modelId="{1B097358-54F6-4FAC-AF3F-2ABFBA326240}">
      <dsp:nvSpPr>
        <dsp:cNvPr id="0" name=""/>
        <dsp:cNvSpPr/>
      </dsp:nvSpPr>
      <dsp:spPr>
        <a:xfrm>
          <a:off x="3625629" y="607996"/>
          <a:ext cx="3296027" cy="4614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415" tIns="330200" rIns="174415" bIns="3302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What can we improve?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Workflow + Findings</a:t>
          </a:r>
        </a:p>
      </dsp:txBody>
      <dsp:txXfrm>
        <a:off x="3625629" y="2822927"/>
        <a:ext cx="3296027" cy="2399507"/>
      </dsp:txXfrm>
    </dsp:sp>
    <dsp:sp modelId="{7680C690-BBC0-4E05-BE69-BAE5A6F9F8FC}">
      <dsp:nvSpPr>
        <dsp:cNvPr id="0" name=""/>
        <dsp:cNvSpPr/>
      </dsp:nvSpPr>
      <dsp:spPr>
        <a:xfrm>
          <a:off x="4350755" y="954079"/>
          <a:ext cx="1845775" cy="18457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672" tIns="12700" rIns="9767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800" kern="1200"/>
            <a:t>2</a:t>
          </a:r>
        </a:p>
      </dsp:txBody>
      <dsp:txXfrm>
        <a:off x="4621062" y="1224386"/>
        <a:ext cx="1305161" cy="1305161"/>
      </dsp:txXfrm>
    </dsp:sp>
    <dsp:sp modelId="{E79B4C40-A515-4A63-96BD-81FEED899DB2}">
      <dsp:nvSpPr>
        <dsp:cNvPr id="0" name=""/>
        <dsp:cNvSpPr/>
      </dsp:nvSpPr>
      <dsp:spPr>
        <a:xfrm>
          <a:off x="7251259" y="571404"/>
          <a:ext cx="3296027" cy="4614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415" tIns="330200" rIns="174415" bIns="3302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What comes next? 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Summary + Recommendations</a:t>
          </a:r>
        </a:p>
      </dsp:txBody>
      <dsp:txXfrm>
        <a:off x="7251259" y="2786334"/>
        <a:ext cx="3296027" cy="2399507"/>
      </dsp:txXfrm>
    </dsp:sp>
    <dsp:sp modelId="{EFCCC4C3-2AD4-4E2E-A249-7E6864F46F70}">
      <dsp:nvSpPr>
        <dsp:cNvPr id="0" name=""/>
        <dsp:cNvSpPr/>
      </dsp:nvSpPr>
      <dsp:spPr>
        <a:xfrm>
          <a:off x="7976385" y="954079"/>
          <a:ext cx="1845775" cy="18457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672" tIns="12700" rIns="9767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800" kern="1200"/>
            <a:t>3</a:t>
          </a:r>
        </a:p>
      </dsp:txBody>
      <dsp:txXfrm>
        <a:off x="8246692" y="1224386"/>
        <a:ext cx="1305161" cy="13051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6C3620-A9C3-4E62-93E0-8759DEA3F213}">
      <dsp:nvSpPr>
        <dsp:cNvPr id="0" name=""/>
        <dsp:cNvSpPr/>
      </dsp:nvSpPr>
      <dsp:spPr>
        <a:xfrm>
          <a:off x="1019" y="438441"/>
          <a:ext cx="2493216" cy="29918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55" tIns="0" rIns="43978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Adstock</a:t>
          </a:r>
          <a:endParaRPr lang="en-US" sz="2500" kern="1200" dirty="0"/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Volume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Temporal Patterns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Distribution</a:t>
          </a:r>
        </a:p>
      </dsp:txBody>
      <dsp:txXfrm>
        <a:off x="1019" y="1635185"/>
        <a:ext cx="2493216" cy="1795116"/>
      </dsp:txXfrm>
    </dsp:sp>
    <dsp:sp modelId="{2946B7F4-4FE7-4734-A6D9-9D7BC63235C0}">
      <dsp:nvSpPr>
        <dsp:cNvPr id="0" name=""/>
        <dsp:cNvSpPr/>
      </dsp:nvSpPr>
      <dsp:spPr>
        <a:xfrm>
          <a:off x="1019" y="481918"/>
          <a:ext cx="2493216" cy="119674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55" tIns="165100" rIns="43978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100" kern="1200"/>
            <a:t>01</a:t>
          </a:r>
          <a:endParaRPr sz="6100" kern="1200" dirty="0"/>
        </a:p>
      </dsp:txBody>
      <dsp:txXfrm>
        <a:off x="1019" y="481918"/>
        <a:ext cx="2493216" cy="11967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C6D10-1E46-445C-BC9B-853E6C3C8829}">
      <dsp:nvSpPr>
        <dsp:cNvPr id="0" name=""/>
        <dsp:cNvSpPr/>
      </dsp:nvSpPr>
      <dsp:spPr>
        <a:xfrm>
          <a:off x="2946" y="240813"/>
          <a:ext cx="3590180" cy="1436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Build 19 candidate features</a:t>
          </a:r>
        </a:p>
      </dsp:txBody>
      <dsp:txXfrm>
        <a:off x="720982" y="240813"/>
        <a:ext cx="2154108" cy="1436072"/>
      </dsp:txXfrm>
    </dsp:sp>
    <dsp:sp modelId="{7D2A6E60-CCBD-4BD6-BE54-E0EFBE108553}">
      <dsp:nvSpPr>
        <dsp:cNvPr id="0" name=""/>
        <dsp:cNvSpPr/>
      </dsp:nvSpPr>
      <dsp:spPr>
        <a:xfrm>
          <a:off x="3234109" y="240813"/>
          <a:ext cx="3590180" cy="1436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Check correlation and signal</a:t>
          </a:r>
        </a:p>
      </dsp:txBody>
      <dsp:txXfrm>
        <a:off x="3952145" y="240813"/>
        <a:ext cx="2154108" cy="1436072"/>
      </dsp:txXfrm>
    </dsp:sp>
    <dsp:sp modelId="{C13D50A8-9FB1-49D0-87CC-9052D66FCF72}">
      <dsp:nvSpPr>
        <dsp:cNvPr id="0" name=""/>
        <dsp:cNvSpPr/>
      </dsp:nvSpPr>
      <dsp:spPr>
        <a:xfrm>
          <a:off x="6465272" y="240813"/>
          <a:ext cx="3590180" cy="1436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Run model iterations with approved features</a:t>
          </a:r>
        </a:p>
      </dsp:txBody>
      <dsp:txXfrm>
        <a:off x="7183308" y="240813"/>
        <a:ext cx="2154108" cy="14360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C6D10-1E46-445C-BC9B-853E6C3C8829}">
      <dsp:nvSpPr>
        <dsp:cNvPr id="0" name=""/>
        <dsp:cNvSpPr/>
      </dsp:nvSpPr>
      <dsp:spPr>
        <a:xfrm>
          <a:off x="4665" y="415657"/>
          <a:ext cx="2715964" cy="10863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Segment demographics by aligning with leads</a:t>
          </a:r>
        </a:p>
      </dsp:txBody>
      <dsp:txXfrm>
        <a:off x="547858" y="415657"/>
        <a:ext cx="1629579" cy="1086385"/>
      </dsp:txXfrm>
    </dsp:sp>
    <dsp:sp modelId="{7D2A6E60-CCBD-4BD6-BE54-E0EFBE108553}">
      <dsp:nvSpPr>
        <dsp:cNvPr id="0" name=""/>
        <dsp:cNvSpPr/>
      </dsp:nvSpPr>
      <dsp:spPr>
        <a:xfrm>
          <a:off x="2449033" y="415657"/>
          <a:ext cx="2715964" cy="10863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Check conversion rate by segment</a:t>
          </a:r>
        </a:p>
      </dsp:txBody>
      <dsp:txXfrm>
        <a:off x="2992226" y="415657"/>
        <a:ext cx="1629579" cy="1086385"/>
      </dsp:txXfrm>
    </dsp:sp>
    <dsp:sp modelId="{DA64E49E-61D7-4466-8020-02820734BA02}">
      <dsp:nvSpPr>
        <dsp:cNvPr id="0" name=""/>
        <dsp:cNvSpPr/>
      </dsp:nvSpPr>
      <dsp:spPr>
        <a:xfrm>
          <a:off x="4893401" y="415657"/>
          <a:ext cx="2715964" cy="10863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Identify segments with strong impact</a:t>
          </a:r>
          <a:endParaRPr lang="en-US" sz="1700" kern="1200" dirty="0"/>
        </a:p>
      </dsp:txBody>
      <dsp:txXfrm>
        <a:off x="5436594" y="415657"/>
        <a:ext cx="1629579" cy="1086385"/>
      </dsp:txXfrm>
    </dsp:sp>
    <dsp:sp modelId="{C13D50A8-9FB1-49D0-87CC-9052D66FCF72}">
      <dsp:nvSpPr>
        <dsp:cNvPr id="0" name=""/>
        <dsp:cNvSpPr/>
      </dsp:nvSpPr>
      <dsp:spPr>
        <a:xfrm>
          <a:off x="7337769" y="415657"/>
          <a:ext cx="2715964" cy="10863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Run model iterations with approved features</a:t>
          </a:r>
        </a:p>
      </dsp:txBody>
      <dsp:txXfrm>
        <a:off x="7880962" y="415657"/>
        <a:ext cx="1629579" cy="10863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E2CE5A-B723-4E23-85AF-7EEDA6472C8A}">
      <dsp:nvSpPr>
        <dsp:cNvPr id="0" name=""/>
        <dsp:cNvSpPr/>
      </dsp:nvSpPr>
      <dsp:spPr>
        <a:xfrm>
          <a:off x="914464" y="0"/>
          <a:ext cx="1952456" cy="1464342"/>
        </a:xfrm>
        <a:prstGeom prst="up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9C210-C54E-41B0-AFCF-9AD861574C6F}">
      <dsp:nvSpPr>
        <dsp:cNvPr id="0" name=""/>
        <dsp:cNvSpPr/>
      </dsp:nvSpPr>
      <dsp:spPr>
        <a:xfrm>
          <a:off x="2925494" y="0"/>
          <a:ext cx="5632704" cy="1464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264" tIns="0" rIns="334264" bIns="334264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Income $0 - $50K</a:t>
          </a:r>
        </a:p>
      </dsp:txBody>
      <dsp:txXfrm>
        <a:off x="2925494" y="0"/>
        <a:ext cx="5632704" cy="1464342"/>
      </dsp:txXfrm>
    </dsp:sp>
    <dsp:sp modelId="{F2223CCE-1294-4012-A7F1-CF71156DE059}">
      <dsp:nvSpPr>
        <dsp:cNvPr id="0" name=""/>
        <dsp:cNvSpPr/>
      </dsp:nvSpPr>
      <dsp:spPr>
        <a:xfrm>
          <a:off x="1500201" y="1586370"/>
          <a:ext cx="1952456" cy="1464342"/>
        </a:xfrm>
        <a:prstGeom prst="downArrow">
          <a:avLst/>
        </a:prstGeom>
        <a:solidFill>
          <a:srgbClr val="A5002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C6C22-F60F-4573-97F6-6D0D8A35D892}">
      <dsp:nvSpPr>
        <dsp:cNvPr id="0" name=""/>
        <dsp:cNvSpPr/>
      </dsp:nvSpPr>
      <dsp:spPr>
        <a:xfrm>
          <a:off x="3511231" y="1586370"/>
          <a:ext cx="5632704" cy="1464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264" tIns="0" rIns="334264" bIns="334264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Age 55+</a:t>
          </a:r>
        </a:p>
      </dsp:txBody>
      <dsp:txXfrm>
        <a:off x="3511231" y="1586370"/>
        <a:ext cx="5632704" cy="14643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0E78B4-6B7E-4F3C-BB64-310991E28DFE}">
      <dsp:nvSpPr>
        <dsp:cNvPr id="0" name=""/>
        <dsp:cNvSpPr/>
      </dsp:nvSpPr>
      <dsp:spPr>
        <a:xfrm>
          <a:off x="0" y="1483232"/>
          <a:ext cx="3620014" cy="2172008"/>
        </a:xfrm>
        <a:prstGeom prst="rect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Room for Improvement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tx1"/>
              </a:solidFill>
            </a:rPr>
            <a:t>Combine features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tx1"/>
              </a:solidFill>
            </a:rPr>
            <a:t>Interaction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tx1"/>
              </a:solidFill>
            </a:rPr>
            <a:t>Model build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tx1"/>
              </a:solidFill>
            </a:rPr>
            <a:t>Feature engineering </a:t>
          </a:r>
        </a:p>
      </dsp:txBody>
      <dsp:txXfrm>
        <a:off x="0" y="1483232"/>
        <a:ext cx="3620014" cy="217200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E8313-502B-4DF0-B2A0-6E0E2137A682}">
      <dsp:nvSpPr>
        <dsp:cNvPr id="0" name=""/>
        <dsp:cNvSpPr/>
      </dsp:nvSpPr>
      <dsp:spPr>
        <a:xfrm>
          <a:off x="0" y="59602"/>
          <a:ext cx="10281683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Understand TV identity and behavior</a:t>
          </a:r>
        </a:p>
      </dsp:txBody>
      <dsp:txXfrm>
        <a:off x="28100" y="87702"/>
        <a:ext cx="10225483" cy="519439"/>
      </dsp:txXfrm>
    </dsp:sp>
    <dsp:sp modelId="{ECE2B7F1-B732-481F-A8A9-C22F13757335}">
      <dsp:nvSpPr>
        <dsp:cNvPr id="0" name=""/>
        <dsp:cNvSpPr/>
      </dsp:nvSpPr>
      <dsp:spPr>
        <a:xfrm>
          <a:off x="0" y="704362"/>
          <a:ext cx="10281683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Focus on TVs with a long enough history</a:t>
          </a:r>
        </a:p>
      </dsp:txBody>
      <dsp:txXfrm>
        <a:off x="28100" y="732462"/>
        <a:ext cx="10225483" cy="519439"/>
      </dsp:txXfrm>
    </dsp:sp>
    <dsp:sp modelId="{DF5B4CBD-63A6-4FF4-969C-1F95D99BC42A}">
      <dsp:nvSpPr>
        <dsp:cNvPr id="0" name=""/>
        <dsp:cNvSpPr/>
      </dsp:nvSpPr>
      <dsp:spPr>
        <a:xfrm>
          <a:off x="0" y="1349122"/>
          <a:ext cx="10281683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Shift calibration method to not need a specific period to match</a:t>
          </a:r>
        </a:p>
      </dsp:txBody>
      <dsp:txXfrm>
        <a:off x="28100" y="1377222"/>
        <a:ext cx="10225483" cy="519439"/>
      </dsp:txXfrm>
    </dsp:sp>
    <dsp:sp modelId="{7380EFF2-E0CE-4C9A-A072-DA4D6E9B0B89}">
      <dsp:nvSpPr>
        <dsp:cNvPr id="0" name=""/>
        <dsp:cNvSpPr/>
      </dsp:nvSpPr>
      <dsp:spPr>
        <a:xfrm>
          <a:off x="0" y="1993882"/>
          <a:ext cx="10281683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Discuss marketing tactics</a:t>
          </a:r>
        </a:p>
      </dsp:txBody>
      <dsp:txXfrm>
        <a:off x="28100" y="2021982"/>
        <a:ext cx="10225483" cy="519439"/>
      </dsp:txXfrm>
    </dsp:sp>
    <dsp:sp modelId="{8B064107-3AEC-4AC3-9AB5-9589A42684DA}">
      <dsp:nvSpPr>
        <dsp:cNvPr id="0" name=""/>
        <dsp:cNvSpPr/>
      </dsp:nvSpPr>
      <dsp:spPr>
        <a:xfrm>
          <a:off x="0" y="2638642"/>
          <a:ext cx="10281683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Check alignment of average conversion rate</a:t>
          </a:r>
        </a:p>
      </dsp:txBody>
      <dsp:txXfrm>
        <a:off x="28100" y="2666742"/>
        <a:ext cx="10225483" cy="519439"/>
      </dsp:txXfrm>
    </dsp:sp>
    <dsp:sp modelId="{E9AE27A5-7E6C-4778-ACCB-889AA4ECDFA2}">
      <dsp:nvSpPr>
        <dsp:cNvPr id="0" name=""/>
        <dsp:cNvSpPr/>
      </dsp:nvSpPr>
      <dsp:spPr>
        <a:xfrm>
          <a:off x="0" y="3283402"/>
          <a:ext cx="10281683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Measure change in impression metrics</a:t>
          </a:r>
        </a:p>
      </dsp:txBody>
      <dsp:txXfrm>
        <a:off x="28100" y="3311502"/>
        <a:ext cx="10225483" cy="519439"/>
      </dsp:txXfrm>
    </dsp:sp>
    <dsp:sp modelId="{E3754723-2017-4861-9A81-0F369728EAF1}">
      <dsp:nvSpPr>
        <dsp:cNvPr id="0" name=""/>
        <dsp:cNvSpPr/>
      </dsp:nvSpPr>
      <dsp:spPr>
        <a:xfrm>
          <a:off x="0" y="3928162"/>
          <a:ext cx="10281683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Define conversion rate and instances of behavior</a:t>
          </a:r>
        </a:p>
      </dsp:txBody>
      <dsp:txXfrm>
        <a:off x="28100" y="3956262"/>
        <a:ext cx="10225483" cy="519439"/>
      </dsp:txXfrm>
    </dsp:sp>
    <dsp:sp modelId="{C35F32BD-D47D-493A-B38A-89FC59C527A4}">
      <dsp:nvSpPr>
        <dsp:cNvPr id="0" name=""/>
        <dsp:cNvSpPr/>
      </dsp:nvSpPr>
      <dsp:spPr>
        <a:xfrm>
          <a:off x="0" y="4545914"/>
          <a:ext cx="10281683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Investigate data availability, sources, and structure</a:t>
          </a:r>
        </a:p>
      </dsp:txBody>
      <dsp:txXfrm>
        <a:off x="28100" y="4574014"/>
        <a:ext cx="10225483" cy="5194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166C3A-46CB-444F-B616-9D912904E871}">
      <dsp:nvSpPr>
        <dsp:cNvPr id="0" name=""/>
        <dsp:cNvSpPr/>
      </dsp:nvSpPr>
      <dsp:spPr>
        <a:xfrm>
          <a:off x="4509" y="797107"/>
          <a:ext cx="1971641" cy="1238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Learn patterns from historical data</a:t>
          </a:r>
        </a:p>
      </dsp:txBody>
      <dsp:txXfrm>
        <a:off x="40782" y="833380"/>
        <a:ext cx="1899095" cy="1165891"/>
      </dsp:txXfrm>
    </dsp:sp>
    <dsp:sp modelId="{0D6ED083-6DBF-4011-A794-60F27139A316}">
      <dsp:nvSpPr>
        <dsp:cNvPr id="0" name=""/>
        <dsp:cNvSpPr/>
      </dsp:nvSpPr>
      <dsp:spPr>
        <a:xfrm>
          <a:off x="2173315" y="1171842"/>
          <a:ext cx="417988" cy="4889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173315" y="1269635"/>
        <a:ext cx="292592" cy="293381"/>
      </dsp:txXfrm>
    </dsp:sp>
    <dsp:sp modelId="{6B37598B-5E96-45EE-8E21-24D5FE0AD20E}">
      <dsp:nvSpPr>
        <dsp:cNvPr id="0" name=""/>
        <dsp:cNvSpPr/>
      </dsp:nvSpPr>
      <dsp:spPr>
        <a:xfrm>
          <a:off x="2764807" y="797107"/>
          <a:ext cx="1971641" cy="1238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Calibrate to match reality and adjust unknowns</a:t>
          </a:r>
        </a:p>
      </dsp:txBody>
      <dsp:txXfrm>
        <a:off x="2801080" y="833380"/>
        <a:ext cx="1899095" cy="1165891"/>
      </dsp:txXfrm>
    </dsp:sp>
    <dsp:sp modelId="{BC4B1734-A7AA-4CAA-B89A-7171CF1EC0B0}">
      <dsp:nvSpPr>
        <dsp:cNvPr id="0" name=""/>
        <dsp:cNvSpPr/>
      </dsp:nvSpPr>
      <dsp:spPr>
        <a:xfrm>
          <a:off x="4933613" y="1171842"/>
          <a:ext cx="417988" cy="4889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933613" y="1269635"/>
        <a:ext cx="292592" cy="293381"/>
      </dsp:txXfrm>
    </dsp:sp>
    <dsp:sp modelId="{059AD5FF-ADC4-4194-B6DA-AFC0783A640E}">
      <dsp:nvSpPr>
        <dsp:cNvPr id="0" name=""/>
        <dsp:cNvSpPr/>
      </dsp:nvSpPr>
      <dsp:spPr>
        <a:xfrm>
          <a:off x="5525106" y="797107"/>
          <a:ext cx="1971641" cy="1238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Test and evaluate on unseen data</a:t>
          </a:r>
        </a:p>
      </dsp:txBody>
      <dsp:txXfrm>
        <a:off x="5561379" y="833380"/>
        <a:ext cx="1899095" cy="1165891"/>
      </dsp:txXfrm>
    </dsp:sp>
    <dsp:sp modelId="{06EC9161-72F4-46A7-991E-4E1B26417EB3}">
      <dsp:nvSpPr>
        <dsp:cNvPr id="0" name=""/>
        <dsp:cNvSpPr/>
      </dsp:nvSpPr>
      <dsp:spPr>
        <a:xfrm>
          <a:off x="7693912" y="1171842"/>
          <a:ext cx="417988" cy="4889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693912" y="1269635"/>
        <a:ext cx="292592" cy="293381"/>
      </dsp:txXfrm>
    </dsp:sp>
    <dsp:sp modelId="{22FEFE0C-0359-433F-B6EC-4D194B2175AD}">
      <dsp:nvSpPr>
        <dsp:cNvPr id="0" name=""/>
        <dsp:cNvSpPr/>
      </dsp:nvSpPr>
      <dsp:spPr>
        <a:xfrm>
          <a:off x="8285404" y="797107"/>
          <a:ext cx="1971641" cy="1238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Model deployment</a:t>
          </a:r>
        </a:p>
      </dsp:txBody>
      <dsp:txXfrm>
        <a:off x="8321677" y="833380"/>
        <a:ext cx="1899095" cy="116589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7131A-98E0-4822-8A60-7AF5CFC45FA4}">
      <dsp:nvSpPr>
        <dsp:cNvPr id="0" name=""/>
        <dsp:cNvSpPr/>
      </dsp:nvSpPr>
      <dsp:spPr>
        <a:xfrm>
          <a:off x="5675" y="0"/>
          <a:ext cx="1991741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Signal</a:t>
          </a:r>
        </a:p>
      </dsp:txBody>
      <dsp:txXfrm>
        <a:off x="5675" y="0"/>
        <a:ext cx="1991741" cy="1625600"/>
      </dsp:txXfrm>
    </dsp:sp>
    <dsp:sp modelId="{2047D4D5-5B26-4AF5-8826-3924C3F7F34B}">
      <dsp:nvSpPr>
        <dsp:cNvPr id="0" name=""/>
        <dsp:cNvSpPr/>
      </dsp:nvSpPr>
      <dsp:spPr>
        <a:xfrm>
          <a:off x="204850" y="1627187"/>
          <a:ext cx="1593393" cy="1633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Relationship with target</a:t>
          </a:r>
        </a:p>
      </dsp:txBody>
      <dsp:txXfrm>
        <a:off x="251519" y="1673856"/>
        <a:ext cx="1500055" cy="1540464"/>
      </dsp:txXfrm>
    </dsp:sp>
    <dsp:sp modelId="{BF4E89E0-89B8-40FC-AB79-1E328C33AB1F}">
      <dsp:nvSpPr>
        <dsp:cNvPr id="0" name=""/>
        <dsp:cNvSpPr/>
      </dsp:nvSpPr>
      <dsp:spPr>
        <a:xfrm>
          <a:off x="204850" y="3512343"/>
          <a:ext cx="1593393" cy="1633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Differences between groups</a:t>
          </a:r>
        </a:p>
      </dsp:txBody>
      <dsp:txXfrm>
        <a:off x="251519" y="3559012"/>
        <a:ext cx="1500055" cy="1540464"/>
      </dsp:txXfrm>
    </dsp:sp>
    <dsp:sp modelId="{92260840-19A0-4F65-A1B4-28349F97FCD4}">
      <dsp:nvSpPr>
        <dsp:cNvPr id="0" name=""/>
        <dsp:cNvSpPr/>
      </dsp:nvSpPr>
      <dsp:spPr>
        <a:xfrm>
          <a:off x="2146797" y="0"/>
          <a:ext cx="1991741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Quality</a:t>
          </a:r>
          <a:endParaRPr lang="en-US" sz="3000" kern="1200" dirty="0"/>
        </a:p>
      </dsp:txBody>
      <dsp:txXfrm>
        <a:off x="2146797" y="0"/>
        <a:ext cx="1991741" cy="1625600"/>
      </dsp:txXfrm>
    </dsp:sp>
    <dsp:sp modelId="{FC97B15A-D541-4588-9C52-13AF04AB73F8}">
      <dsp:nvSpPr>
        <dsp:cNvPr id="0" name=""/>
        <dsp:cNvSpPr/>
      </dsp:nvSpPr>
      <dsp:spPr>
        <a:xfrm>
          <a:off x="2345972" y="1625600"/>
          <a:ext cx="1593393" cy="35221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Meaningfully improve key metrics</a:t>
          </a:r>
        </a:p>
      </dsp:txBody>
      <dsp:txXfrm>
        <a:off x="2392641" y="1672269"/>
        <a:ext cx="1500055" cy="3428795"/>
      </dsp:txXfrm>
    </dsp:sp>
    <dsp:sp modelId="{1902ADE9-93F8-4094-82ED-59D09364A69A}">
      <dsp:nvSpPr>
        <dsp:cNvPr id="0" name=""/>
        <dsp:cNvSpPr/>
      </dsp:nvSpPr>
      <dsp:spPr>
        <a:xfrm>
          <a:off x="4287919" y="0"/>
          <a:ext cx="1991741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Unique</a:t>
          </a:r>
        </a:p>
      </dsp:txBody>
      <dsp:txXfrm>
        <a:off x="4287919" y="0"/>
        <a:ext cx="1991741" cy="1625600"/>
      </dsp:txXfrm>
    </dsp:sp>
    <dsp:sp modelId="{B158643E-6ECA-4A19-A023-81D81220953E}">
      <dsp:nvSpPr>
        <dsp:cNvPr id="0" name=""/>
        <dsp:cNvSpPr/>
      </dsp:nvSpPr>
      <dsp:spPr>
        <a:xfrm>
          <a:off x="4487093" y="1625600"/>
          <a:ext cx="1593393" cy="35221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Unique information to model</a:t>
          </a:r>
        </a:p>
      </dsp:txBody>
      <dsp:txXfrm>
        <a:off x="4533762" y="1672269"/>
        <a:ext cx="1500055" cy="3428795"/>
      </dsp:txXfrm>
    </dsp:sp>
    <dsp:sp modelId="{48B4132D-0E2D-45E1-919D-D2D342108F08}">
      <dsp:nvSpPr>
        <dsp:cNvPr id="0" name=""/>
        <dsp:cNvSpPr/>
      </dsp:nvSpPr>
      <dsp:spPr>
        <a:xfrm>
          <a:off x="6429041" y="0"/>
          <a:ext cx="1991741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Insight</a:t>
          </a:r>
        </a:p>
      </dsp:txBody>
      <dsp:txXfrm>
        <a:off x="6429041" y="0"/>
        <a:ext cx="1991741" cy="1625600"/>
      </dsp:txXfrm>
    </dsp:sp>
    <dsp:sp modelId="{5106E446-E88C-4EC2-A466-530AA74A6CD8}">
      <dsp:nvSpPr>
        <dsp:cNvPr id="0" name=""/>
        <dsp:cNvSpPr/>
      </dsp:nvSpPr>
      <dsp:spPr>
        <a:xfrm>
          <a:off x="6628215" y="1627187"/>
          <a:ext cx="1593393" cy="1633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Actionable and interpretable</a:t>
          </a:r>
        </a:p>
      </dsp:txBody>
      <dsp:txXfrm>
        <a:off x="6674884" y="1673856"/>
        <a:ext cx="1500055" cy="1540464"/>
      </dsp:txXfrm>
    </dsp:sp>
    <dsp:sp modelId="{BEF5A24D-B37F-46FF-8AE2-C089FA2DCF61}">
      <dsp:nvSpPr>
        <dsp:cNvPr id="0" name=""/>
        <dsp:cNvSpPr/>
      </dsp:nvSpPr>
      <dsp:spPr>
        <a:xfrm>
          <a:off x="6628215" y="3512343"/>
          <a:ext cx="1593393" cy="1633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Aligns with business knowledge</a:t>
          </a:r>
        </a:p>
      </dsp:txBody>
      <dsp:txXfrm>
        <a:off x="6674884" y="3559012"/>
        <a:ext cx="1500055" cy="1540464"/>
      </dsp:txXfrm>
    </dsp:sp>
    <dsp:sp modelId="{33D7300E-36C3-4D97-9CA2-4541040533AC}">
      <dsp:nvSpPr>
        <dsp:cNvPr id="0" name=""/>
        <dsp:cNvSpPr/>
      </dsp:nvSpPr>
      <dsp:spPr>
        <a:xfrm>
          <a:off x="8570163" y="0"/>
          <a:ext cx="1991741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Durability</a:t>
          </a:r>
        </a:p>
      </dsp:txBody>
      <dsp:txXfrm>
        <a:off x="8570163" y="0"/>
        <a:ext cx="1991741" cy="1625600"/>
      </dsp:txXfrm>
    </dsp:sp>
    <dsp:sp modelId="{AD62BDBC-04BC-401E-9DBD-6C969E590237}">
      <dsp:nvSpPr>
        <dsp:cNvPr id="0" name=""/>
        <dsp:cNvSpPr/>
      </dsp:nvSpPr>
      <dsp:spPr>
        <a:xfrm>
          <a:off x="8769337" y="1626063"/>
          <a:ext cx="1593393" cy="106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Elastic with changes in regime and behavior</a:t>
          </a:r>
          <a:endParaRPr lang="en-US" sz="1600" kern="1200" dirty="0"/>
        </a:p>
      </dsp:txBody>
      <dsp:txXfrm>
        <a:off x="8800517" y="1657243"/>
        <a:ext cx="1531033" cy="1002191"/>
      </dsp:txXfrm>
    </dsp:sp>
    <dsp:sp modelId="{1A219934-8EFF-4694-9513-47AB6BC0535C}">
      <dsp:nvSpPr>
        <dsp:cNvPr id="0" name=""/>
        <dsp:cNvSpPr/>
      </dsp:nvSpPr>
      <dsp:spPr>
        <a:xfrm>
          <a:off x="8769337" y="2854391"/>
          <a:ext cx="1593393" cy="106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Avoid overfitting</a:t>
          </a:r>
          <a:endParaRPr lang="en-US" sz="1600" kern="1200" dirty="0"/>
        </a:p>
      </dsp:txBody>
      <dsp:txXfrm>
        <a:off x="8800517" y="2885571"/>
        <a:ext cx="1531033" cy="1002191"/>
      </dsp:txXfrm>
    </dsp:sp>
    <dsp:sp modelId="{EB7BE758-F3D9-4AB4-A195-978A6A7E2864}">
      <dsp:nvSpPr>
        <dsp:cNvPr id="0" name=""/>
        <dsp:cNvSpPr/>
      </dsp:nvSpPr>
      <dsp:spPr>
        <a:xfrm>
          <a:off x="8769337" y="4082719"/>
          <a:ext cx="1593393" cy="106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Generalizes well</a:t>
          </a:r>
        </a:p>
      </dsp:txBody>
      <dsp:txXfrm>
        <a:off x="8800517" y="4113899"/>
        <a:ext cx="1531033" cy="10021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NumberedTitleList#1">
  <dgm:title val=""/>
  <dgm:desc val=""/>
  <dgm:catLst>
    <dgm:cat type="list" pri="815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D04E5720-0C97-482E-90D1-8A349B7CF80D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044153C0-5F7F-4791-A71E-D264BA2883FA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E8B0B82B-4411-4C42-9FA8-16771F9C2123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4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75"/>
          <dgm:constr type="r" for="ch" forName="nodeText" refType="r" refFor="ch" refForName="bgRect"/>
          <dgm:constr type="h" for="ch" forName="nodeText" refType="h" refFor="ch" refForName="bgRect" fact="0.52"/>
          <dgm:constr type="t" for="ch" forName="nodeText" refType="h" refFor="ch" refForName="bgRect" fact="0.48"/>
        </dgm:constrLst>
        <dgm:ruleLst/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15"/>
              <dgm:constr type="rMarg" refType="w" fact="0.15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nodeText" styleLbl="bgAccFollowNode1" moveWith="bgRect">
          <dgm:varLst>
            <dgm:bulletEnabled val="1"/>
          </dgm:varLst>
          <dgm:alg type="tx">
            <dgm:param type="parTxLTRAlign" val="ctr"/>
            <dgm:param type="parTxRTLAlign" val="r"/>
            <dgm:param type="txAnchorVert" val="mid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32"/>
            <dgm:constr type="tMarg" val="26"/>
            <dgm:constr type="lMarg" refType="w" fact="0.15"/>
            <dgm:constr type="rMarg" refType="w" fact="0.1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NumberedTitleCardList#1">
  <dgm:title val=""/>
  <dgm:desc val=""/>
  <dgm:catLst>
    <dgm:cat type="list" pri="8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A0909C6D-A116-4ECC-8EEB-213BC577284F}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{5A030EB6-EC11-4FE8-8E39-26C5E8B96337}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{FCD8DB8C-D028-4BAD-ABC4-577F244B0572}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bgShp">
            <dgm:varLst>
              <dgm:chMax val="0"/>
              <dgm:bulletEnabled/>
            </dgm:varLst>
            <dgm:presOf axis="self" ptType="sibTrans"/>
            <dgm:choose name="numAlignDir">
              <dgm:if name="numAlignNorm" func="var" arg="dir" op="equ" val="norm">
                <dgm:alg type="tx">
                  <dgm:param type="parTxLTRAlign" val="l"/>
                  <dgm:param type="parTxRTLAlign" val="l"/>
                </dgm:alg>
              </dgm:if>
              <dgm:else name="numAlignRev">
                <dgm:alg type="tx">
                  <dgm:param type="parTxLTRAlign" val="r"/>
                  <dgm:param type="parTxRTLAlign" val="r"/>
                </dgm:alg>
              </dgm:else>
            </dgm:choose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1"/>
              <dgm:constr type="rMarg" refType="w" fact="0.05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parChTrans1D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1"/>
            <dgm:constr type="rMarg" refType="w" fact="0.0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C85F11-AED7-F48F-4A97-4A827A69A6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2143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DA55F5-A1E3-E283-9F8C-632116E737B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66347" y="1"/>
            <a:ext cx="4028440" cy="352143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B0252DD-6722-4F2E-83C7-18286A5AB45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7190EC-315A-38B5-412C-ADF3242D50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658259"/>
            <a:ext cx="4028440" cy="35214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86B1D-9AEB-9FB2-0BD5-0E9F3CF078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66347" y="6658259"/>
            <a:ext cx="4028440" cy="35214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7FCC380-F566-4000-8950-5D80EFFB7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65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C02C38-E895-46C8-B62E-755BBF3C1CE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5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14056B6-42C7-4175-B908-4F0698E0B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19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Shorten intro – name and role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00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DARTS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69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Could animate in each section</a:t>
            </a:r>
          </a:p>
          <a:p>
            <a:r>
              <a:rPr lang="en-US" dirty="0"/>
              <a:t>Bold numbers and titles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33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title, then go downwards to explain the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65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D6869-3B61-9A5F-19C2-BAA23BD0E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903A6-038B-9179-D14C-4B7252571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DFEBE-E3B8-FB14-C1C9-451AB2F3E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1D829-1D73-8397-2FA3-3246E320A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93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white text black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05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7BDE8-E065-340A-C2D7-F1291EC2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FB1B2-CCF0-0141-839A-694E85C75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56912-91DF-A7C2-82DC-DC3F4CCEF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CFC76-453C-8F8B-4918-75E62F625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06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99C08-999B-C4B2-352E-FBEEEB670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28063-6667-64C6-F30A-1724E39F2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A6DE47-C91D-8AB1-6E14-7360A8495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other number to adjust x axis scaling</a:t>
            </a:r>
          </a:p>
          <a:p>
            <a:r>
              <a:rPr lang="en-US" dirty="0"/>
              <a:t>Fly in equation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FE693-363A-E885-E050-4A0DBEC2D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47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D666E-64DC-7C7B-C898-5C3E59306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A206D-F7D4-9BB9-39F7-AF8CBE47D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5720A-3286-B64E-20A5-93D08A4CD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other number to adjust x axis scaling</a:t>
            </a:r>
          </a:p>
          <a:p>
            <a:r>
              <a:rPr lang="en-US" dirty="0"/>
              <a:t>Fly in equation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E10D5-F1EB-3D05-E7F7-9D110626E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25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0EADE-FF7B-B92C-4BB7-8A1BEBCB5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32613-08B0-C34F-850E-8676185D7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F268E-2486-1A78-286A-03AB111E0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Colors a little challenging, maybe an orange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EA25C-5648-EEA7-B0DA-63DD330C4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35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67D3F-A5AF-1FFE-6D7D-AB8B7C762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FF287-90EC-B6DF-C269-E7CEEB2D5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F987F-B03D-C00E-00B9-1E7E73427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15956-3FCA-C974-8960-FC294123B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11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F6EAF-943A-713D-152A-DB6B2CD35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025DF-5526-0567-9F5C-C0876CAA6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A376F-288F-6CAE-2A92-085781238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 of daypart, add example of a network</a:t>
            </a:r>
          </a:p>
          <a:p>
            <a:endParaRPr lang="en-US" dirty="0"/>
          </a:p>
          <a:p>
            <a:r>
              <a:rPr lang="en-US" dirty="0"/>
              <a:t>Axis label</a:t>
            </a:r>
          </a:p>
          <a:p>
            <a:endParaRPr lang="en-US" dirty="0"/>
          </a:p>
          <a:p>
            <a:r>
              <a:rPr lang="en-US" dirty="0"/>
              <a:t>Names of clusters</a:t>
            </a:r>
          </a:p>
          <a:p>
            <a:endParaRPr lang="en-US" dirty="0"/>
          </a:p>
          <a:p>
            <a:r>
              <a:rPr lang="en-US" dirty="0"/>
              <a:t>Check cluster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714BE-822A-AC9C-E432-E47E184C1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74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lighter green to be more stark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53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FB2AF-FB60-459C-E59C-0B6EB84B9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D381B-5A54-19C9-6AD3-C33FF5031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3036E-8836-9887-3ACA-BEF8DA0A7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5A7DF-E2B0-885E-91F6-532851AA3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296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120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610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 more “this is the end”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61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541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8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968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593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259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912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454EC-353B-230E-8B4A-8B06BCBD9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BC90A-1515-4BC4-F63F-2B9D40568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E22AF-6195-7231-E623-77F9936BF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3733F-EEDB-4F0E-3BDA-7F60FCCEE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154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9375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438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5B4D5-C7F7-BC1F-0B15-50494DCC1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D9145D-9762-F285-6874-965274744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46565-1DA6-1094-1E5A-290F9D212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762F3-2BE2-0EB5-9B3B-612EC5677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600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56B6-42C7-4175-B908-4F0698E0BA3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1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- LT Green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5FD567F-8AD8-42B8-8FA9-58828E9D00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28701" y="4123182"/>
            <a:ext cx="8229600" cy="1753743"/>
          </a:xfrm>
        </p:spPr>
        <p:txBody>
          <a:bodyPr anchor="t" anchorCtr="0"/>
          <a:lstStyle>
            <a:lvl1pPr algn="r">
              <a:lnSpc>
                <a:spcPct val="100000"/>
              </a:lnSpc>
              <a:defRPr sz="6000" b="1" cap="none" spc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9055F5-1A9C-4AE9-9123-5A7773A49658}"/>
              </a:ext>
            </a:extLst>
          </p:cNvPr>
          <p:cNvSpPr/>
          <p:nvPr/>
        </p:nvSpPr>
        <p:spPr>
          <a:xfrm>
            <a:off x="9954768" y="0"/>
            <a:ext cx="27432" cy="6858000"/>
          </a:xfrm>
          <a:prstGeom prst="rect">
            <a:avLst/>
          </a:prstGeom>
          <a:solidFill>
            <a:srgbClr val="E6E6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543E0A-8592-44F6-9069-AE529A4D8207}"/>
              </a:ext>
            </a:extLst>
          </p:cNvPr>
          <p:cNvSpPr/>
          <p:nvPr/>
        </p:nvSpPr>
        <p:spPr>
          <a:xfrm>
            <a:off x="9982200" y="0"/>
            <a:ext cx="221284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8A9BCC6-835B-46A6-B6F5-C8AE970095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5248" y="0"/>
            <a:ext cx="22098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A5A6659-ADE4-49D0-BF8B-BC881BA60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8675" y="6379864"/>
            <a:ext cx="1516850" cy="27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50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- DK Green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2B1BA53-CF7A-4D72-AD56-4EE765859C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28701" y="4123182"/>
            <a:ext cx="8229600" cy="1753743"/>
          </a:xfrm>
        </p:spPr>
        <p:txBody>
          <a:bodyPr anchor="t" anchorCtr="0"/>
          <a:lstStyle>
            <a:lvl1pPr algn="r">
              <a:lnSpc>
                <a:spcPct val="100000"/>
              </a:lnSpc>
              <a:defRPr sz="6000" b="1" cap="none" spc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9055F5-1A9C-4AE9-9123-5A7773A49658}"/>
              </a:ext>
            </a:extLst>
          </p:cNvPr>
          <p:cNvSpPr/>
          <p:nvPr/>
        </p:nvSpPr>
        <p:spPr>
          <a:xfrm>
            <a:off x="9954768" y="0"/>
            <a:ext cx="27432" cy="6858000"/>
          </a:xfrm>
          <a:prstGeom prst="rect">
            <a:avLst/>
          </a:prstGeom>
          <a:solidFill>
            <a:srgbClr val="E6E6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543E0A-8592-44F6-9069-AE529A4D8207}"/>
              </a:ext>
            </a:extLst>
          </p:cNvPr>
          <p:cNvSpPr/>
          <p:nvPr/>
        </p:nvSpPr>
        <p:spPr>
          <a:xfrm>
            <a:off x="9982200" y="0"/>
            <a:ext cx="22128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8A9BCC6-835B-46A6-B6F5-C8AE970095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5248" y="0"/>
            <a:ext cx="2209800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5B636D2-3C1A-4C34-A8FB-79FF809D85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7621" y="6375673"/>
            <a:ext cx="1517904" cy="2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77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- Blu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115B3EC9-989D-40B5-8B1A-5B50E7555E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28701" y="4123182"/>
            <a:ext cx="8229600" cy="1753743"/>
          </a:xfrm>
        </p:spPr>
        <p:txBody>
          <a:bodyPr anchor="t" anchorCtr="0"/>
          <a:lstStyle>
            <a:lvl1pPr algn="r">
              <a:lnSpc>
                <a:spcPct val="100000"/>
              </a:lnSpc>
              <a:defRPr sz="6000" b="1" cap="none" spc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9055F5-1A9C-4AE9-9123-5A7773A49658}"/>
              </a:ext>
            </a:extLst>
          </p:cNvPr>
          <p:cNvSpPr/>
          <p:nvPr/>
        </p:nvSpPr>
        <p:spPr>
          <a:xfrm>
            <a:off x="9954768" y="0"/>
            <a:ext cx="27432" cy="6858000"/>
          </a:xfrm>
          <a:prstGeom prst="rect">
            <a:avLst/>
          </a:prstGeom>
          <a:solidFill>
            <a:srgbClr val="E6E6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543E0A-8592-44F6-9069-AE529A4D8207}"/>
              </a:ext>
            </a:extLst>
          </p:cNvPr>
          <p:cNvSpPr/>
          <p:nvPr/>
        </p:nvSpPr>
        <p:spPr>
          <a:xfrm>
            <a:off x="9982200" y="0"/>
            <a:ext cx="2212848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8A9BCC6-835B-46A6-B6F5-C8AE970095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5248" y="0"/>
            <a:ext cx="2209800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5B636D2-3C1A-4C34-A8FB-79FF809D85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7621" y="6375673"/>
            <a:ext cx="1517904" cy="2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1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2 - LT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18C0B3F-9919-45D6-9B7D-BED5DBFDE9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5F56EEB-3E65-4A1C-8AE7-13A5D86B330F}"/>
              </a:ext>
            </a:extLst>
          </p:cNvPr>
          <p:cNvSpPr/>
          <p:nvPr/>
        </p:nvSpPr>
        <p:spPr>
          <a:xfrm>
            <a:off x="9954768" y="0"/>
            <a:ext cx="27432" cy="6858000"/>
          </a:xfrm>
          <a:prstGeom prst="rect">
            <a:avLst/>
          </a:prstGeom>
          <a:solidFill>
            <a:srgbClr val="E6E6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BBCD13-02E5-4EF4-8B60-B89352D64821}"/>
              </a:ext>
            </a:extLst>
          </p:cNvPr>
          <p:cNvSpPr/>
          <p:nvPr/>
        </p:nvSpPr>
        <p:spPr>
          <a:xfrm>
            <a:off x="0" y="0"/>
            <a:ext cx="99489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EF29EB-B5A6-4F44-A7A7-5669653541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868" y="0"/>
            <a:ext cx="99441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28701" y="4123182"/>
            <a:ext cx="8229600" cy="1753742"/>
          </a:xfrm>
        </p:spPr>
        <p:txBody>
          <a:bodyPr anchor="t"/>
          <a:lstStyle>
            <a:lvl1pPr algn="r">
              <a:lnSpc>
                <a:spcPct val="100000"/>
              </a:lnSpc>
              <a:defRPr sz="6000" b="1" cap="none" spc="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D7A7D09-5E47-4327-B85C-A59564EE17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8675" y="6379864"/>
            <a:ext cx="1516850" cy="27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42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2 - DK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18C0B3F-9919-45D6-9B7D-BED5DBFDE9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5F56EEB-3E65-4A1C-8AE7-13A5D86B330F}"/>
              </a:ext>
            </a:extLst>
          </p:cNvPr>
          <p:cNvSpPr/>
          <p:nvPr/>
        </p:nvSpPr>
        <p:spPr>
          <a:xfrm>
            <a:off x="9954768" y="0"/>
            <a:ext cx="27432" cy="6858000"/>
          </a:xfrm>
          <a:prstGeom prst="rect">
            <a:avLst/>
          </a:prstGeom>
          <a:solidFill>
            <a:srgbClr val="E6E6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BBCD13-02E5-4EF4-8B60-B89352D64821}"/>
              </a:ext>
            </a:extLst>
          </p:cNvPr>
          <p:cNvSpPr/>
          <p:nvPr/>
        </p:nvSpPr>
        <p:spPr>
          <a:xfrm>
            <a:off x="0" y="0"/>
            <a:ext cx="9948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EF29EB-B5A6-4F44-A7A7-5669653541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" y="0"/>
            <a:ext cx="99441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28701" y="4123182"/>
            <a:ext cx="8229600" cy="1753742"/>
          </a:xfrm>
        </p:spPr>
        <p:txBody>
          <a:bodyPr anchor="t"/>
          <a:lstStyle>
            <a:lvl1pPr algn="r">
              <a:lnSpc>
                <a:spcPct val="100000"/>
              </a:lnSpc>
              <a:defRPr sz="6000" b="1" cap="none" spc="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D7A7D09-5E47-4327-B85C-A59564EE17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8675" y="6379864"/>
            <a:ext cx="1516850" cy="27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20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2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18C0B3F-9919-45D6-9B7D-BED5DBFDE9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5F56EEB-3E65-4A1C-8AE7-13A5D86B330F}"/>
              </a:ext>
            </a:extLst>
          </p:cNvPr>
          <p:cNvSpPr/>
          <p:nvPr/>
        </p:nvSpPr>
        <p:spPr>
          <a:xfrm>
            <a:off x="9954768" y="0"/>
            <a:ext cx="27432" cy="6858000"/>
          </a:xfrm>
          <a:prstGeom prst="rect">
            <a:avLst/>
          </a:prstGeom>
          <a:solidFill>
            <a:srgbClr val="E6E6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BBCD13-02E5-4EF4-8B60-B89352D64821}"/>
              </a:ext>
            </a:extLst>
          </p:cNvPr>
          <p:cNvSpPr/>
          <p:nvPr/>
        </p:nvSpPr>
        <p:spPr>
          <a:xfrm>
            <a:off x="0" y="0"/>
            <a:ext cx="99489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EF29EB-B5A6-4F44-A7A7-5669653541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" y="0"/>
            <a:ext cx="99441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28701" y="4123182"/>
            <a:ext cx="8229600" cy="1753742"/>
          </a:xfrm>
        </p:spPr>
        <p:txBody>
          <a:bodyPr anchor="t"/>
          <a:lstStyle>
            <a:lvl1pPr algn="r">
              <a:lnSpc>
                <a:spcPct val="100000"/>
              </a:lnSpc>
              <a:defRPr sz="6000" b="1" cap="none" spc="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D7A7D09-5E47-4327-B85C-A59564EE17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8675" y="6379864"/>
            <a:ext cx="1516850" cy="27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7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Page w/Content - L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BFC32676-414F-42BD-86C9-AEF9BDF818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86" y="1807950"/>
            <a:ext cx="5184913" cy="432000"/>
          </a:xfrm>
        </p:spPr>
        <p:txBody>
          <a:bodyPr/>
          <a:lstStyle>
            <a:lvl1pPr algn="r">
              <a:defRPr cap="none" spc="0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noProof="0" dirty="0"/>
              <a:t>Click to edit section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44886" y="2383950"/>
            <a:ext cx="5184913" cy="360000"/>
          </a:xfrm>
        </p:spPr>
        <p:txBody>
          <a:bodyPr/>
          <a:lstStyle>
            <a:lvl1pPr marL="0" indent="0" algn="r">
              <a:buNone/>
              <a:defRPr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45000" y="2908299"/>
            <a:ext cx="5184800" cy="3813175"/>
          </a:xfrm>
          <a:noFill/>
        </p:spPr>
        <p:txBody>
          <a:bodyPr lIns="180000" tIns="252000" rIns="25200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0192D33-508F-4F8D-8B7E-541FA3CA9747}"/>
              </a:ext>
            </a:extLst>
          </p:cNvPr>
          <p:cNvSpPr txBox="1">
            <a:spLocks/>
          </p:cNvSpPr>
          <p:nvPr/>
        </p:nvSpPr>
        <p:spPr>
          <a:xfrm>
            <a:off x="2468237" y="6375449"/>
            <a:ext cx="339256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i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4FF452-6EEB-470C-AB15-A9A4DAEF4738}"/>
              </a:ext>
            </a:extLst>
          </p:cNvPr>
          <p:cNvSpPr/>
          <p:nvPr/>
        </p:nvSpPr>
        <p:spPr>
          <a:xfrm>
            <a:off x="9950196" y="0"/>
            <a:ext cx="27432" cy="6858000"/>
          </a:xfrm>
          <a:prstGeom prst="rect">
            <a:avLst/>
          </a:prstGeom>
          <a:solidFill>
            <a:srgbClr val="E6E6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9E9456-B635-432D-9CE2-8F52F501AD0D}"/>
              </a:ext>
            </a:extLst>
          </p:cNvPr>
          <p:cNvSpPr/>
          <p:nvPr/>
        </p:nvSpPr>
        <p:spPr>
          <a:xfrm>
            <a:off x="9979152" y="0"/>
            <a:ext cx="221284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27395F-E9C0-423B-A373-2E25F3B87C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5248" y="0"/>
            <a:ext cx="22098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C584D8E-8391-4845-9C0F-C44A6DE99D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8675" y="6379864"/>
            <a:ext cx="1516850" cy="27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2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Page w/Content - D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3A5E8AA-52D0-4BC5-B4FC-268056C3B1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86" y="1807950"/>
            <a:ext cx="5184913" cy="432000"/>
          </a:xfrm>
        </p:spPr>
        <p:txBody>
          <a:bodyPr/>
          <a:lstStyle>
            <a:lvl1pPr algn="r">
              <a:defRPr cap="none" spc="0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noProof="0" dirty="0"/>
              <a:t>Click to edit section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44886" y="2383950"/>
            <a:ext cx="5184913" cy="360000"/>
          </a:xfrm>
        </p:spPr>
        <p:txBody>
          <a:bodyPr/>
          <a:lstStyle>
            <a:lvl1pPr marL="0" indent="0" algn="r">
              <a:buNone/>
              <a:defRPr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45000" y="2908299"/>
            <a:ext cx="5184800" cy="3813175"/>
          </a:xfrm>
          <a:noFill/>
        </p:spPr>
        <p:txBody>
          <a:bodyPr lIns="180000" tIns="252000" rIns="25200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0192D33-508F-4F8D-8B7E-541FA3CA9747}"/>
              </a:ext>
            </a:extLst>
          </p:cNvPr>
          <p:cNvSpPr txBox="1">
            <a:spLocks/>
          </p:cNvSpPr>
          <p:nvPr/>
        </p:nvSpPr>
        <p:spPr>
          <a:xfrm>
            <a:off x="2468237" y="6375449"/>
            <a:ext cx="339256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i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4FF452-6EEB-470C-AB15-A9A4DAEF4738}"/>
              </a:ext>
            </a:extLst>
          </p:cNvPr>
          <p:cNvSpPr/>
          <p:nvPr/>
        </p:nvSpPr>
        <p:spPr>
          <a:xfrm>
            <a:off x="9950196" y="0"/>
            <a:ext cx="27432" cy="6858000"/>
          </a:xfrm>
          <a:prstGeom prst="rect">
            <a:avLst/>
          </a:prstGeom>
          <a:solidFill>
            <a:srgbClr val="E6E6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9E9456-B635-432D-9CE2-8F52F501AD0D}"/>
              </a:ext>
            </a:extLst>
          </p:cNvPr>
          <p:cNvSpPr/>
          <p:nvPr/>
        </p:nvSpPr>
        <p:spPr>
          <a:xfrm>
            <a:off x="9979152" y="0"/>
            <a:ext cx="22128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27395F-E9C0-423B-A373-2E25F3B87C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2200" y="0"/>
            <a:ext cx="22098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9E5E1E4-046E-40F6-B137-55712DDF8A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7621" y="6375673"/>
            <a:ext cx="1517904" cy="2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590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Page w/Conten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5EC19C23-DB58-411F-88E1-896B580027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86" y="1807950"/>
            <a:ext cx="5184913" cy="432000"/>
          </a:xfrm>
        </p:spPr>
        <p:txBody>
          <a:bodyPr/>
          <a:lstStyle>
            <a:lvl1pPr algn="r">
              <a:defRPr cap="none" spc="0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noProof="0" dirty="0"/>
              <a:t>Click to </a:t>
            </a:r>
            <a:r>
              <a:rPr lang="en-US" noProof="0"/>
              <a:t>edit section </a:t>
            </a:r>
            <a:r>
              <a:rPr lang="en-US" noProof="0" dirty="0"/>
              <a:t>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44886" y="2383950"/>
            <a:ext cx="5184913" cy="360000"/>
          </a:xfrm>
        </p:spPr>
        <p:txBody>
          <a:bodyPr/>
          <a:lstStyle>
            <a:lvl1pPr marL="0" indent="0" algn="r">
              <a:buNone/>
              <a:defRPr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45000" y="2908299"/>
            <a:ext cx="5184800" cy="3813175"/>
          </a:xfrm>
          <a:noFill/>
        </p:spPr>
        <p:txBody>
          <a:bodyPr lIns="180000" tIns="252000" rIns="25200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0192D33-508F-4F8D-8B7E-541FA3CA9747}"/>
              </a:ext>
            </a:extLst>
          </p:cNvPr>
          <p:cNvSpPr txBox="1">
            <a:spLocks/>
          </p:cNvSpPr>
          <p:nvPr/>
        </p:nvSpPr>
        <p:spPr>
          <a:xfrm>
            <a:off x="2468237" y="6375449"/>
            <a:ext cx="339256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i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4FF452-6EEB-470C-AB15-A9A4DAEF4738}"/>
              </a:ext>
            </a:extLst>
          </p:cNvPr>
          <p:cNvSpPr/>
          <p:nvPr/>
        </p:nvSpPr>
        <p:spPr>
          <a:xfrm>
            <a:off x="9950196" y="0"/>
            <a:ext cx="27432" cy="6858000"/>
          </a:xfrm>
          <a:prstGeom prst="rect">
            <a:avLst/>
          </a:prstGeom>
          <a:solidFill>
            <a:srgbClr val="E6E6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9E9456-B635-432D-9CE2-8F52F501AD0D}"/>
              </a:ext>
            </a:extLst>
          </p:cNvPr>
          <p:cNvSpPr/>
          <p:nvPr/>
        </p:nvSpPr>
        <p:spPr>
          <a:xfrm>
            <a:off x="9979152" y="0"/>
            <a:ext cx="2212848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27395F-E9C0-423B-A373-2E25F3B87C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2200" y="0"/>
            <a:ext cx="22098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9E5E1E4-046E-40F6-B137-55712DDF8A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7621" y="6375673"/>
            <a:ext cx="1517904" cy="2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22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0058400" cy="432000"/>
          </a:xfrm>
        </p:spPr>
        <p:txBody>
          <a:bodyPr/>
          <a:lstStyle>
            <a:lvl1pPr>
              <a:defRPr cap="none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noProof="0" dirty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10058400" cy="360000"/>
          </a:xfrm>
        </p:spPr>
        <p:txBody>
          <a:bodyPr/>
          <a:lstStyle>
            <a:lvl1pPr marL="0" indent="0">
              <a:buNone/>
              <a:defRPr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01980-CBAE-4A50-886D-54D7BB2E19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173968" y="6373368"/>
            <a:ext cx="339256" cy="2743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29EE19D-4EB7-48EB-BA94-5F09BA2DA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85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9" y="432000"/>
            <a:ext cx="10058400" cy="432000"/>
          </a:xfrm>
        </p:spPr>
        <p:txBody>
          <a:bodyPr/>
          <a:lstStyle>
            <a:lvl1pPr>
              <a:defRPr cap="none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noProof="0" dirty="0"/>
              <a:t>Click to edit page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04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noProof="0" dirty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10058400" cy="360000"/>
          </a:xfrm>
        </p:spPr>
        <p:txBody>
          <a:bodyPr/>
          <a:lstStyle>
            <a:lvl1pPr marL="0" indent="0">
              <a:buNone/>
              <a:defRPr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999" y="1511999"/>
            <a:ext cx="10058201" cy="504120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98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9" y="432000"/>
            <a:ext cx="10055025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page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1EE834-4B70-4715-8346-1C0298347EE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046375"/>
            <a:ext cx="10055024" cy="55068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9125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9" y="432000"/>
            <a:ext cx="10058400" cy="432000"/>
          </a:xfrm>
        </p:spPr>
        <p:txBody>
          <a:bodyPr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noProof="0" dirty="0"/>
              <a:t>Click to edit page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E43F4C-1A64-4197-A44B-E6EB874E243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1999" y="1046375"/>
            <a:ext cx="4928616" cy="550682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7B3F5B8-DC28-4878-AC9F-D434D7542D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61783" y="1046375"/>
            <a:ext cx="4928616" cy="55068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0305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966960" cy="432000"/>
          </a:xfrm>
        </p:spPr>
        <p:txBody>
          <a:bodyPr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noProof="0" dirty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799" y="1008000"/>
            <a:ext cx="9966959" cy="360000"/>
          </a:xfrm>
        </p:spPr>
        <p:txBody>
          <a:bodyPr/>
          <a:lstStyle>
            <a:lvl1pPr marL="0" indent="0">
              <a:buNone/>
              <a:defRPr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999" y="1511475"/>
            <a:ext cx="3191283" cy="50422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9764" y="1511477"/>
            <a:ext cx="3191256" cy="5041724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502" y="1511475"/>
            <a:ext cx="3191256" cy="5041724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75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0058400" cy="432000"/>
          </a:xfrm>
        </p:spPr>
        <p:txBody>
          <a:bodyPr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noProof="0" dirty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0058400" cy="360000"/>
          </a:xfrm>
        </p:spPr>
        <p:txBody>
          <a:bodyPr/>
          <a:lstStyle>
            <a:lvl1pPr marL="0" indent="0">
              <a:buNone/>
              <a:defRPr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07535"/>
            <a:ext cx="1920240" cy="50412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89350" y="1507535"/>
            <a:ext cx="1920240" cy="50412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6700" y="1507534"/>
            <a:ext cx="1920240" cy="5041201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50" y="1503070"/>
            <a:ext cx="1920240" cy="5036394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61400" y="1507535"/>
            <a:ext cx="1920240" cy="5041200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8293F-A5B5-4FCC-BF27-A25B1BAFF24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300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8" y="432000"/>
            <a:ext cx="10058400" cy="432000"/>
          </a:xfrm>
        </p:spPr>
        <p:txBody>
          <a:bodyPr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noProof="0" dirty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0058400" cy="360000"/>
          </a:xfrm>
        </p:spPr>
        <p:txBody>
          <a:bodyPr/>
          <a:lstStyle>
            <a:lvl1pPr marL="0" indent="0">
              <a:buNone/>
              <a:defRPr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432296"/>
            <a:ext cx="4928616" cy="527076"/>
          </a:xfrm>
          <a:solidFill>
            <a:schemeClr val="tx1">
              <a:lumMod val="90000"/>
              <a:lumOff val="10000"/>
            </a:schemeClr>
          </a:solidFill>
        </p:spPr>
        <p:txBody>
          <a:bodyPr lIns="180000" tIns="36000" anchor="ctr"/>
          <a:lstStyle>
            <a:lvl1pPr marL="0" indent="0">
              <a:buNone/>
              <a:defRPr sz="2000" b="1" spc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4928616" cy="45296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1584" y="1433105"/>
            <a:ext cx="4928616" cy="525283"/>
          </a:xfrm>
          <a:solidFill>
            <a:schemeClr val="tx1">
              <a:lumMod val="90000"/>
              <a:lumOff val="10000"/>
            </a:schemeClr>
          </a:solidFill>
        </p:spPr>
        <p:txBody>
          <a:bodyPr lIns="180000" tIns="36000" anchor="ctr"/>
          <a:lstStyle>
            <a:lvl1pPr marL="0" indent="0">
              <a:buNone/>
              <a:defRPr sz="20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1584" y="2020359"/>
            <a:ext cx="4928616" cy="453284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836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9" y="432000"/>
            <a:ext cx="10058400" cy="432000"/>
          </a:xfrm>
        </p:spPr>
        <p:txBody>
          <a:bodyPr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noProof="0" dirty="0"/>
              <a:t>Click to edit page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mparison Left Placeholder 1">
            <a:extLst>
              <a:ext uri="{FF2B5EF4-FFF2-40B4-BE49-F238E27FC236}">
                <a16:creationId xmlns:a16="http://schemas.microsoft.com/office/drawing/2014/main" id="{3B9CD3DE-214F-49C5-A9E1-DE9863D3A11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032246"/>
            <a:ext cx="4928616" cy="527076"/>
          </a:xfrm>
          <a:solidFill>
            <a:schemeClr val="tx1">
              <a:lumMod val="90000"/>
              <a:lumOff val="10000"/>
            </a:schemeClr>
          </a:solidFill>
        </p:spPr>
        <p:txBody>
          <a:bodyPr lIns="180000" tIns="36000" anchor="ctr"/>
          <a:lstStyle>
            <a:lvl1pPr marL="0" indent="0">
              <a:buNone/>
              <a:defRPr sz="2000" b="1" spc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B8DC10E-796F-4427-9A0F-439B82B5C3D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1623617"/>
            <a:ext cx="4928616" cy="492969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mparison Left Placeholder 2">
            <a:extLst>
              <a:ext uri="{FF2B5EF4-FFF2-40B4-BE49-F238E27FC236}">
                <a16:creationId xmlns:a16="http://schemas.microsoft.com/office/drawing/2014/main" id="{E3381EFB-F278-45E9-96E9-3CE9615FB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1783" y="1033055"/>
            <a:ext cx="4928616" cy="525283"/>
          </a:xfrm>
          <a:solidFill>
            <a:schemeClr val="tx1">
              <a:lumMod val="90000"/>
              <a:lumOff val="10000"/>
            </a:schemeClr>
          </a:solidFill>
        </p:spPr>
        <p:txBody>
          <a:bodyPr lIns="180000" tIns="36000" anchor="ctr"/>
          <a:lstStyle>
            <a:lvl1pPr marL="0" indent="0">
              <a:buNone/>
              <a:defRPr sz="20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244658A-D8B2-4D64-9274-59F404D04C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1783" y="1620309"/>
            <a:ext cx="4928616" cy="4932891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7747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085975" y="1432208"/>
            <a:ext cx="4666699" cy="5120992"/>
          </a:xfrm>
          <a:noFill/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492C2A1D-F7BD-46B6-BC01-15D365ACD5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52674" y="1433105"/>
            <a:ext cx="3737526" cy="5120992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4F1543-153D-4F77-A4A9-C9BBA1C2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432000"/>
            <a:ext cx="10058400" cy="43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FAA210E-391A-499A-89D5-F222045FD1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0058400" cy="335906"/>
          </a:xfrm>
        </p:spPr>
        <p:txBody>
          <a:bodyPr/>
          <a:lstStyle>
            <a:lvl1pPr marL="0" indent="0">
              <a:buNone/>
              <a:defRPr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352273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432000"/>
            <a:ext cx="5472113" cy="534015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7314" y="4677532"/>
            <a:ext cx="2028686" cy="1094618"/>
          </a:xfrm>
        </p:spPr>
        <p:txBody>
          <a:bodyPr anchor="b"/>
          <a:lstStyle>
            <a:lvl1pPr marL="0" indent="0" algn="r">
              <a:buNone/>
              <a:defRPr sz="1400" i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Enter your caption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EFF903-F1F3-440A-B12C-9FD51606B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5664000" cy="1094618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771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F14FC72-670F-42FA-B28E-6E1583E951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432000"/>
            <a:ext cx="100584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999" y="1200150"/>
            <a:ext cx="10058399" cy="5353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4087" y="6375449"/>
            <a:ext cx="339256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400" b="1" i="1">
                <a:solidFill>
                  <a:schemeClr val="bg2"/>
                </a:solidFill>
              </a:defRPr>
            </a:lvl1pPr>
          </a:lstStyle>
          <a:p>
            <a:fld id="{029EE19D-4EB7-48EB-BA94-5F09BA2DA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23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none" spc="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j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90000"/>
              <a:lumOff val="10000"/>
            </a:schemeClr>
          </a:solidFill>
          <a:latin typeface="+mj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90000"/>
              <a:lumOff val="10000"/>
            </a:schemeClr>
          </a:solidFill>
          <a:latin typeface="+mj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90000"/>
              <a:lumOff val="10000"/>
            </a:schemeClr>
          </a:solidFill>
          <a:latin typeface="+mj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90000"/>
              <a:lumOff val="1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chart" Target="../charts/chart8.xml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11" Type="http://schemas.openxmlformats.org/officeDocument/2006/relationships/image" Target="../media/image14.png"/><Relationship Id="rId5" Type="http://schemas.openxmlformats.org/officeDocument/2006/relationships/image" Target="../media/image28.svg"/><Relationship Id="rId10" Type="http://schemas.openxmlformats.org/officeDocument/2006/relationships/image" Target="../media/image13.png"/><Relationship Id="rId4" Type="http://schemas.openxmlformats.org/officeDocument/2006/relationships/image" Target="../media/image27.svg"/><Relationship Id="rId9" Type="http://schemas.openxmlformats.org/officeDocument/2006/relationships/image" Target="../media/image32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35.pn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38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Relationship Id="rId4" Type="http://schemas.openxmlformats.org/officeDocument/2006/relationships/chart" Target="../charts/chart1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B08D4B-6983-B24C-2176-E63D41EBDAAC}"/>
              </a:ext>
            </a:extLst>
          </p:cNvPr>
          <p:cNvSpPr txBox="1"/>
          <p:nvPr/>
        </p:nvSpPr>
        <p:spPr>
          <a:xfrm>
            <a:off x="7006964" y="4846320"/>
            <a:ext cx="24433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SOPHIE KRAJMALNIK</a:t>
            </a:r>
          </a:p>
          <a:p>
            <a:pPr algn="r"/>
            <a:r>
              <a:rPr lang="en-US" dirty="0"/>
              <a:t>Data Science</a:t>
            </a:r>
          </a:p>
          <a:p>
            <a:pPr algn="r"/>
            <a:r>
              <a:rPr lang="en-US" dirty="0"/>
              <a:t>May – July 2026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B1567-9658-664B-401E-00477F2D2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104" y="2000705"/>
            <a:ext cx="9002269" cy="1753743"/>
          </a:xfrm>
        </p:spPr>
        <p:txBody>
          <a:bodyPr/>
          <a:lstStyle/>
          <a:p>
            <a:r>
              <a:rPr lang="en-US" dirty="0"/>
              <a:t>Marketing Data Science</a:t>
            </a:r>
            <a:br>
              <a:rPr lang="en-US" dirty="0"/>
            </a:br>
            <a:r>
              <a:rPr lang="en-US" sz="4400" dirty="0"/>
              <a:t>Internship Summer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78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1BF3D5-72EC-8FC1-E694-64C7393D013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2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8AD6CF-064D-5D64-D5D6-BE3D50A77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5" y="371821"/>
            <a:ext cx="10900804" cy="61317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4ADF33C-8CDC-7298-6233-FD9062F2D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2399" y="208227"/>
            <a:ext cx="1239601" cy="11946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30F7DF9-90D5-8692-2506-A8FA88375C79}"/>
              </a:ext>
            </a:extLst>
          </p:cNvPr>
          <p:cNvSpPr txBox="1"/>
          <p:nvPr/>
        </p:nvSpPr>
        <p:spPr>
          <a:xfrm>
            <a:off x="11174087" y="1434618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AzSEF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2E2EB0-557D-5956-CD26-88D15F37F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1734" y="2127926"/>
            <a:ext cx="1239601" cy="122394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4CBC5DD-03F7-EAFF-8AA1-D753056E3D5D}"/>
              </a:ext>
            </a:extLst>
          </p:cNvPr>
          <p:cNvSpPr txBox="1"/>
          <p:nvPr/>
        </p:nvSpPr>
        <p:spPr>
          <a:xfrm>
            <a:off x="11110472" y="3429000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SARSEF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F5AC648-DD6F-1024-5469-FA69E7C3EB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0213" y="4076952"/>
            <a:ext cx="1140192" cy="111858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D750FE5-9D41-FCB6-4968-92550571DC11}"/>
              </a:ext>
            </a:extLst>
          </p:cNvPr>
          <p:cNvSpPr txBox="1"/>
          <p:nvPr/>
        </p:nvSpPr>
        <p:spPr>
          <a:xfrm>
            <a:off x="10989839" y="5231496"/>
            <a:ext cx="12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AZ Invention Convention</a:t>
            </a:r>
          </a:p>
        </p:txBody>
      </p:sp>
    </p:spTree>
    <p:extLst>
      <p:ext uri="{BB962C8B-B14F-4D97-AF65-F5344CB8AC3E}">
        <p14:creationId xmlns:p14="http://schemas.microsoft.com/office/powerpoint/2010/main" val="41085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4A528-C4AA-BAE9-ED9C-D3A40168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91AAE9C-E09B-4692-A694-AA76FD93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51" y="505766"/>
            <a:ext cx="10058400" cy="4320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74527D4D-11BB-6730-82B3-F2810B56B3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1238953"/>
              </p:ext>
            </p:extLst>
          </p:nvPr>
        </p:nvGraphicFramePr>
        <p:xfrm>
          <a:off x="208230" y="724277"/>
          <a:ext cx="10547287" cy="5830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CF17F8-76FE-E74F-F176-7EFA641A45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38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2790-EEB2-939D-E7FF-CAA6D952D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330540"/>
            <a:ext cx="10449361" cy="432000"/>
          </a:xfrm>
        </p:spPr>
        <p:txBody>
          <a:bodyPr/>
          <a:lstStyle/>
          <a:p>
            <a:r>
              <a:rPr lang="en-US" sz="2800" dirty="0"/>
              <a:t>CIIM helps to understand the impact of DT ad placement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C18F70-07E8-A3F0-6AF8-08FE5E97BDD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251BB9E-B8FC-BC0D-480D-BCF3E90B1D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6486673"/>
              </p:ext>
            </p:extLst>
          </p:nvPr>
        </p:nvGraphicFramePr>
        <p:xfrm>
          <a:off x="4900129" y="867324"/>
          <a:ext cx="6099278" cy="5660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01E6C51-0DC6-1797-B045-C4F04CFB8F95}"/>
              </a:ext>
            </a:extLst>
          </p:cNvPr>
          <p:cNvSpPr txBox="1"/>
          <p:nvPr/>
        </p:nvSpPr>
        <p:spPr>
          <a:xfrm>
            <a:off x="-437798" y="3142625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2"/>
                </a:solidFill>
              </a:rPr>
              <a:t>CIIM Conversion Model: </a:t>
            </a:r>
          </a:p>
          <a:p>
            <a:pPr algn="ctr"/>
            <a:r>
              <a:rPr lang="en-US" sz="1800" dirty="0"/>
              <a:t>impressions </a:t>
            </a:r>
            <a:r>
              <a:rPr lang="en-US" sz="1800" dirty="0">
                <a:sym typeface="Wingdings" panose="05000000000000000000" pitchFamily="2" charset="2"/>
              </a:rPr>
              <a:t> sessions at TV x Week level</a:t>
            </a:r>
            <a:endParaRPr lang="en-US" sz="1800" dirty="0"/>
          </a:p>
        </p:txBody>
      </p:sp>
      <p:pic>
        <p:nvPicPr>
          <p:cNvPr id="10" name="Graphic 9" descr="Television with solid fill">
            <a:extLst>
              <a:ext uri="{FF2B5EF4-FFF2-40B4-BE49-F238E27FC236}">
                <a16:creationId xmlns:a16="http://schemas.microsoft.com/office/drawing/2014/main" id="{36B6ED47-2260-8EFB-7A4F-C65BDCD5FC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13844" y="921468"/>
            <a:ext cx="914400" cy="9144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462F1A6-1290-624B-5E28-884AA6B63F80}"/>
              </a:ext>
            </a:extLst>
          </p:cNvPr>
          <p:cNvGrpSpPr/>
          <p:nvPr/>
        </p:nvGrpSpPr>
        <p:grpSpPr>
          <a:xfrm>
            <a:off x="338328" y="1835868"/>
            <a:ext cx="4561801" cy="4594445"/>
            <a:chOff x="6227064" y="1748735"/>
            <a:chExt cx="4561801" cy="459444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EC68A4C-4037-D7A8-822C-6F9595B84870}"/>
                </a:ext>
              </a:extLst>
            </p:cNvPr>
            <p:cNvSpPr txBox="1"/>
            <p:nvPr/>
          </p:nvSpPr>
          <p:spPr>
            <a:xfrm>
              <a:off x="6227064" y="1748735"/>
              <a:ext cx="456180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Cable Incremental Investment Model: </a:t>
              </a:r>
              <a:r>
                <a:rPr lang="en-US" dirty="0"/>
                <a:t>maximize web visits from linear TV ads</a:t>
              </a:r>
            </a:p>
            <a:p>
              <a:endParaRPr lang="en-US" dirty="0"/>
            </a:p>
          </p:txBody>
        </p:sp>
        <p:pic>
          <p:nvPicPr>
            <p:cNvPr id="12" name="Graphic 11" descr="Continuous Improvement with solid fill">
              <a:extLst>
                <a:ext uri="{FF2B5EF4-FFF2-40B4-BE49-F238E27FC236}">
                  <a16:creationId xmlns:a16="http://schemas.microsoft.com/office/drawing/2014/main" id="{556980B1-10AC-D7BE-5B2B-D5F3E294F7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02580" y="2316325"/>
              <a:ext cx="914400" cy="9144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6408AAB-9EDC-79F6-A781-6925B7D25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7017" t="56393" r="8342" b="1536"/>
            <a:stretch>
              <a:fillRect/>
            </a:stretch>
          </p:blipFill>
          <p:spPr>
            <a:xfrm>
              <a:off x="8559780" y="3937318"/>
              <a:ext cx="1764792" cy="240586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B093DDC-67D0-9DC8-A48F-2E972B2DB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7017" t="14445" r="8342" b="43484"/>
            <a:stretch>
              <a:fillRect/>
            </a:stretch>
          </p:blipFill>
          <p:spPr>
            <a:xfrm>
              <a:off x="6743172" y="3937319"/>
              <a:ext cx="1764792" cy="2405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197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6409-F658-38BD-2CFD-C6E34C8FC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model uses 4 weekly </a:t>
            </a:r>
            <a:r>
              <a:rPr lang="en-US" dirty="0" err="1"/>
              <a:t>adstock</a:t>
            </a:r>
            <a:r>
              <a:rPr lang="en-US" dirty="0"/>
              <a:t> features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BFF5B6-F2BB-B0C4-11D7-98662D74AC7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23AFC460-8E3C-9317-55B4-DBCDC9095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0795621"/>
              </p:ext>
            </p:extLst>
          </p:nvPr>
        </p:nvGraphicFramePr>
        <p:xfrm>
          <a:off x="0" y="976046"/>
          <a:ext cx="10835014" cy="5673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5257FBF8-F00B-95BC-AF21-9A343CE05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873"/>
          <a:stretch>
            <a:fillRect/>
          </a:stretch>
        </p:blipFill>
        <p:spPr>
          <a:xfrm>
            <a:off x="7725886" y="1869333"/>
            <a:ext cx="3031299" cy="135384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5" name="Graphic 24" descr="Medal with solid fill">
            <a:extLst>
              <a:ext uri="{FF2B5EF4-FFF2-40B4-BE49-F238E27FC236}">
                <a16:creationId xmlns:a16="http://schemas.microsoft.com/office/drawing/2014/main" id="{E3A5770D-FB60-E04F-6098-C214BF5531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3967" y="208905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99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69BA0-693D-823E-8616-BDDFFD3F3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BE71-29E3-53CC-673C-55F89637D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" y="677305"/>
            <a:ext cx="10058400" cy="432000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b="1" kern="1200" cap="none" spc="0" baseline="0" dirty="0">
                <a:latin typeface="+mj-lt"/>
                <a:ea typeface="+mj-ea"/>
                <a:cs typeface="+mj-cs"/>
              </a:rPr>
              <a:t>Adding features to the model will increase its predictive power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E659DF5-4506-D86B-6A93-2BD785957E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7230601"/>
              </p:ext>
            </p:extLst>
          </p:nvPr>
        </p:nvGraphicFramePr>
        <p:xfrm>
          <a:off x="404567" y="1655805"/>
          <a:ext cx="2495654" cy="3917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0907F-611A-316D-F80B-7F05846C48B9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17CC70-A282-2B1A-E9B3-D67B9798E15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7307"/>
          <a:stretch>
            <a:fillRect/>
          </a:stretch>
        </p:blipFill>
        <p:spPr>
          <a:xfrm>
            <a:off x="2900220" y="1043709"/>
            <a:ext cx="8010844" cy="510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338DC-04EB-18CA-962B-1387145B9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569160"/>
            <a:ext cx="10058400" cy="432000"/>
          </a:xfrm>
        </p:spPr>
        <p:txBody>
          <a:bodyPr/>
          <a:lstStyle/>
          <a:p>
            <a:r>
              <a:rPr lang="en-US" dirty="0" err="1"/>
              <a:t>Adstock</a:t>
            </a:r>
            <a:r>
              <a:rPr lang="en-US" dirty="0"/>
              <a:t> temporal patterns and distribution share were too connected to overall impressions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399428E-8E18-8043-08C5-C5EB50B237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6205917"/>
              </p:ext>
            </p:extLst>
          </p:nvPr>
        </p:nvGraphicFramePr>
        <p:xfrm>
          <a:off x="431800" y="2898311"/>
          <a:ext cx="10058400" cy="191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9B16A-2A8D-720B-EEE1-71BF4B467DA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7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55AD9F-9CC2-CB64-07D9-928404AFE930}"/>
              </a:ext>
            </a:extLst>
          </p:cNvPr>
          <p:cNvCxnSpPr>
            <a:cxnSpLocks/>
          </p:cNvCxnSpPr>
          <p:nvPr/>
        </p:nvCxnSpPr>
        <p:spPr>
          <a:xfrm>
            <a:off x="7132012" y="2759881"/>
            <a:ext cx="0" cy="2194560"/>
          </a:xfrm>
          <a:prstGeom prst="line">
            <a:avLst/>
          </a:prstGeom>
          <a:ln w="571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367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15114-463F-AC72-CDC4-E584A887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832F-11C0-FB1E-3B80-D819F89D6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" y="677305"/>
            <a:ext cx="10058400" cy="432000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b="1" kern="1200" cap="none" spc="0" baseline="0" dirty="0">
                <a:latin typeface="+mj-lt"/>
                <a:ea typeface="+mj-ea"/>
                <a:cs typeface="+mj-cs"/>
              </a:rPr>
              <a:t>Adding features to the model will increase its predictive power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489AD-D166-828F-60A6-268BCC74538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0FFC81-09CE-C4BC-595D-A5C162EED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78" t="1286" r="48431" b="-1286"/>
          <a:stretch>
            <a:fillRect/>
          </a:stretch>
        </p:blipFill>
        <p:spPr>
          <a:xfrm>
            <a:off x="2751156" y="1006536"/>
            <a:ext cx="2764996" cy="52687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CF7FD3-1DF1-C0E3-6DCA-35F1E78BEA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960"/>
          <a:stretch>
            <a:fillRect/>
          </a:stretch>
        </p:blipFill>
        <p:spPr>
          <a:xfrm>
            <a:off x="5369851" y="1006537"/>
            <a:ext cx="5750989" cy="52687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83A5FC-441E-182D-072A-919D539506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2" t="1286" r="73206" b="-1286"/>
          <a:stretch>
            <a:fillRect/>
          </a:stretch>
        </p:blipFill>
        <p:spPr>
          <a:xfrm>
            <a:off x="49063" y="1006536"/>
            <a:ext cx="2817580" cy="536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6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F1F0-402C-4F63-FC1B-73FFA4022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averages show rough flow of behavior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32F60D-951F-EF70-3335-C099F912E6D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 descr="&lt;Figure size 1400x600 with 1 Axes&gt;">
            <a:extLst>
              <a:ext uri="{FF2B5EF4-FFF2-40B4-BE49-F238E27FC236}">
                <a16:creationId xmlns:a16="http://schemas.microsoft.com/office/drawing/2014/main" id="{D9B8D790-A48E-D5BE-87F1-2E89DAAC4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70" y="1324372"/>
            <a:ext cx="10598457" cy="450186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80EDD8C-2447-5877-7566-09A7D44C5452}"/>
              </a:ext>
            </a:extLst>
          </p:cNvPr>
          <p:cNvCxnSpPr>
            <a:cxnSpLocks/>
          </p:cNvCxnSpPr>
          <p:nvPr/>
        </p:nvCxnSpPr>
        <p:spPr>
          <a:xfrm>
            <a:off x="2487168" y="1600200"/>
            <a:ext cx="0" cy="38862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22A917-BBAD-B146-631F-D72685638C5B}"/>
              </a:ext>
            </a:extLst>
          </p:cNvPr>
          <p:cNvCxnSpPr>
            <a:cxnSpLocks/>
          </p:cNvCxnSpPr>
          <p:nvPr/>
        </p:nvCxnSpPr>
        <p:spPr>
          <a:xfrm>
            <a:off x="8455152" y="1600200"/>
            <a:ext cx="0" cy="38862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70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073D1-90C6-D6EB-FF13-BD8CA4495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D2DF-EE94-6C40-BE6C-EB1AE4A6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36" y="432000"/>
            <a:ext cx="10275263" cy="432000"/>
          </a:xfrm>
        </p:spPr>
        <p:txBody>
          <a:bodyPr/>
          <a:lstStyle/>
          <a:p>
            <a:r>
              <a:rPr lang="en-US" sz="2800" dirty="0"/>
              <a:t>Quadratic equation captures smooth seasonal expectation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F8BBE6-AF00-77C0-62C2-0D8389E04F4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40E8494-B4D7-DED3-9966-4AE9D5F667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5903230"/>
              </p:ext>
            </p:extLst>
          </p:nvPr>
        </p:nvGraphicFramePr>
        <p:xfrm>
          <a:off x="105103" y="966952"/>
          <a:ext cx="10562897" cy="5682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0719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0D744-0369-EA31-007C-50F3E007F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6F9F-BE26-2BD8-0E23-570B2DEF8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36" y="432000"/>
            <a:ext cx="10275263" cy="432000"/>
          </a:xfrm>
        </p:spPr>
        <p:txBody>
          <a:bodyPr/>
          <a:lstStyle/>
          <a:p>
            <a:r>
              <a:rPr lang="en-US" sz="2800" dirty="0"/>
              <a:t>Quadratic equation captures smooth seasonal expectation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470BD5-C1F7-4284-D2C4-44560F2C526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A446671-AA06-4621-FCC2-050E8EC2F2C0}"/>
              </a:ext>
            </a:extLst>
          </p:cNvPr>
          <p:cNvGraphicFramePr>
            <a:graphicFrameLocks/>
          </p:cNvGraphicFramePr>
          <p:nvPr/>
        </p:nvGraphicFramePr>
        <p:xfrm>
          <a:off x="215136" y="910430"/>
          <a:ext cx="10603552" cy="5739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EB118EB-97C9-BD2E-2918-CDF253327427}"/>
              </a:ext>
            </a:extLst>
          </p:cNvPr>
          <p:cNvSpPr txBox="1"/>
          <p:nvPr/>
        </p:nvSpPr>
        <p:spPr>
          <a:xfrm>
            <a:off x="3936390" y="3429000"/>
            <a:ext cx="3485249" cy="64633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y = -2E-06x</a:t>
            </a:r>
            <a:r>
              <a:rPr lang="en-US" b="1" baseline="30000" dirty="0"/>
              <a:t>2</a:t>
            </a:r>
            <a:r>
              <a:rPr lang="en-US" b="1" dirty="0"/>
              <a:t> + 8E-05x + 0.0013</a:t>
            </a:r>
            <a:br>
              <a:rPr lang="en-US" b="1" dirty="0"/>
            </a:br>
            <a:r>
              <a:rPr lang="en-US" b="1" dirty="0"/>
              <a:t>R² = 0.9119</a:t>
            </a:r>
          </a:p>
        </p:txBody>
      </p:sp>
    </p:spTree>
    <p:extLst>
      <p:ext uri="{BB962C8B-B14F-4D97-AF65-F5344CB8AC3E}">
        <p14:creationId xmlns:p14="http://schemas.microsoft.com/office/powerpoint/2010/main" val="259091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75927-DE6A-507E-EB69-81547397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00B53-EF3A-CA25-2D29-F4B762DF8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26" y="390903"/>
            <a:ext cx="10972800" cy="432000"/>
          </a:xfrm>
        </p:spPr>
        <p:txBody>
          <a:bodyPr/>
          <a:lstStyle/>
          <a:p>
            <a:r>
              <a:rPr lang="en-US" dirty="0"/>
              <a:t>Top-performing seasonal versions struggle to separate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37CE00-63CD-5866-2F7C-5DCDBC99B79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631F8D6-EFE3-AD40-5B51-8507696B24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7189716"/>
              </p:ext>
            </p:extLst>
          </p:nvPr>
        </p:nvGraphicFramePr>
        <p:xfrm>
          <a:off x="216725" y="822903"/>
          <a:ext cx="7427039" cy="5644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1C23FB-91B4-CFCF-C6C0-0152CE758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996539"/>
              </p:ext>
            </p:extLst>
          </p:nvPr>
        </p:nvGraphicFramePr>
        <p:xfrm>
          <a:off x="7777533" y="1254903"/>
          <a:ext cx="2743204" cy="4402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2">
                  <a:extLst>
                    <a:ext uri="{9D8B030D-6E8A-4147-A177-3AD203B41FA5}">
                      <a16:colId xmlns:a16="http://schemas.microsoft.com/office/drawing/2014/main" val="1195052700"/>
                    </a:ext>
                  </a:extLst>
                </a:gridCol>
                <a:gridCol w="1371602">
                  <a:extLst>
                    <a:ext uri="{9D8B030D-6E8A-4147-A177-3AD203B41FA5}">
                      <a16:colId xmlns:a16="http://schemas.microsoft.com/office/drawing/2014/main" val="511375177"/>
                    </a:ext>
                  </a:extLst>
                </a:gridCol>
              </a:tblGrid>
              <a:tr h="9026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Model 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Lift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4568802"/>
                  </a:ext>
                </a:extLst>
              </a:tr>
              <a:tr h="93919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7.77x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496216"/>
                  </a:ext>
                </a:extLst>
              </a:tr>
              <a:tr h="16210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Seasonal 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4.76x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497190"/>
                  </a:ext>
                </a:extLst>
              </a:tr>
              <a:tr h="9391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6.42x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853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450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7E9F4-CC27-011C-6D9C-AC5FA76BE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DF077-FD56-CDFA-8CF5-D9028475A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" y="677305"/>
            <a:ext cx="10058400" cy="432000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b="1" kern="1200" cap="none" spc="0" baseline="0" dirty="0">
                <a:latin typeface="+mj-lt"/>
                <a:ea typeface="+mj-ea"/>
                <a:cs typeface="+mj-cs"/>
              </a:rPr>
              <a:t>Adding features to the model will increase its predictive power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822392-BC32-BA74-E03F-2A0411BB2D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33DA63-A5C5-ADED-11CA-A7EEEB3826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78" t="1286" r="48431" b="-1286"/>
          <a:stretch>
            <a:fillRect/>
          </a:stretch>
        </p:blipFill>
        <p:spPr>
          <a:xfrm>
            <a:off x="2751156" y="1006536"/>
            <a:ext cx="2764996" cy="52687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53BC87-BDAF-D9C0-CBFF-49D611AFEB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960" r="25761"/>
          <a:stretch>
            <a:fillRect/>
          </a:stretch>
        </p:blipFill>
        <p:spPr>
          <a:xfrm>
            <a:off x="5369852" y="1006537"/>
            <a:ext cx="2848394" cy="52687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331D3D-2785-CF26-397B-39E0E0068A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2" t="1286" r="73206" b="-1286"/>
          <a:stretch>
            <a:fillRect/>
          </a:stretch>
        </p:blipFill>
        <p:spPr>
          <a:xfrm>
            <a:off x="45827" y="980842"/>
            <a:ext cx="2791963" cy="53200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266C1D-24AB-8B6A-2F20-932356B063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193"/>
          <a:stretch>
            <a:fillRect/>
          </a:stretch>
        </p:blipFill>
        <p:spPr>
          <a:xfrm>
            <a:off x="8134848" y="1006535"/>
            <a:ext cx="2907838" cy="526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5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4C965-6051-1E1E-4304-86848D21B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565564"/>
            <a:ext cx="10058400" cy="432000"/>
          </a:xfrm>
        </p:spPr>
        <p:txBody>
          <a:bodyPr/>
          <a:lstStyle/>
          <a:p>
            <a:r>
              <a:rPr lang="en-US" dirty="0"/>
              <a:t>NDPs are unique units of Network x Daypart combinations on which DT ads are aired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4868A8-8035-3D56-17F8-8B54F26919D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60AFB4-1FAD-0EFC-E53F-4385B5DC1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574" y="1359309"/>
            <a:ext cx="7688392" cy="549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72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CF1CC-07AA-5AFE-75DC-75F07EC8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A09B-8325-157A-B2E6-F72819BFB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93129"/>
            <a:ext cx="10058400" cy="432000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b="1" kern="1200" cap="none" spc="0" baseline="0" dirty="0">
                <a:latin typeface="+mj-lt"/>
                <a:ea typeface="+mj-ea"/>
                <a:cs typeface="+mj-cs"/>
              </a:rPr>
              <a:t>NDPs were grouped into behavioral clusters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0DFBB9-CC18-26AF-07D1-B6FAD2FB4AC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174087" y="6375449"/>
            <a:ext cx="339256" cy="274324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029EE19D-4EB7-48EB-BA94-5F09BA2DAFE6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0E69A75-B961-1D89-2EF7-AB51DD687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551" y="1064048"/>
            <a:ext cx="7004091" cy="59534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92CEAA-1500-EDBD-743F-4C81D826FE65}"/>
              </a:ext>
            </a:extLst>
          </p:cNvPr>
          <p:cNvSpPr txBox="1"/>
          <p:nvPr/>
        </p:nvSpPr>
        <p:spPr>
          <a:xfrm>
            <a:off x="5907640" y="1064048"/>
            <a:ext cx="2443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Conversion Rate (%)</a:t>
            </a:r>
          </a:p>
        </p:txBody>
      </p:sp>
    </p:spTree>
    <p:extLst>
      <p:ext uri="{BB962C8B-B14F-4D97-AF65-F5344CB8AC3E}">
        <p14:creationId xmlns:p14="http://schemas.microsoft.com/office/powerpoint/2010/main" val="2038345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6E9B-87A1-B0D5-79D9-99AA8920C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725" y="390903"/>
            <a:ext cx="10058400" cy="432000"/>
          </a:xfrm>
        </p:spPr>
        <p:txBody>
          <a:bodyPr/>
          <a:lstStyle/>
          <a:p>
            <a:r>
              <a:rPr lang="en-US" dirty="0"/>
              <a:t>Top-performing NDP models still underperforming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8BE18-0EE3-48D0-D5B9-7BD85C2D76F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22B0071-BA84-FE9D-505A-4BE401C7D6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1992135"/>
              </p:ext>
            </p:extLst>
          </p:nvPr>
        </p:nvGraphicFramePr>
        <p:xfrm>
          <a:off x="78038" y="1099335"/>
          <a:ext cx="7555661" cy="5276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9ADE54-983A-6129-1939-F89F865E8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659642"/>
              </p:ext>
            </p:extLst>
          </p:nvPr>
        </p:nvGraphicFramePr>
        <p:xfrm>
          <a:off x="7777537" y="1417834"/>
          <a:ext cx="2958958" cy="4117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479">
                  <a:extLst>
                    <a:ext uri="{9D8B030D-6E8A-4147-A177-3AD203B41FA5}">
                      <a16:colId xmlns:a16="http://schemas.microsoft.com/office/drawing/2014/main" val="1195052700"/>
                    </a:ext>
                  </a:extLst>
                </a:gridCol>
                <a:gridCol w="1479479">
                  <a:extLst>
                    <a:ext uri="{9D8B030D-6E8A-4147-A177-3AD203B41FA5}">
                      <a16:colId xmlns:a16="http://schemas.microsoft.com/office/drawing/2014/main" val="511375177"/>
                    </a:ext>
                  </a:extLst>
                </a:gridCol>
              </a:tblGrid>
              <a:tr h="87330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Model 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Lift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4568802"/>
                  </a:ext>
                </a:extLst>
              </a:tr>
              <a:tr h="87061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7.77x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496216"/>
                  </a:ext>
                </a:extLst>
              </a:tr>
              <a:tr h="15027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Conversion Clusters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3.85x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497190"/>
                  </a:ext>
                </a:extLst>
              </a:tr>
              <a:tr h="8706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Cluster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7.45x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853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71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8D4DF-07D1-C2A0-2780-C9530F126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4DC94-501E-BCAF-2DF8-FCFB86BC1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" y="677305"/>
            <a:ext cx="10058400" cy="432000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b="1" kern="1200" cap="none" spc="0" baseline="0" dirty="0">
                <a:latin typeface="+mj-lt"/>
                <a:ea typeface="+mj-ea"/>
                <a:cs typeface="+mj-cs"/>
              </a:rPr>
              <a:t>Adding features to the model will increase its predictive power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3F91E-1239-B04C-D91C-75DF58506D9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F18FAD-CFF6-D891-2625-B878C701F2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78" t="1286" r="48431" b="-1286"/>
          <a:stretch>
            <a:fillRect/>
          </a:stretch>
        </p:blipFill>
        <p:spPr>
          <a:xfrm>
            <a:off x="2751156" y="1006536"/>
            <a:ext cx="2764996" cy="52687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81561F-DA76-3F26-33F6-002C9F7F49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960" r="25761"/>
          <a:stretch>
            <a:fillRect/>
          </a:stretch>
        </p:blipFill>
        <p:spPr>
          <a:xfrm>
            <a:off x="5369852" y="1006537"/>
            <a:ext cx="2848394" cy="52687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3C121D-E3E9-1C9A-2139-C6C93D36CE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2" t="1286" r="73206" b="-1286"/>
          <a:stretch>
            <a:fillRect/>
          </a:stretch>
        </p:blipFill>
        <p:spPr>
          <a:xfrm>
            <a:off x="49062" y="1006536"/>
            <a:ext cx="2764997" cy="52687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531537-84B9-0435-1BE5-2F303A53C8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193"/>
          <a:stretch>
            <a:fillRect/>
          </a:stretch>
        </p:blipFill>
        <p:spPr>
          <a:xfrm>
            <a:off x="8134848" y="1006535"/>
            <a:ext cx="2907838" cy="526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2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86C38-8E5D-4D1A-71CE-1A69648C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Demographics exploration identified populations with strong relationship to conversion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6BDB20-3E09-2FE3-AEB1-F232B05045F9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5E80947-DADE-17B0-7B8A-8752C3D997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0185522"/>
              </p:ext>
            </p:extLst>
          </p:nvPr>
        </p:nvGraphicFramePr>
        <p:xfrm>
          <a:off x="431999" y="1016960"/>
          <a:ext cx="10058400" cy="191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08F19A4-0975-798D-A1F2-EB976F3FC2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4871016"/>
              </p:ext>
            </p:extLst>
          </p:nvPr>
        </p:nvGraphicFramePr>
        <p:xfrm>
          <a:off x="431999" y="3087620"/>
          <a:ext cx="10058400" cy="3050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7387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B7988-7D79-9555-DF65-51BD6A7CC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Sparsity of demographics data and overall structure devolved model performance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61B059-FAB3-E14F-77FD-BA24FF93116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87C0375-CA2E-D2A4-40DF-34BC0C74F5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0215897"/>
              </p:ext>
            </p:extLst>
          </p:nvPr>
        </p:nvGraphicFramePr>
        <p:xfrm>
          <a:off x="223383" y="1166648"/>
          <a:ext cx="7081543" cy="5388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857179-F851-0D23-5D79-850508D64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818189"/>
              </p:ext>
            </p:extLst>
          </p:nvPr>
        </p:nvGraphicFramePr>
        <p:xfrm>
          <a:off x="7431529" y="1745279"/>
          <a:ext cx="3456829" cy="430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780">
                  <a:extLst>
                    <a:ext uri="{9D8B030D-6E8A-4147-A177-3AD203B41FA5}">
                      <a16:colId xmlns:a16="http://schemas.microsoft.com/office/drawing/2014/main" val="1195052700"/>
                    </a:ext>
                  </a:extLst>
                </a:gridCol>
                <a:gridCol w="1529049">
                  <a:extLst>
                    <a:ext uri="{9D8B030D-6E8A-4147-A177-3AD203B41FA5}">
                      <a16:colId xmlns:a16="http://schemas.microsoft.com/office/drawing/2014/main" val="511375177"/>
                    </a:ext>
                  </a:extLst>
                </a:gridCol>
              </a:tblGrid>
              <a:tr h="8612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Model 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Lift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4568802"/>
                  </a:ext>
                </a:extLst>
              </a:tr>
              <a:tr h="8612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7.77x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496216"/>
                  </a:ext>
                </a:extLst>
              </a:tr>
              <a:tr h="8612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Demographics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6.74x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497190"/>
                  </a:ext>
                </a:extLst>
              </a:tr>
              <a:tr h="8612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 55+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6.53x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853417"/>
                  </a:ext>
                </a:extLst>
              </a:tr>
              <a:tr h="8612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Income 0-50K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6.44x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2311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7467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5D327-7D77-F21C-B85D-2E576431E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610676"/>
            <a:ext cx="10058400" cy="432000"/>
          </a:xfrm>
        </p:spPr>
        <p:txBody>
          <a:bodyPr/>
          <a:lstStyle/>
          <a:p>
            <a:r>
              <a:rPr lang="en-US" dirty="0"/>
              <a:t>While relationships were sensible and supported, introducing features to model hurt performance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E821A-EEB7-0C01-D04B-EF42FCD9922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E934A82-2CD5-ED8E-3275-4CC0A9768B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3634921"/>
              </p:ext>
            </p:extLst>
          </p:nvPr>
        </p:nvGraphicFramePr>
        <p:xfrm>
          <a:off x="431800" y="1511299"/>
          <a:ext cx="6482708" cy="5138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CB29DB72-5AA4-7F30-7C49-F4F15F47FD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9299041"/>
              </p:ext>
            </p:extLst>
          </p:nvPr>
        </p:nvGraphicFramePr>
        <p:xfrm>
          <a:off x="7003750" y="1354587"/>
          <a:ext cx="3620014" cy="5138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51500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0A421-1873-9384-D075-4DDA7244B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beyond the 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66CEA-D25A-2F6E-7A92-301BCEA8B3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6E9CCB-83AE-99D5-4066-129221ABD0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98" b="13893"/>
          <a:stretch>
            <a:fillRect/>
          </a:stretch>
        </p:blipFill>
        <p:spPr>
          <a:xfrm>
            <a:off x="6445307" y="527786"/>
            <a:ext cx="3857625" cy="504120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49AEF2D-2F9A-A3F3-2606-9047763D9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329017"/>
              </p:ext>
            </p:extLst>
          </p:nvPr>
        </p:nvGraphicFramePr>
        <p:xfrm>
          <a:off x="254967" y="1349455"/>
          <a:ext cx="5841034" cy="493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38109">
                  <a:extLst>
                    <a:ext uri="{9D8B030D-6E8A-4147-A177-3AD203B41FA5}">
                      <a16:colId xmlns:a16="http://schemas.microsoft.com/office/drawing/2014/main" val="1018113805"/>
                    </a:ext>
                  </a:extLst>
                </a:gridCol>
                <a:gridCol w="1923393">
                  <a:extLst>
                    <a:ext uri="{9D8B030D-6E8A-4147-A177-3AD203B41FA5}">
                      <a16:colId xmlns:a16="http://schemas.microsoft.com/office/drawing/2014/main" val="1467434896"/>
                    </a:ext>
                  </a:extLst>
                </a:gridCol>
                <a:gridCol w="756745">
                  <a:extLst>
                    <a:ext uri="{9D8B030D-6E8A-4147-A177-3AD203B41FA5}">
                      <a16:colId xmlns:a16="http://schemas.microsoft.com/office/drawing/2014/main" val="3179934451"/>
                    </a:ext>
                  </a:extLst>
                </a:gridCol>
                <a:gridCol w="2322787">
                  <a:extLst>
                    <a:ext uri="{9D8B030D-6E8A-4147-A177-3AD203B41FA5}">
                      <a16:colId xmlns:a16="http://schemas.microsoft.com/office/drawing/2014/main" val="1090996994"/>
                    </a:ext>
                  </a:extLst>
                </a:gridCol>
              </a:tblGrid>
              <a:tr h="700106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Chasing down the “why”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Behavior and edge cases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895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Each “wrong” path boosted understanding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Intuition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66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Practical business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Work behind the work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269307"/>
                  </a:ext>
                </a:extLst>
              </a:tr>
            </a:tbl>
          </a:graphicData>
        </a:graphic>
      </p:graphicFrame>
      <p:pic>
        <p:nvPicPr>
          <p:cNvPr id="14" name="Graphic 13" descr="Deer with solid fill">
            <a:extLst>
              <a:ext uri="{FF2B5EF4-FFF2-40B4-BE49-F238E27FC236}">
                <a16:creationId xmlns:a16="http://schemas.microsoft.com/office/drawing/2014/main" id="{5EE7527D-A760-A027-494F-615A1BC8EB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967" y="1594945"/>
            <a:ext cx="914400" cy="914400"/>
          </a:xfrm>
          <a:prstGeom prst="rect">
            <a:avLst/>
          </a:prstGeom>
        </p:spPr>
      </p:pic>
      <p:pic>
        <p:nvPicPr>
          <p:cNvPr id="16" name="Graphic 15" descr="Road with solid fill">
            <a:extLst>
              <a:ext uri="{FF2B5EF4-FFF2-40B4-BE49-F238E27FC236}">
                <a16:creationId xmlns:a16="http://schemas.microsoft.com/office/drawing/2014/main" id="{BD019A21-742B-B4C4-EEEC-F8D0D9727A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3855" y="3520966"/>
            <a:ext cx="822434" cy="822434"/>
          </a:xfrm>
          <a:prstGeom prst="rect">
            <a:avLst/>
          </a:prstGeom>
        </p:spPr>
      </p:pic>
      <p:pic>
        <p:nvPicPr>
          <p:cNvPr id="18" name="Graphic 17" descr="Briefcase with solid fill">
            <a:extLst>
              <a:ext uri="{FF2B5EF4-FFF2-40B4-BE49-F238E27FC236}">
                <a16:creationId xmlns:a16="http://schemas.microsoft.com/office/drawing/2014/main" id="{D0ADC4FD-0DA8-86D1-33CB-222575E22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3855" y="5103065"/>
            <a:ext cx="822434" cy="822434"/>
          </a:xfrm>
          <a:prstGeom prst="rect">
            <a:avLst/>
          </a:prstGeom>
        </p:spPr>
      </p:pic>
      <p:pic>
        <p:nvPicPr>
          <p:cNvPr id="20" name="Graphic 19" descr="Man with solid fill">
            <a:extLst>
              <a:ext uri="{FF2B5EF4-FFF2-40B4-BE49-F238E27FC236}">
                <a16:creationId xmlns:a16="http://schemas.microsoft.com/office/drawing/2014/main" id="{9727F8F3-160B-735C-52E6-1FED171BE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42442" y="1594945"/>
            <a:ext cx="914400" cy="914400"/>
          </a:xfrm>
          <a:prstGeom prst="rect">
            <a:avLst/>
          </a:prstGeom>
        </p:spPr>
      </p:pic>
      <p:pic>
        <p:nvPicPr>
          <p:cNvPr id="22" name="Graphic 21" descr="Right And Left Brain with solid fill">
            <a:extLst>
              <a:ext uri="{FF2B5EF4-FFF2-40B4-BE49-F238E27FC236}">
                <a16:creationId xmlns:a16="http://schemas.microsoft.com/office/drawing/2014/main" id="{7DF2DB53-E2B4-9729-4F6D-E47F5DF81A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34408" y="3409512"/>
            <a:ext cx="822434" cy="822434"/>
          </a:xfrm>
          <a:prstGeom prst="rect">
            <a:avLst/>
          </a:prstGeom>
        </p:spPr>
      </p:pic>
      <p:pic>
        <p:nvPicPr>
          <p:cNvPr id="24" name="Graphic 23" descr="Window with solid fill">
            <a:extLst>
              <a:ext uri="{FF2B5EF4-FFF2-40B4-BE49-F238E27FC236}">
                <a16:creationId xmlns:a16="http://schemas.microsoft.com/office/drawing/2014/main" id="{BF8B2596-C2D6-FEB9-C410-A8BB4F3259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34408" y="5263055"/>
            <a:ext cx="670034" cy="670034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6FB0EAFA-EA81-C569-2947-F6BF00FEE394}"/>
              </a:ext>
            </a:extLst>
          </p:cNvPr>
          <p:cNvGrpSpPr/>
          <p:nvPr/>
        </p:nvGrpSpPr>
        <p:grpSpPr>
          <a:xfrm>
            <a:off x="10952399" y="208227"/>
            <a:ext cx="1277041" cy="5546489"/>
            <a:chOff x="10952399" y="208227"/>
            <a:chExt cx="1277041" cy="554648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37BE924-F340-453F-CD56-A332DD933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952399" y="208227"/>
              <a:ext cx="1239601" cy="1194616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F549AC-5C62-6241-D4CC-35AEB4EFC778}"/>
                </a:ext>
              </a:extLst>
            </p:cNvPr>
            <p:cNvSpPr txBox="1"/>
            <p:nvPr/>
          </p:nvSpPr>
          <p:spPr>
            <a:xfrm>
              <a:off x="11174087" y="1434618"/>
              <a:ext cx="805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AzSEF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324124DF-B319-A47E-B29C-174AF0336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971734" y="2127926"/>
              <a:ext cx="1239601" cy="122394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167EB1F-9F27-B4C0-D661-C5ED88EE3340}"/>
                </a:ext>
              </a:extLst>
            </p:cNvPr>
            <p:cNvSpPr txBox="1"/>
            <p:nvPr/>
          </p:nvSpPr>
          <p:spPr>
            <a:xfrm>
              <a:off x="11110472" y="3429000"/>
              <a:ext cx="9621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SARSEF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8F0F1624-C943-E154-8D83-2E5F75E8F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000213" y="4076952"/>
              <a:ext cx="1140192" cy="1118588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6C50DB2-5F3A-FF3F-5A89-47C879AF328E}"/>
                </a:ext>
              </a:extLst>
            </p:cNvPr>
            <p:cNvSpPr txBox="1"/>
            <p:nvPr/>
          </p:nvSpPr>
          <p:spPr>
            <a:xfrm>
              <a:off x="10989839" y="5231496"/>
              <a:ext cx="1239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AZ Invention Convention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9FD8151-A95A-59BD-52D7-595008F1FC11}"/>
              </a:ext>
            </a:extLst>
          </p:cNvPr>
          <p:cNvSpPr txBox="1"/>
          <p:nvPr/>
        </p:nvSpPr>
        <p:spPr>
          <a:xfrm>
            <a:off x="6937823" y="5719508"/>
            <a:ext cx="35525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Freestyle Script" panose="030804020302050B0404" pitchFamily="66" charset="0"/>
              </a:rPr>
              <a:t>&amp; thank you!</a:t>
            </a:r>
          </a:p>
        </p:txBody>
      </p:sp>
    </p:spTree>
    <p:extLst>
      <p:ext uri="{BB962C8B-B14F-4D97-AF65-F5344CB8AC3E}">
        <p14:creationId xmlns:p14="http://schemas.microsoft.com/office/powerpoint/2010/main" val="5071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97AB9-F6D0-55C9-D762-3B0DE131D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EC5F-7291-3E63-9D69-8C667A6E3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2202942"/>
            <a:ext cx="9002269" cy="1753743"/>
          </a:xfrm>
        </p:spPr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4106221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78B2-CD95-6983-F0FF-F9EB9C99ED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CIIM?</a:t>
            </a:r>
          </a:p>
        </p:txBody>
      </p:sp>
    </p:spTree>
    <p:extLst>
      <p:ext uri="{BB962C8B-B14F-4D97-AF65-F5344CB8AC3E}">
        <p14:creationId xmlns:p14="http://schemas.microsoft.com/office/powerpoint/2010/main" val="1595303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F7FB7-56CD-80F7-335F-3BAA75537D7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24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C240B3-AAB3-4F50-A802-BE06E52CC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09156"/>
            <a:ext cx="10058400" cy="432000"/>
          </a:xfrm>
        </p:spPr>
        <p:txBody>
          <a:bodyPr/>
          <a:lstStyle/>
          <a:p>
            <a:r>
              <a:rPr lang="en-US" dirty="0"/>
              <a:t>CIIM uses ad volume to predict web visit likelihood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F99C7D-6AE1-BAC0-5F4F-AA2ECCF35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76" r="59875"/>
          <a:stretch>
            <a:fillRect/>
          </a:stretch>
        </p:blipFill>
        <p:spPr>
          <a:xfrm>
            <a:off x="2368327" y="829632"/>
            <a:ext cx="2057449" cy="57192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B499DA-876D-D5BF-3E0B-B77161B41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22" r="39916"/>
          <a:stretch>
            <a:fillRect/>
          </a:stretch>
        </p:blipFill>
        <p:spPr>
          <a:xfrm>
            <a:off x="4478068" y="829632"/>
            <a:ext cx="2089347" cy="5719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6C22BD-FB95-69D9-7FE3-F5AF2A828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80" r="19958"/>
          <a:stretch>
            <a:fillRect/>
          </a:stretch>
        </p:blipFill>
        <p:spPr>
          <a:xfrm>
            <a:off x="6669259" y="829632"/>
            <a:ext cx="2089347" cy="5719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0A7571-1BC5-8E1E-6346-BC8093C63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38"/>
          <a:stretch>
            <a:fillRect/>
          </a:stretch>
        </p:blipFill>
        <p:spPr>
          <a:xfrm>
            <a:off x="8843007" y="829632"/>
            <a:ext cx="2089347" cy="57192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146CF7-EB8A-238F-0707-AD804D2CB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336"/>
          <a:stretch>
            <a:fillRect/>
          </a:stretch>
        </p:blipFill>
        <p:spPr>
          <a:xfrm>
            <a:off x="267536" y="829632"/>
            <a:ext cx="2007831" cy="571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1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24BAF-CF20-0E7E-B211-BD2952688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723C174-AF24-A407-C01D-D558D7A1B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42" y="64008"/>
            <a:ext cx="10055025" cy="644263"/>
          </a:xfrm>
        </p:spPr>
        <p:txBody>
          <a:bodyPr/>
          <a:lstStyle/>
          <a:p>
            <a:r>
              <a:rPr lang="en-US" dirty="0"/>
              <a:t>Records are at TV x Week granularity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A1DD17-6A04-023A-F5DD-5966F0953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480005"/>
              </p:ext>
            </p:extLst>
          </p:nvPr>
        </p:nvGraphicFramePr>
        <p:xfrm>
          <a:off x="220642" y="786474"/>
          <a:ext cx="10652289" cy="5831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158">
                  <a:extLst>
                    <a:ext uri="{9D8B030D-6E8A-4147-A177-3AD203B41FA5}">
                      <a16:colId xmlns:a16="http://schemas.microsoft.com/office/drawing/2014/main" val="2393623923"/>
                    </a:ext>
                  </a:extLst>
                </a:gridCol>
                <a:gridCol w="2277182">
                  <a:extLst>
                    <a:ext uri="{9D8B030D-6E8A-4147-A177-3AD203B41FA5}">
                      <a16:colId xmlns:a16="http://schemas.microsoft.com/office/drawing/2014/main" val="3565547946"/>
                    </a:ext>
                  </a:extLst>
                </a:gridCol>
                <a:gridCol w="1302094">
                  <a:extLst>
                    <a:ext uri="{9D8B030D-6E8A-4147-A177-3AD203B41FA5}">
                      <a16:colId xmlns:a16="http://schemas.microsoft.com/office/drawing/2014/main" val="2632483231"/>
                    </a:ext>
                  </a:extLst>
                </a:gridCol>
                <a:gridCol w="1246616">
                  <a:extLst>
                    <a:ext uri="{9D8B030D-6E8A-4147-A177-3AD203B41FA5}">
                      <a16:colId xmlns:a16="http://schemas.microsoft.com/office/drawing/2014/main" val="1011000725"/>
                    </a:ext>
                  </a:extLst>
                </a:gridCol>
                <a:gridCol w="1246616">
                  <a:extLst>
                    <a:ext uri="{9D8B030D-6E8A-4147-A177-3AD203B41FA5}">
                      <a16:colId xmlns:a16="http://schemas.microsoft.com/office/drawing/2014/main" val="2361562515"/>
                    </a:ext>
                  </a:extLst>
                </a:gridCol>
                <a:gridCol w="1246616">
                  <a:extLst>
                    <a:ext uri="{9D8B030D-6E8A-4147-A177-3AD203B41FA5}">
                      <a16:colId xmlns:a16="http://schemas.microsoft.com/office/drawing/2014/main" val="1273138523"/>
                    </a:ext>
                  </a:extLst>
                </a:gridCol>
                <a:gridCol w="1725007">
                  <a:extLst>
                    <a:ext uri="{9D8B030D-6E8A-4147-A177-3AD203B41FA5}">
                      <a16:colId xmlns:a16="http://schemas.microsoft.com/office/drawing/2014/main" val="1261544743"/>
                    </a:ext>
                  </a:extLst>
                </a:gridCol>
              </a:tblGrid>
              <a:tr h="7261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TV ID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BROADCAST WEEK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yyyy</a:t>
                      </a: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- ww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IMP_WM0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IMP_WM1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IMP_WM2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IMP_WM3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CONVERSION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46399255"/>
                  </a:ext>
                </a:extLst>
              </a:tr>
              <a:tr h="510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TV 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2024-47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24969642"/>
                  </a:ext>
                </a:extLst>
              </a:tr>
              <a:tr h="510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TV 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2024-48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02598229"/>
                  </a:ext>
                </a:extLst>
              </a:tr>
              <a:tr h="510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TV 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2024-49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558088"/>
                  </a:ext>
                </a:extLst>
              </a:tr>
              <a:tr h="510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TV 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2024-50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51518080"/>
                  </a:ext>
                </a:extLst>
              </a:tr>
              <a:tr h="510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TV 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2024-51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47313039"/>
                  </a:ext>
                </a:extLst>
              </a:tr>
              <a:tr h="510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TV 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2024-52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34431513"/>
                  </a:ext>
                </a:extLst>
              </a:tr>
              <a:tr h="510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TV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2024-01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96484330"/>
                  </a:ext>
                </a:extLst>
              </a:tr>
              <a:tr h="510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TV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2024-02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98671548"/>
                  </a:ext>
                </a:extLst>
              </a:tr>
              <a:tr h="510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TV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2024-03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74927508"/>
                  </a:ext>
                </a:extLst>
              </a:tr>
              <a:tr h="510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TV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2024-04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4590618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B4F8EEF-B1D8-8FC0-DBCA-DE448204EBAE}"/>
              </a:ext>
            </a:extLst>
          </p:cNvPr>
          <p:cNvSpPr/>
          <p:nvPr/>
        </p:nvSpPr>
        <p:spPr>
          <a:xfrm>
            <a:off x="220642" y="1502875"/>
            <a:ext cx="10724998" cy="3069125"/>
          </a:xfrm>
          <a:prstGeom prst="rect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790870-CF3C-A2A4-F50B-8E9F64A36588}"/>
              </a:ext>
            </a:extLst>
          </p:cNvPr>
          <p:cNvSpPr/>
          <p:nvPr/>
        </p:nvSpPr>
        <p:spPr>
          <a:xfrm>
            <a:off x="220642" y="4650203"/>
            <a:ext cx="10724998" cy="1919237"/>
          </a:xfrm>
          <a:prstGeom prst="rect">
            <a:avLst/>
          </a:prstGeom>
          <a:noFill/>
          <a:ln w="7620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DDB239-4935-C18A-730D-51E0EF035D61}"/>
              </a:ext>
            </a:extLst>
          </p:cNvPr>
          <p:cNvSpPr/>
          <p:nvPr/>
        </p:nvSpPr>
        <p:spPr>
          <a:xfrm>
            <a:off x="275592" y="4092898"/>
            <a:ext cx="10724998" cy="405950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B885E5-ED3F-94C4-AF5B-67041AB0EA35}"/>
              </a:ext>
            </a:extLst>
          </p:cNvPr>
          <p:cNvCxnSpPr/>
          <p:nvPr/>
        </p:nvCxnSpPr>
        <p:spPr>
          <a:xfrm>
            <a:off x="4224528" y="4901184"/>
            <a:ext cx="3904488" cy="145211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9DB49C0-7270-4D5C-0EC5-93B7CDA7DB4D}"/>
              </a:ext>
            </a:extLst>
          </p:cNvPr>
          <p:cNvSpPr/>
          <p:nvPr/>
        </p:nvSpPr>
        <p:spPr>
          <a:xfrm>
            <a:off x="4076362" y="665572"/>
            <a:ext cx="5178474" cy="6057054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74C197-CCE2-C41E-751C-B48F0398D17D}"/>
              </a:ext>
            </a:extLst>
          </p:cNvPr>
          <p:cNvSpPr/>
          <p:nvPr/>
        </p:nvSpPr>
        <p:spPr>
          <a:xfrm>
            <a:off x="9130795" y="665572"/>
            <a:ext cx="1866177" cy="6057054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0CDC92-0C0D-477A-F092-4E8E0B3B042E}"/>
              </a:ext>
            </a:extLst>
          </p:cNvPr>
          <p:cNvSpPr txBox="1"/>
          <p:nvPr/>
        </p:nvSpPr>
        <p:spPr>
          <a:xfrm>
            <a:off x="7475129" y="167820"/>
            <a:ext cx="35594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IMP_WM[x]: Number of impressions (ad exposures) from Week Minus [x] </a:t>
            </a:r>
            <a:r>
              <a:rPr lang="en-US" sz="1100" dirty="0" err="1"/>
              <a:t>w.r.t.</a:t>
            </a:r>
            <a:r>
              <a:rPr lang="en-US" sz="1100" dirty="0"/>
              <a:t> Broadcast Week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2DD1F37-D8AF-6A41-EB51-1616246A905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8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 animBg="1"/>
      <p:bldP spid="4" grpId="1" animBg="1"/>
      <p:bldP spid="7" grpId="0" animBg="1"/>
      <p:bldP spid="7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904E6-2CB8-C9D0-8918-1AEE2B5BA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AD8C7F9-BF49-227E-0489-B94D92E21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864" y="204414"/>
            <a:ext cx="10055025" cy="644263"/>
          </a:xfrm>
        </p:spPr>
        <p:txBody>
          <a:bodyPr/>
          <a:lstStyle/>
          <a:p>
            <a:r>
              <a:rPr lang="en-US" dirty="0" err="1"/>
              <a:t>iSpot</a:t>
            </a:r>
            <a:r>
              <a:rPr lang="en-US" dirty="0"/>
              <a:t> ad measuring platform provides TV data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3562DFA-3794-7B84-D695-8987B0176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219369"/>
              </p:ext>
            </p:extLst>
          </p:nvPr>
        </p:nvGraphicFramePr>
        <p:xfrm>
          <a:off x="403084" y="3153673"/>
          <a:ext cx="2748093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8093">
                  <a:extLst>
                    <a:ext uri="{9D8B030D-6E8A-4147-A177-3AD203B41FA5}">
                      <a16:colId xmlns:a16="http://schemas.microsoft.com/office/drawing/2014/main" val="4272777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408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Connect an impression event to a web visit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3034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BDA173B-9434-D454-505C-22E16FFC0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517206"/>
              </p:ext>
            </p:extLst>
          </p:nvPr>
        </p:nvGraphicFramePr>
        <p:xfrm>
          <a:off x="4353962" y="1941883"/>
          <a:ext cx="2622990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2990">
                  <a:extLst>
                    <a:ext uri="{9D8B030D-6E8A-4147-A177-3AD203B41FA5}">
                      <a16:colId xmlns:a16="http://schemas.microsoft.com/office/drawing/2014/main" val="4272777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IULD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408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Integrated User-Level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30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i="0" dirty="0"/>
                        <a:t>TV ID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0" dirty="0"/>
                        <a:t>Broadcast Week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i="0" dirty="0"/>
                        <a:t>Impression Timestamp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i="0" dirty="0"/>
                        <a:t>IP Address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i="0" dirty="0"/>
                        <a:t>Impression Event Info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i="0" dirty="0"/>
                        <a:t>Creative Elements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i="0" dirty="0"/>
                        <a:t>Network Elements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i="0" dirty="0"/>
                        <a:t>Demographic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417167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4799C59-8770-83EC-9BAD-0E8DBFDE2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272314"/>
              </p:ext>
            </p:extLst>
          </p:nvPr>
        </p:nvGraphicFramePr>
        <p:xfrm>
          <a:off x="8348550" y="2640793"/>
          <a:ext cx="2502783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2783">
                  <a:extLst>
                    <a:ext uri="{9D8B030D-6E8A-4147-A177-3AD203B41FA5}">
                      <a16:colId xmlns:a16="http://schemas.microsoft.com/office/drawing/2014/main" val="4272777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Panel Weights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408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How much is this TV “worth” on a national scale?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30346"/>
                  </a:ext>
                </a:extLst>
              </a:tr>
            </a:tbl>
          </a:graphicData>
        </a:graphic>
      </p:graphicFrame>
      <p:sp>
        <p:nvSpPr>
          <p:cNvPr id="22" name="Left Brace 21">
            <a:extLst>
              <a:ext uri="{FF2B5EF4-FFF2-40B4-BE49-F238E27FC236}">
                <a16:creationId xmlns:a16="http://schemas.microsoft.com/office/drawing/2014/main" id="{89845A70-FB0C-33CE-F766-BA4D94A0A2EE}"/>
              </a:ext>
            </a:extLst>
          </p:cNvPr>
          <p:cNvSpPr/>
          <p:nvPr/>
        </p:nvSpPr>
        <p:spPr>
          <a:xfrm>
            <a:off x="4101472" y="3011810"/>
            <a:ext cx="210744" cy="1294645"/>
          </a:xfrm>
          <a:prstGeom prst="leftBrac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16C7E1A-6299-0B1F-91B6-228476012704}"/>
              </a:ext>
            </a:extLst>
          </p:cNvPr>
          <p:cNvCxnSpPr>
            <a:cxnSpLocks/>
            <a:stCxn id="22" idx="1"/>
            <a:endCxn id="17" idx="3"/>
          </p:cNvCxnSpPr>
          <p:nvPr/>
        </p:nvCxnSpPr>
        <p:spPr>
          <a:xfrm flipH="1">
            <a:off x="3151177" y="3659133"/>
            <a:ext cx="950295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ight Brace 35">
            <a:extLst>
              <a:ext uri="{FF2B5EF4-FFF2-40B4-BE49-F238E27FC236}">
                <a16:creationId xmlns:a16="http://schemas.microsoft.com/office/drawing/2014/main" id="{C2D3CCA1-F419-3668-E7B9-49680E74B3FA}"/>
              </a:ext>
            </a:extLst>
          </p:cNvPr>
          <p:cNvSpPr/>
          <p:nvPr/>
        </p:nvSpPr>
        <p:spPr>
          <a:xfrm>
            <a:off x="6976952" y="3004021"/>
            <a:ext cx="120209" cy="558785"/>
          </a:xfrm>
          <a:prstGeom prst="rightBrac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3F05405-6E5B-C6A2-7327-198E629F8E99}"/>
              </a:ext>
            </a:extLst>
          </p:cNvPr>
          <p:cNvCxnSpPr>
            <a:cxnSpLocks/>
            <a:stCxn id="36" idx="1"/>
            <a:endCxn id="21" idx="1"/>
          </p:cNvCxnSpPr>
          <p:nvPr/>
        </p:nvCxnSpPr>
        <p:spPr>
          <a:xfrm flipV="1">
            <a:off x="7097161" y="3283413"/>
            <a:ext cx="1251389" cy="1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5BF0D4-E102-04A1-123D-C8C01FBF34F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84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62C9C-0CC8-3265-B455-A8DD1A098F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State of the Model</a:t>
            </a:r>
          </a:p>
        </p:txBody>
      </p:sp>
    </p:spTree>
    <p:extLst>
      <p:ext uri="{BB962C8B-B14F-4D97-AF65-F5344CB8AC3E}">
        <p14:creationId xmlns:p14="http://schemas.microsoft.com/office/powerpoint/2010/main" val="1984352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4E5D0-108A-9D6A-3AB3-CA8EDBE4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2E060BF-6F11-934F-CE40-F55B05266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864" y="247380"/>
            <a:ext cx="10055025" cy="644263"/>
          </a:xfrm>
        </p:spPr>
        <p:txBody>
          <a:bodyPr/>
          <a:lstStyle/>
          <a:p>
            <a:r>
              <a:rPr lang="en-US" dirty="0"/>
              <a:t>Logistic regression emphasizes current week impressions for predicting web visits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EF80E86-7BA5-00E6-50A1-5C3831C2B9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4462159"/>
              </p:ext>
            </p:extLst>
          </p:nvPr>
        </p:nvGraphicFramePr>
        <p:xfrm>
          <a:off x="276864" y="1152144"/>
          <a:ext cx="10305210" cy="55704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C21F84-85DA-F5E5-E54E-B6C36FFD9A0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92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8EEAE-7B28-FF1F-0325-E39E8D50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1E5970A-4D52-4A66-5DC3-6BD983877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649" y="136725"/>
            <a:ext cx="10055025" cy="685208"/>
          </a:xfrm>
        </p:spPr>
        <p:txBody>
          <a:bodyPr/>
          <a:lstStyle/>
          <a:p>
            <a:r>
              <a:rPr lang="en-US" dirty="0"/>
              <a:t>Conversion predictions globally aligned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A3F78BB-74DA-0DF4-192C-E6E3D9A847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4854787"/>
              </p:ext>
            </p:extLst>
          </p:nvPr>
        </p:nvGraphicFramePr>
        <p:xfrm>
          <a:off x="91210" y="893852"/>
          <a:ext cx="10619040" cy="56970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Graphic 7" descr="Flag with solid fill">
            <a:extLst>
              <a:ext uri="{FF2B5EF4-FFF2-40B4-BE49-F238E27FC236}">
                <a16:creationId xmlns:a16="http://schemas.microsoft.com/office/drawing/2014/main" id="{0A02BCDE-F403-2BE7-9EBB-9ED3B4DEED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1750" y="2826945"/>
            <a:ext cx="914400" cy="914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63940B-5DA8-1F8F-E170-9DED6F2240C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18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9AA7-7AC4-B51B-C859-2E4211A47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43" y="184118"/>
            <a:ext cx="10055025" cy="1287072"/>
          </a:xfrm>
        </p:spPr>
        <p:txBody>
          <a:bodyPr/>
          <a:lstStyle/>
          <a:p>
            <a:r>
              <a:rPr lang="en-US" dirty="0"/>
              <a:t>When zooming in, model shows gaps in accuracy and consistency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B801C22-58D0-FCB9-1DF4-842EAA198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3212202"/>
              </p:ext>
            </p:extLst>
          </p:nvPr>
        </p:nvGraphicFramePr>
        <p:xfrm>
          <a:off x="235390" y="1430448"/>
          <a:ext cx="10646875" cy="5142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&quot;Not Allowed&quot; Symbol 5">
            <a:extLst>
              <a:ext uri="{FF2B5EF4-FFF2-40B4-BE49-F238E27FC236}">
                <a16:creationId xmlns:a16="http://schemas.microsoft.com/office/drawing/2014/main" id="{F78E2B39-CA77-9ECB-7E34-F2C7900A1D87}"/>
              </a:ext>
            </a:extLst>
          </p:cNvPr>
          <p:cNvSpPr/>
          <p:nvPr/>
        </p:nvSpPr>
        <p:spPr>
          <a:xfrm>
            <a:off x="4445251" y="4409037"/>
            <a:ext cx="733331" cy="651849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&quot;Not Allowed&quot; Symbol 8">
            <a:extLst>
              <a:ext uri="{FF2B5EF4-FFF2-40B4-BE49-F238E27FC236}">
                <a16:creationId xmlns:a16="http://schemas.microsoft.com/office/drawing/2014/main" id="{EE582987-838B-8370-3808-57CE7E827EF9}"/>
              </a:ext>
            </a:extLst>
          </p:cNvPr>
          <p:cNvSpPr/>
          <p:nvPr/>
        </p:nvSpPr>
        <p:spPr>
          <a:xfrm>
            <a:off x="5837976" y="4734961"/>
            <a:ext cx="733331" cy="651849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F9763-5299-F325-3D0B-8A2B34F787F9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9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8ED2-8814-125E-4177-7A301A14B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Pre-Launch Checks</a:t>
            </a:r>
          </a:p>
        </p:txBody>
      </p:sp>
    </p:spTree>
    <p:extLst>
      <p:ext uri="{BB962C8B-B14F-4D97-AF65-F5344CB8AC3E}">
        <p14:creationId xmlns:p14="http://schemas.microsoft.com/office/powerpoint/2010/main" val="4183055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F13F8-1E04-E4C1-8579-2FA502651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data checks and exploration laid groundwork for understanding feature analyses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6DDF7C-A0BB-2C91-DBCC-20065133538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44D2C9B-41B2-326C-2A7C-5CDC0B7563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7504258"/>
              </p:ext>
            </p:extLst>
          </p:nvPr>
        </p:nvGraphicFramePr>
        <p:xfrm>
          <a:off x="320357" y="1304447"/>
          <a:ext cx="10281683" cy="52081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9018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5DDF-47BC-0CD6-F5DE-5BFA05430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TVs experience different classifications due to different behaviors and changing guidelines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344B1-312D-4036-712A-9F8B95ADDC5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151300"/>
            <a:ext cx="10058400" cy="360000"/>
          </a:xfrm>
        </p:spPr>
        <p:txBody>
          <a:bodyPr/>
          <a:lstStyle/>
          <a:p>
            <a:r>
              <a:rPr lang="en-US" dirty="0"/>
              <a:t>Filter to focus on primary TVs without losing sample size or signal that might come from other behaviors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59B58B5-CD2E-0D79-6E53-7BA641775B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3686809"/>
              </p:ext>
            </p:extLst>
          </p:nvPr>
        </p:nvGraphicFramePr>
        <p:xfrm>
          <a:off x="431800" y="1511300"/>
          <a:ext cx="10058400" cy="504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DE3D-CD0E-60CE-1B7D-BD249D34B61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83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05B7-DF12-D085-382F-837C54C5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47" y="216000"/>
            <a:ext cx="10058400" cy="432000"/>
          </a:xfrm>
        </p:spPr>
        <p:txBody>
          <a:bodyPr/>
          <a:lstStyle/>
          <a:p>
            <a:r>
              <a:rPr lang="en-US" dirty="0"/>
              <a:t>2026 dropped network investment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B25F2-0D7E-B7C1-E283-896CFC8FC96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54C57C-57F1-F064-155A-CC17C01D3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874713"/>
              </p:ext>
            </p:extLst>
          </p:nvPr>
        </p:nvGraphicFramePr>
        <p:xfrm>
          <a:off x="431801" y="1064291"/>
          <a:ext cx="10305273" cy="5361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5091">
                  <a:extLst>
                    <a:ext uri="{9D8B030D-6E8A-4147-A177-3AD203B41FA5}">
                      <a16:colId xmlns:a16="http://schemas.microsoft.com/office/drawing/2014/main" val="3065604840"/>
                    </a:ext>
                  </a:extLst>
                </a:gridCol>
                <a:gridCol w="3435091">
                  <a:extLst>
                    <a:ext uri="{9D8B030D-6E8A-4147-A177-3AD203B41FA5}">
                      <a16:colId xmlns:a16="http://schemas.microsoft.com/office/drawing/2014/main" val="3928180751"/>
                    </a:ext>
                  </a:extLst>
                </a:gridCol>
                <a:gridCol w="3435091">
                  <a:extLst>
                    <a:ext uri="{9D8B030D-6E8A-4147-A177-3AD203B41FA5}">
                      <a16:colId xmlns:a16="http://schemas.microsoft.com/office/drawing/2014/main" val="2860412165"/>
                    </a:ext>
                  </a:extLst>
                </a:gridCol>
              </a:tblGrid>
              <a:tr h="63829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21339"/>
                  </a:ext>
                </a:extLst>
              </a:tr>
              <a:tr h="55319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Dayparts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166143"/>
                  </a:ext>
                </a:extLst>
              </a:tr>
              <a:tr h="55319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Networks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4056080"/>
                  </a:ext>
                </a:extLst>
              </a:tr>
              <a:tr h="55319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NDPs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246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02504"/>
                  </a:ext>
                </a:extLst>
              </a:tr>
              <a:tr h="97872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51 (ON) – 32 (EM) </a:t>
                      </a:r>
                      <a:r>
                        <a:rPr lang="en-US" sz="2000" dirty="0">
                          <a:sym typeface="Wingdings" panose="05000000000000000000" pitchFamily="2" charset="2"/>
                        </a:rPr>
                        <a:t> 19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Range of Network Distribution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40 (DA) – 29 (EM)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 11</a:t>
                      </a:r>
                      <a:endParaRPr 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3835892"/>
                  </a:ext>
                </a:extLst>
              </a:tr>
              <a:tr h="55319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1,083,289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Unique TVs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1,051,339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3897474"/>
                  </a:ext>
                </a:extLst>
              </a:tr>
              <a:tr h="55319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Weeks Covered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387302"/>
                  </a:ext>
                </a:extLst>
              </a:tr>
              <a:tr h="97872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Minimum Weeks of Impressions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42408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33721-D156-F10F-25F8-95096859E2D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27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31087-8B7D-0A65-95BC-54396644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F194-2B5E-2428-3F3C-D85A9A9C7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258554"/>
            <a:ext cx="10058400" cy="432000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b="1" kern="1200" cap="none" spc="0" baseline="0" dirty="0">
                <a:latin typeface="+mj-lt"/>
                <a:ea typeface="+mj-ea"/>
                <a:cs typeface="+mj-cs"/>
              </a:rPr>
              <a:t>Conversion Model 2.0 tests on new timeframe and marketing regime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4FCBB2-B57E-2B4C-2AB5-1AB1D184410A}"/>
              </a:ext>
            </a:extLst>
          </p:cNvPr>
          <p:cNvSpPr txBox="1"/>
          <p:nvPr/>
        </p:nvSpPr>
        <p:spPr>
          <a:xfrm>
            <a:off x="3048000" y="32466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4B4779-4888-DAFB-A55D-587A2A865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99" y="896699"/>
            <a:ext cx="9826045" cy="429755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228F95-8E01-54E2-E1E0-0BD1330D678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27D0181-8C9A-EEEE-26F4-BD61BC890C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4000437"/>
              </p:ext>
            </p:extLst>
          </p:nvPr>
        </p:nvGraphicFramePr>
        <p:xfrm>
          <a:off x="470099" y="4621927"/>
          <a:ext cx="10261556" cy="2832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023434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5BBD1-E2BB-2970-76F8-D13F7CBD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&lt;Figure size 1000x600 with 1 Axes&gt;">
            <a:extLst>
              <a:ext uri="{FF2B5EF4-FFF2-40B4-BE49-F238E27FC236}">
                <a16:creationId xmlns:a16="http://schemas.microsoft.com/office/drawing/2014/main" id="{89B15985-E9E1-9B78-8EE5-17C7DE429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61" y="939103"/>
            <a:ext cx="9921676" cy="59188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170CFF-EDEF-3B9B-F198-C061FF99F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432000"/>
            <a:ext cx="10058400" cy="432000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b="1" kern="1200" cap="none" spc="0" baseline="0" dirty="0">
                <a:latin typeface="+mj-lt"/>
                <a:ea typeface="+mj-ea"/>
                <a:cs typeface="+mj-cs"/>
              </a:rPr>
              <a:t>2026 shifting to lower levels of impressions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3FF0EA-5C9D-026A-9360-F45CFBD21659}"/>
              </a:ext>
            </a:extLst>
          </p:cNvPr>
          <p:cNvGrpSpPr/>
          <p:nvPr/>
        </p:nvGrpSpPr>
        <p:grpSpPr>
          <a:xfrm>
            <a:off x="2730135" y="1353105"/>
            <a:ext cx="1814704" cy="1054993"/>
            <a:chOff x="2730135" y="1353105"/>
            <a:chExt cx="1814704" cy="105499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6673C80-DF0D-6FB5-509E-44EC8FD129F2}"/>
                </a:ext>
              </a:extLst>
            </p:cNvPr>
            <p:cNvSpPr txBox="1"/>
            <p:nvPr/>
          </p:nvSpPr>
          <p:spPr>
            <a:xfrm>
              <a:off x="2730135" y="1353105"/>
              <a:ext cx="9868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6600"/>
                  </a:solidFill>
                </a:rPr>
                <a:t>95%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108EE1-6B09-6B9F-3165-EA85C2F14D40}"/>
                </a:ext>
              </a:extLst>
            </p:cNvPr>
            <p:cNvSpPr txBox="1"/>
            <p:nvPr/>
          </p:nvSpPr>
          <p:spPr>
            <a:xfrm>
              <a:off x="3720974" y="1946433"/>
              <a:ext cx="8238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5"/>
                  </a:solidFill>
                </a:rPr>
                <a:t>82%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914A19F-B962-0A1D-D2BE-E6D4114485A6}"/>
                </a:ext>
              </a:extLst>
            </p:cNvPr>
            <p:cNvSpPr/>
            <p:nvPr/>
          </p:nvSpPr>
          <p:spPr>
            <a:xfrm>
              <a:off x="3539905" y="1626482"/>
              <a:ext cx="181069" cy="165642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7F63301-2B41-5460-C6DE-F23614E96E1D}"/>
                </a:ext>
              </a:extLst>
            </p:cNvPr>
            <p:cNvSpPr/>
            <p:nvPr/>
          </p:nvSpPr>
          <p:spPr>
            <a:xfrm>
              <a:off x="3539904" y="2055449"/>
              <a:ext cx="181069" cy="16564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E84B35-AACC-CF0A-A839-A9EA7B5FD5C4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0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81EF2-83DA-366C-A45F-A2005C57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6D1182-05E3-BB30-2392-5B1766FA2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00" y="1333515"/>
            <a:ext cx="10637961" cy="45186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E78016-A5E5-29AA-7214-4F3F711BA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89692"/>
            <a:ext cx="10055025" cy="432000"/>
          </a:xfrm>
        </p:spPr>
        <p:txBody>
          <a:bodyPr anchor="ctr">
            <a:noAutofit/>
          </a:bodyPr>
          <a:lstStyle/>
          <a:p>
            <a:r>
              <a:rPr lang="en-US" dirty="0"/>
              <a:t>Underlying conversion behavior stable between 2025 and 2026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F5B4DCB-3B6F-7659-B7B9-D26DEF8014DE}"/>
              </a:ext>
            </a:extLst>
          </p:cNvPr>
          <p:cNvSpPr/>
          <p:nvPr/>
        </p:nvSpPr>
        <p:spPr>
          <a:xfrm>
            <a:off x="960402" y="1636776"/>
            <a:ext cx="2468597" cy="3193542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E21AF2-6292-DBDD-5826-6FB71B5DE32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4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0B2D-002A-603A-8E7E-7EF92281C1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Target Feature Analysis</a:t>
            </a:r>
          </a:p>
        </p:txBody>
      </p:sp>
    </p:spTree>
    <p:extLst>
      <p:ext uri="{BB962C8B-B14F-4D97-AF65-F5344CB8AC3E}">
        <p14:creationId xmlns:p14="http://schemas.microsoft.com/office/powerpoint/2010/main" val="40845740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ADD2ED-9D75-D38E-E436-14E5A6D215A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39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192E54-12A6-1599-D77D-071861810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432000"/>
            <a:ext cx="10058400" cy="432000"/>
          </a:xfrm>
        </p:spPr>
        <p:txBody>
          <a:bodyPr/>
          <a:lstStyle/>
          <a:p>
            <a:r>
              <a:rPr lang="en-US" dirty="0"/>
              <a:t>Successful features are like a SQUID…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6DCFEDF-BC25-6B43-51E8-E2CD96B317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4182207"/>
              </p:ext>
            </p:extLst>
          </p:nvPr>
        </p:nvGraphicFramePr>
        <p:xfrm>
          <a:off x="352055" y="1336354"/>
          <a:ext cx="1056758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F432F73-B16E-909C-552E-295FDA5BCD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 rot="1595809">
            <a:off x="8405063" y="-68507"/>
            <a:ext cx="1449524" cy="202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619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80666-B66E-6D8D-DB7A-CB7FFCA83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3A79C12-91EA-7CF6-2ADF-56AD7C4FC1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31800" y="569160"/>
                <a:ext cx="10058400" cy="4320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dirty="0"/>
                          <m:t>α</m:t>
                        </m:r>
                      </m:sub>
                    </m:sSub>
                  </m:oMath>
                </a14:m>
                <a:r>
                  <a:rPr lang="en-US" dirty="0"/>
                  <a:t>: Monthly impression data missed details of conversion in temporal patterns and distribution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3A79C12-91EA-7CF6-2ADF-56AD7C4FC1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31800" y="569160"/>
                <a:ext cx="10058400" cy="432000"/>
              </a:xfrm>
              <a:blipFill>
                <a:blip r:embed="rId2"/>
                <a:stretch>
                  <a:fillRect l="-2485" t="-91549" b="-10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3BA9B-9072-6B70-8E4B-68887363F87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40</a:t>
            </a:fld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D7A7F7D-3A4A-6596-E367-57C355112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286459"/>
              </p:ext>
            </p:extLst>
          </p:nvPr>
        </p:nvGraphicFramePr>
        <p:xfrm>
          <a:off x="137921" y="2195559"/>
          <a:ext cx="10646157" cy="307440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48719">
                  <a:extLst>
                    <a:ext uri="{9D8B030D-6E8A-4147-A177-3AD203B41FA5}">
                      <a16:colId xmlns:a16="http://schemas.microsoft.com/office/drawing/2014/main" val="359174935"/>
                    </a:ext>
                  </a:extLst>
                </a:gridCol>
                <a:gridCol w="3548719">
                  <a:extLst>
                    <a:ext uri="{9D8B030D-6E8A-4147-A177-3AD203B41FA5}">
                      <a16:colId xmlns:a16="http://schemas.microsoft.com/office/drawing/2014/main" val="1072128336"/>
                    </a:ext>
                  </a:extLst>
                </a:gridCol>
                <a:gridCol w="3548719">
                  <a:extLst>
                    <a:ext uri="{9D8B030D-6E8A-4147-A177-3AD203B41FA5}">
                      <a16:colId xmlns:a16="http://schemas.microsoft.com/office/drawing/2014/main" val="631023852"/>
                    </a:ext>
                  </a:extLst>
                </a:gridCol>
              </a:tblGrid>
              <a:tr h="4399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Unique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Features + Outcomes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748324"/>
                  </a:ext>
                </a:extLst>
              </a:tr>
              <a:tr h="55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9 Features –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Repackaged Impressions </a:t>
                      </a:r>
                      <a:r>
                        <a:rPr lang="en-US" dirty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021054"/>
                  </a:ext>
                </a:extLst>
              </a:tr>
              <a:tr h="4399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Is New Exposure – No Relationship with Model Target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876451"/>
                  </a:ext>
                </a:extLst>
              </a:tr>
              <a:tr h="55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Daytime Share – Not Distinct Enough Signal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568930"/>
                  </a:ext>
                </a:extLst>
              </a:tr>
              <a:tr h="4399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 Features – No Pass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229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3997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083A-F9C9-7283-F551-A4A529BF63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Seasonality</a:t>
            </a:r>
          </a:p>
        </p:txBody>
      </p:sp>
    </p:spTree>
    <p:extLst>
      <p:ext uri="{BB962C8B-B14F-4D97-AF65-F5344CB8AC3E}">
        <p14:creationId xmlns:p14="http://schemas.microsoft.com/office/powerpoint/2010/main" val="39608646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89BD4-CFF8-8C0D-F8A2-DA21666857B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42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34878F-92E5-6022-70E9-72B6D338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432000"/>
            <a:ext cx="10058400" cy="432000"/>
          </a:xfrm>
        </p:spPr>
        <p:txBody>
          <a:bodyPr/>
          <a:lstStyle/>
          <a:p>
            <a:r>
              <a:rPr lang="en-US" dirty="0"/>
              <a:t>Recommend maintaining Baseline Model</a:t>
            </a:r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75AE0DAF-CBC3-52BA-B9EC-8617462A58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4421160"/>
              </p:ext>
            </p:extLst>
          </p:nvPr>
        </p:nvGraphicFramePr>
        <p:xfrm>
          <a:off x="254548" y="1900643"/>
          <a:ext cx="10235851" cy="30567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8974">
                  <a:extLst>
                    <a:ext uri="{9D8B030D-6E8A-4147-A177-3AD203B41FA5}">
                      <a16:colId xmlns:a16="http://schemas.microsoft.com/office/drawing/2014/main" val="2908280626"/>
                    </a:ext>
                  </a:extLst>
                </a:gridCol>
                <a:gridCol w="1456892">
                  <a:extLst>
                    <a:ext uri="{9D8B030D-6E8A-4147-A177-3AD203B41FA5}">
                      <a16:colId xmlns:a16="http://schemas.microsoft.com/office/drawing/2014/main" val="930197540"/>
                    </a:ext>
                  </a:extLst>
                </a:gridCol>
                <a:gridCol w="1692239">
                  <a:extLst>
                    <a:ext uri="{9D8B030D-6E8A-4147-A177-3AD203B41FA5}">
                      <a16:colId xmlns:a16="http://schemas.microsoft.com/office/drawing/2014/main" val="3556227748"/>
                    </a:ext>
                  </a:extLst>
                </a:gridCol>
                <a:gridCol w="1703522">
                  <a:extLst>
                    <a:ext uri="{9D8B030D-6E8A-4147-A177-3AD203B41FA5}">
                      <a16:colId xmlns:a16="http://schemas.microsoft.com/office/drawing/2014/main" val="601552984"/>
                    </a:ext>
                  </a:extLst>
                </a:gridCol>
                <a:gridCol w="1714801">
                  <a:extLst>
                    <a:ext uri="{9D8B030D-6E8A-4147-A177-3AD203B41FA5}">
                      <a16:colId xmlns:a16="http://schemas.microsoft.com/office/drawing/2014/main" val="1140916470"/>
                    </a:ext>
                  </a:extLst>
                </a:gridCol>
                <a:gridCol w="1579423">
                  <a:extLst>
                    <a:ext uri="{9D8B030D-6E8A-4147-A177-3AD203B41FA5}">
                      <a16:colId xmlns:a16="http://schemas.microsoft.com/office/drawing/2014/main" val="1682365896"/>
                    </a:ext>
                  </a:extLst>
                </a:gridCol>
              </a:tblGrid>
              <a:tr h="9113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Baseline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Seasonal </a:t>
                      </a:r>
                    </a:p>
                    <a:p>
                      <a:r>
                        <a:rPr lang="en-US" dirty="0"/>
                        <a:t>@ C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Seasonal </a:t>
                      </a:r>
                    </a:p>
                    <a:p>
                      <a:r>
                        <a:rPr lang="en-US" dirty="0"/>
                        <a:t>@ C =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Seasonal </a:t>
                      </a:r>
                    </a:p>
                    <a:p>
                      <a:r>
                        <a:rPr lang="en-US" dirty="0"/>
                        <a:t>@ C = 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966815"/>
                  </a:ext>
                </a:extLst>
              </a:tr>
              <a:tr h="520776">
                <a:tc>
                  <a:txBody>
                    <a:bodyPr/>
                    <a:lstStyle/>
                    <a:p>
                      <a:r>
                        <a:rPr lang="en-US" dirty="0"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626450"/>
                  </a:ext>
                </a:extLst>
              </a:tr>
              <a:tr h="713221">
                <a:tc>
                  <a:txBody>
                    <a:bodyPr/>
                    <a:lstStyle/>
                    <a:p>
                      <a:r>
                        <a:rPr lang="en-US" dirty="0"/>
                        <a:t>Weekly 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13.89%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14.96%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827342"/>
                  </a:ext>
                </a:extLst>
              </a:tr>
              <a:tr h="911358">
                <a:tc>
                  <a:txBody>
                    <a:bodyPr/>
                    <a:lstStyle/>
                    <a:p>
                      <a:r>
                        <a:rPr lang="en-US" dirty="0"/>
                        <a:t>Top/Bottom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7.77x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4.76x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6.42x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355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6359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2E57B-0334-816D-28B6-2BD5479B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Seasonal Model fails to outperform Baseline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5B5F23-5207-0CB5-F426-203B579D373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AB0AA-75A6-01A6-E0ED-4DFE69F91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52" y="1187733"/>
            <a:ext cx="10602205" cy="525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166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ED0EB-30A5-EE12-6D9E-4D0AD6C513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Dayparts</a:t>
            </a:r>
          </a:p>
        </p:txBody>
      </p:sp>
    </p:spTree>
    <p:extLst>
      <p:ext uri="{BB962C8B-B14F-4D97-AF65-F5344CB8AC3E}">
        <p14:creationId xmlns:p14="http://schemas.microsoft.com/office/powerpoint/2010/main" val="42506187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CA700-4CE6-3E34-76D8-407379369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76F56-E417-6B9D-0B20-CE58DC336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97" y="232914"/>
            <a:ext cx="10058400" cy="432000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b="1" kern="1200" cap="none" spc="0" baseline="0" dirty="0">
                <a:latin typeface="+mj-lt"/>
                <a:ea typeface="+mj-ea"/>
                <a:cs typeface="+mj-cs"/>
              </a:rPr>
              <a:t>NDP-level features present a variety of challenges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7A02C-E072-44B8-1082-354FCCDCBA27}"/>
              </a:ext>
            </a:extLst>
          </p:cNvPr>
          <p:cNvSpPr txBox="1"/>
          <p:nvPr/>
        </p:nvSpPr>
        <p:spPr>
          <a:xfrm>
            <a:off x="258897" y="764844"/>
            <a:ext cx="8451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Daypart: specific block of time for TV broadcasting to target audiences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4485E-03DA-77D7-3BF6-70F24A038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421" y="1351064"/>
            <a:ext cx="7021829" cy="517732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1FBFEA-B4C4-A582-6C06-8E4E30B3C2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03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14F34-EB38-96C6-AD14-16C5DFFCB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 creates 6 groups that collapse to 4 with mapping techniques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0297F-D052-F75C-3CBF-806F89F2672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46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5E1848-88EA-C351-0293-A461A5493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7" y="1104939"/>
            <a:ext cx="9294646" cy="55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033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DC77A-5A2D-70CA-1B3F-312303D95D2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47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52CF48-4DD9-618C-1F5C-6B3A4106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93" y="239359"/>
            <a:ext cx="10058400" cy="432000"/>
          </a:xfrm>
        </p:spPr>
        <p:txBody>
          <a:bodyPr/>
          <a:lstStyle/>
          <a:p>
            <a:r>
              <a:rPr lang="en-US" dirty="0"/>
              <a:t>Mapping decisions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13CB50-A6E7-C596-3334-A0FAE2658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10" y="671359"/>
            <a:ext cx="4499009" cy="356171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46C71B-3F5B-07BA-A40F-3A54EA82D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120942"/>
              </p:ext>
            </p:extLst>
          </p:nvPr>
        </p:nvGraphicFramePr>
        <p:xfrm>
          <a:off x="330109" y="5199363"/>
          <a:ext cx="10058400" cy="1450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2730327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84743956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05640639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3239201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151850480"/>
                    </a:ext>
                  </a:extLst>
                </a:gridCol>
              </a:tblGrid>
              <a:tr h="3537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Cluster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C0 (ML)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C2 (MH)</a:t>
                      </a:r>
                    </a:p>
                    <a:p>
                      <a:pPr algn="ctr"/>
                      <a:r>
                        <a:rPr lang="en-US" sz="1100" b="0" dirty="0"/>
                        <a:t>2 “C5”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C3 (EM)</a:t>
                      </a:r>
                    </a:p>
                    <a:p>
                      <a:pPr algn="ctr"/>
                      <a:r>
                        <a:rPr lang="en-US" sz="1100" b="0" dirty="0"/>
                        <a:t>1 “C1”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C4 (MM)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765163"/>
                  </a:ext>
                </a:extLst>
              </a:tr>
              <a:tr h="3537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NDPs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5865378"/>
                  </a:ext>
                </a:extLst>
              </a:tr>
              <a:tr h="551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Conversion</a:t>
                      </a:r>
                    </a:p>
                    <a:p>
                      <a:pPr algn="ctr"/>
                      <a:r>
                        <a:rPr lang="en-US" sz="1100" dirty="0"/>
                        <a:t>TV x Week x NDP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0.217%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0.227%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970870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79D5536F-8069-4C24-B820-70F679E20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382" y="0"/>
            <a:ext cx="5873705" cy="530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4523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E75D4-743D-7499-A5F1-9DE888A64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6F87FC-1939-E034-69FC-1A0EC106462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48</a:t>
            </a:fld>
            <a:endParaRPr lang="en-US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B2C396FD-626A-4B26-1EE8-79624B25D0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3566917"/>
              </p:ext>
            </p:extLst>
          </p:nvPr>
        </p:nvGraphicFramePr>
        <p:xfrm>
          <a:off x="173867" y="1254466"/>
          <a:ext cx="10716638" cy="51209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6931">
                  <a:extLst>
                    <a:ext uri="{9D8B030D-6E8A-4147-A177-3AD203B41FA5}">
                      <a16:colId xmlns:a16="http://schemas.microsoft.com/office/drawing/2014/main" val="2908280626"/>
                    </a:ext>
                  </a:extLst>
                </a:gridCol>
                <a:gridCol w="1137432">
                  <a:extLst>
                    <a:ext uri="{9D8B030D-6E8A-4147-A177-3AD203B41FA5}">
                      <a16:colId xmlns:a16="http://schemas.microsoft.com/office/drawing/2014/main" val="930197540"/>
                    </a:ext>
                  </a:extLst>
                </a:gridCol>
                <a:gridCol w="1273271">
                  <a:extLst>
                    <a:ext uri="{9D8B030D-6E8A-4147-A177-3AD203B41FA5}">
                      <a16:colId xmlns:a16="http://schemas.microsoft.com/office/drawing/2014/main" val="3556227748"/>
                    </a:ext>
                  </a:extLst>
                </a:gridCol>
                <a:gridCol w="1634787">
                  <a:extLst>
                    <a:ext uri="{9D8B030D-6E8A-4147-A177-3AD203B41FA5}">
                      <a16:colId xmlns:a16="http://schemas.microsoft.com/office/drawing/2014/main" val="1087321602"/>
                    </a:ext>
                  </a:extLst>
                </a:gridCol>
                <a:gridCol w="1614739">
                  <a:extLst>
                    <a:ext uri="{9D8B030D-6E8A-4147-A177-3AD203B41FA5}">
                      <a16:colId xmlns:a16="http://schemas.microsoft.com/office/drawing/2014/main" val="4185465747"/>
                    </a:ext>
                  </a:extLst>
                </a:gridCol>
                <a:gridCol w="1614739">
                  <a:extLst>
                    <a:ext uri="{9D8B030D-6E8A-4147-A177-3AD203B41FA5}">
                      <a16:colId xmlns:a16="http://schemas.microsoft.com/office/drawing/2014/main" val="3473075000"/>
                    </a:ext>
                  </a:extLst>
                </a:gridCol>
                <a:gridCol w="1614739">
                  <a:extLst>
                    <a:ext uri="{9D8B030D-6E8A-4147-A177-3AD203B41FA5}">
                      <a16:colId xmlns:a16="http://schemas.microsoft.com/office/drawing/2014/main" val="505541071"/>
                    </a:ext>
                  </a:extLst>
                </a:gridCol>
              </a:tblGrid>
              <a:tr h="120580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Baseline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Exclusive Clusters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Conversion Clusters v2</a:t>
                      </a:r>
                    </a:p>
                    <a:p>
                      <a:pPr algn="ctr"/>
                      <a:r>
                        <a:rPr lang="en-US" sz="1100" b="0" dirty="0"/>
                        <a:t>Update 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Conversion Clusters v3</a:t>
                      </a:r>
                    </a:p>
                    <a:p>
                      <a:pPr algn="ctr"/>
                      <a:r>
                        <a:rPr lang="en-US" sz="1100" b="0" dirty="0"/>
                        <a:t>3 Clusters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Conversion Clusters v4</a:t>
                      </a:r>
                    </a:p>
                    <a:p>
                      <a:pPr algn="ctr"/>
                      <a:r>
                        <a:rPr lang="en-US" sz="1100" b="0" dirty="0"/>
                        <a:t>Only 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Conversion Clusters v5</a:t>
                      </a:r>
                    </a:p>
                    <a:p>
                      <a:pPr algn="ctr"/>
                      <a:r>
                        <a:rPr lang="en-US" sz="1200" b="0" dirty="0"/>
                        <a:t>Only C0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966815"/>
                  </a:ext>
                </a:extLst>
              </a:tr>
              <a:tr h="6890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AUC</a:t>
                      </a:r>
                    </a:p>
                    <a:p>
                      <a:pPr algn="ctr"/>
                      <a:r>
                        <a:rPr lang="en-US" sz="1200" dirty="0"/>
                        <a:t>(Train AUC)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0.6072</a:t>
                      </a:r>
                    </a:p>
                    <a:p>
                      <a:pPr algn="ctr"/>
                      <a:r>
                        <a:rPr lang="en-US" sz="1600" b="0" dirty="0"/>
                        <a:t>(0.594)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0.6073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0.6073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0.6105</a:t>
                      </a:r>
                    </a:p>
                    <a:p>
                      <a:pPr algn="ctr"/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(0.6002)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626450"/>
                  </a:ext>
                </a:extLst>
              </a:tr>
              <a:tr h="9436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Weekly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13.89%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13.38%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15.34%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14.34%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15.16%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1827342"/>
                  </a:ext>
                </a:extLst>
              </a:tr>
              <a:tr h="1076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Most Impactful 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IMP_WM0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IMP_WM0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PCT_CLUSTER2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PCT_CLUSTER2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IMP_WM0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IMP_WM0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785018"/>
                  </a:ext>
                </a:extLst>
              </a:tr>
              <a:tr h="12058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Top/Bottom Lift</a:t>
                      </a:r>
                    </a:p>
                    <a:p>
                      <a:pPr algn="ctr"/>
                      <a:r>
                        <a:rPr lang="en-US" sz="1100" b="0" dirty="0"/>
                        <a:t>Actuals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7.77x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6.86x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3.85x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3.86x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7.45x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3.46x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355037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059B69A8-A9D7-B8B6-1334-CEE2AAAE4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75" y="386280"/>
            <a:ext cx="10058400" cy="432000"/>
          </a:xfrm>
        </p:spPr>
        <p:txBody>
          <a:bodyPr/>
          <a:lstStyle/>
          <a:p>
            <a:r>
              <a:rPr lang="en-US" dirty="0"/>
              <a:t>Recommend maintaining baseline model</a:t>
            </a:r>
          </a:p>
        </p:txBody>
      </p:sp>
    </p:spTree>
    <p:extLst>
      <p:ext uri="{BB962C8B-B14F-4D97-AF65-F5344CB8AC3E}">
        <p14:creationId xmlns:p14="http://schemas.microsoft.com/office/powerpoint/2010/main" val="3267577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177F91-B736-EB4D-E8E2-B2CEC4F0DBC4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49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4180DE-DC62-C462-A308-CD60992AB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54" y="367992"/>
            <a:ext cx="10490399" cy="432000"/>
          </a:xfrm>
        </p:spPr>
        <p:txBody>
          <a:bodyPr/>
          <a:lstStyle/>
          <a:p>
            <a:r>
              <a:rPr lang="en-US" dirty="0"/>
              <a:t>Cluster 2 Feature fails on 3 fronts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96188E-F9F4-A8B7-1AE4-1ABC635B3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76" y="915086"/>
            <a:ext cx="10490398" cy="471833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C9C603-6271-7F08-544E-7E7A3BB43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277639"/>
              </p:ext>
            </p:extLst>
          </p:nvPr>
        </p:nvGraphicFramePr>
        <p:xfrm>
          <a:off x="395224" y="5748517"/>
          <a:ext cx="10414128" cy="61542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71376">
                  <a:extLst>
                    <a:ext uri="{9D8B030D-6E8A-4147-A177-3AD203B41FA5}">
                      <a16:colId xmlns:a16="http://schemas.microsoft.com/office/drawing/2014/main" val="3860519392"/>
                    </a:ext>
                  </a:extLst>
                </a:gridCol>
                <a:gridCol w="3471376">
                  <a:extLst>
                    <a:ext uri="{9D8B030D-6E8A-4147-A177-3AD203B41FA5}">
                      <a16:colId xmlns:a16="http://schemas.microsoft.com/office/drawing/2014/main" val="1248027998"/>
                    </a:ext>
                  </a:extLst>
                </a:gridCol>
                <a:gridCol w="3471376">
                  <a:extLst>
                    <a:ext uri="{9D8B030D-6E8A-4147-A177-3AD203B41FA5}">
                      <a16:colId xmlns:a16="http://schemas.microsoft.com/office/drawing/2014/main" val="3305838525"/>
                    </a:ext>
                  </a:extLst>
                </a:gridCol>
              </a:tblGrid>
              <a:tr h="6154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Non-linear 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Unclear Definitions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Underlying Potential for Error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890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9960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A3F48-820E-797B-66DE-1FE9DD15DC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Income</a:t>
            </a:r>
          </a:p>
        </p:txBody>
      </p:sp>
    </p:spTree>
    <p:extLst>
      <p:ext uri="{BB962C8B-B14F-4D97-AF65-F5344CB8AC3E}">
        <p14:creationId xmlns:p14="http://schemas.microsoft.com/office/powerpoint/2010/main" val="4689862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84735D-E6F5-FAB3-92E3-2110B8C1CAC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51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593157-ABF7-B5CB-E895-FE4418413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432000"/>
            <a:ext cx="10058400" cy="432000"/>
          </a:xfrm>
        </p:spPr>
        <p:txBody>
          <a:bodyPr/>
          <a:lstStyle/>
          <a:p>
            <a:r>
              <a:rPr lang="en-US" sz="2800" dirty="0"/>
              <a:t>Less extreme variation in conversion rate by income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C02A305-E4F3-625C-49DF-73815D144E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3420808"/>
              </p:ext>
            </p:extLst>
          </p:nvPr>
        </p:nvGraphicFramePr>
        <p:xfrm>
          <a:off x="166823" y="960121"/>
          <a:ext cx="6142537" cy="5598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D883A5D-38A3-8416-20D8-3D6E60D765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5023982"/>
              </p:ext>
            </p:extLst>
          </p:nvPr>
        </p:nvGraphicFramePr>
        <p:xfrm>
          <a:off x="6309360" y="960121"/>
          <a:ext cx="4572000" cy="56896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BDCF1B4-A1BC-714E-EB37-2F2FAF0B8B37}"/>
              </a:ext>
            </a:extLst>
          </p:cNvPr>
          <p:cNvSpPr/>
          <p:nvPr/>
        </p:nvSpPr>
        <p:spPr>
          <a:xfrm>
            <a:off x="1389888" y="1399032"/>
            <a:ext cx="857201" cy="449884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908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FEE72-252E-1210-88EE-BB6FE810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A7B413-EFC6-7E60-D7B8-EE637CCB38A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52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E72F5-0E1F-789E-A65B-24DD9B0C4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" y="358848"/>
            <a:ext cx="10917935" cy="432000"/>
          </a:xfrm>
        </p:spPr>
        <p:txBody>
          <a:bodyPr/>
          <a:lstStyle/>
          <a:p>
            <a:r>
              <a:rPr lang="en-US" dirty="0"/>
              <a:t>Better performance for income 0-50K persists in sample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740930-8C05-1564-D6AF-B1BFECBAE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392700"/>
              </p:ext>
            </p:extLst>
          </p:nvPr>
        </p:nvGraphicFramePr>
        <p:xfrm>
          <a:off x="266290" y="911690"/>
          <a:ext cx="10403641" cy="2715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191">
                  <a:extLst>
                    <a:ext uri="{9D8B030D-6E8A-4147-A177-3AD203B41FA5}">
                      <a16:colId xmlns:a16="http://schemas.microsoft.com/office/drawing/2014/main" val="145644668"/>
                    </a:ext>
                  </a:extLst>
                </a:gridCol>
                <a:gridCol w="2105387">
                  <a:extLst>
                    <a:ext uri="{9D8B030D-6E8A-4147-A177-3AD203B41FA5}">
                      <a16:colId xmlns:a16="http://schemas.microsoft.com/office/drawing/2014/main" val="1319844221"/>
                    </a:ext>
                  </a:extLst>
                </a:gridCol>
                <a:gridCol w="1306639">
                  <a:extLst>
                    <a:ext uri="{9D8B030D-6E8A-4147-A177-3AD203B41FA5}">
                      <a16:colId xmlns:a16="http://schemas.microsoft.com/office/drawing/2014/main" val="590449495"/>
                    </a:ext>
                  </a:extLst>
                </a:gridCol>
                <a:gridCol w="1719855">
                  <a:extLst>
                    <a:ext uri="{9D8B030D-6E8A-4147-A177-3AD203B41FA5}">
                      <a16:colId xmlns:a16="http://schemas.microsoft.com/office/drawing/2014/main" val="4232099668"/>
                    </a:ext>
                  </a:extLst>
                </a:gridCol>
                <a:gridCol w="1019797">
                  <a:extLst>
                    <a:ext uri="{9D8B030D-6E8A-4147-A177-3AD203B41FA5}">
                      <a16:colId xmlns:a16="http://schemas.microsoft.com/office/drawing/2014/main" val="268748797"/>
                    </a:ext>
                  </a:extLst>
                </a:gridCol>
                <a:gridCol w="1074625">
                  <a:extLst>
                    <a:ext uri="{9D8B030D-6E8A-4147-A177-3AD203B41FA5}">
                      <a16:colId xmlns:a16="http://schemas.microsoft.com/office/drawing/2014/main" val="683480146"/>
                    </a:ext>
                  </a:extLst>
                </a:gridCol>
                <a:gridCol w="1864147">
                  <a:extLst>
                    <a:ext uri="{9D8B030D-6E8A-4147-A177-3AD203B41FA5}">
                      <a16:colId xmlns:a16="http://schemas.microsoft.com/office/drawing/2014/main" val="989682372"/>
                    </a:ext>
                  </a:extLst>
                </a:gridCol>
              </a:tblGrid>
              <a:tr h="1102181">
                <a:tc>
                  <a:txBody>
                    <a:bodyPr/>
                    <a:lstStyle/>
                    <a:p>
                      <a:r>
                        <a:rPr lang="en-US" dirty="0"/>
                        <a:t>Group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 Demographic Data?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Income 0-50K?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Records </a:t>
                      </a:r>
                    </a:p>
                    <a:p>
                      <a:r>
                        <a:rPr lang="en-US" sz="1200" b="0" dirty="0"/>
                        <a:t>(Train + Test)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Train Rank</a:t>
                      </a:r>
                      <a:r>
                        <a:rPr lang="en-US" b="0" dirty="0"/>
                        <a:t> </a:t>
                      </a:r>
                      <a:r>
                        <a:rPr lang="en-US" sz="1200" b="0" dirty="0"/>
                        <a:t>(Conv)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Test Rank</a:t>
                      </a:r>
                      <a:r>
                        <a:rPr lang="en-US" b="0" dirty="0"/>
                        <a:t> </a:t>
                      </a:r>
                      <a:r>
                        <a:rPr lang="en-US" sz="1400" b="0" dirty="0"/>
                        <a:t>(Conv)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Conversion Rate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281171"/>
                  </a:ext>
                </a:extLst>
              </a:tr>
              <a:tr h="5378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10,671,958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019823"/>
                  </a:ext>
                </a:extLst>
              </a:tr>
              <a:tr h="5378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55,001,292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0.1997%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379015"/>
                  </a:ext>
                </a:extLst>
              </a:tr>
              <a:tr h="5378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53,76,524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308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80074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B36234-94DE-3EA2-40D8-AD4BD0297F9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53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AEFBB8-04FD-FCA3-A8DA-9A4B1A8D3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432000"/>
            <a:ext cx="10058400" cy="432000"/>
          </a:xfrm>
        </p:spPr>
        <p:txBody>
          <a:bodyPr/>
          <a:lstStyle/>
          <a:p>
            <a:r>
              <a:rPr lang="en-US" dirty="0"/>
              <a:t>Recommend maintaining baseline model; all model versions struggle with lift</a:t>
            </a:r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7D7EFEF8-6D4B-81DA-4810-63A2C17C3E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6305797"/>
              </p:ext>
            </p:extLst>
          </p:nvPr>
        </p:nvGraphicFramePr>
        <p:xfrm>
          <a:off x="247018" y="1384222"/>
          <a:ext cx="10167996" cy="46965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4338">
                  <a:extLst>
                    <a:ext uri="{9D8B030D-6E8A-4147-A177-3AD203B41FA5}">
                      <a16:colId xmlns:a16="http://schemas.microsoft.com/office/drawing/2014/main" val="2908280626"/>
                    </a:ext>
                  </a:extLst>
                </a:gridCol>
                <a:gridCol w="1515599">
                  <a:extLst>
                    <a:ext uri="{9D8B030D-6E8A-4147-A177-3AD203B41FA5}">
                      <a16:colId xmlns:a16="http://schemas.microsoft.com/office/drawing/2014/main" val="930197540"/>
                    </a:ext>
                  </a:extLst>
                </a:gridCol>
                <a:gridCol w="2388321">
                  <a:extLst>
                    <a:ext uri="{9D8B030D-6E8A-4147-A177-3AD203B41FA5}">
                      <a16:colId xmlns:a16="http://schemas.microsoft.com/office/drawing/2014/main" val="505541071"/>
                    </a:ext>
                  </a:extLst>
                </a:gridCol>
                <a:gridCol w="1914869">
                  <a:extLst>
                    <a:ext uri="{9D8B030D-6E8A-4147-A177-3AD203B41FA5}">
                      <a16:colId xmlns:a16="http://schemas.microsoft.com/office/drawing/2014/main" val="3579158839"/>
                    </a:ext>
                  </a:extLst>
                </a:gridCol>
                <a:gridCol w="1914869">
                  <a:extLst>
                    <a:ext uri="{9D8B030D-6E8A-4147-A177-3AD203B41FA5}">
                      <a16:colId xmlns:a16="http://schemas.microsoft.com/office/drawing/2014/main" val="1806865957"/>
                    </a:ext>
                  </a:extLst>
                </a:gridCol>
              </a:tblGrid>
              <a:tr h="1097249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Baseline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Has Demo Data + Income 0-50K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Income 0-50K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Has Demo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966815"/>
                  </a:ext>
                </a:extLst>
              </a:tr>
              <a:tr h="6269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AUC</a:t>
                      </a:r>
                    </a:p>
                    <a:p>
                      <a:pPr algn="ctr"/>
                      <a:r>
                        <a:rPr lang="en-US" sz="1200" dirty="0"/>
                        <a:t>(Train AUC)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0.6072</a:t>
                      </a:r>
                    </a:p>
                    <a:p>
                      <a:pPr algn="ctr"/>
                      <a:r>
                        <a:rPr lang="en-US" sz="1200" b="0" dirty="0"/>
                        <a:t>(0.594)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0.6088</a:t>
                      </a:r>
                    </a:p>
                    <a:p>
                      <a:pPr algn="ctr"/>
                      <a:r>
                        <a:rPr lang="en-US" sz="1200" dirty="0"/>
                        <a:t>(0.595)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0.6079</a:t>
                      </a:r>
                    </a:p>
                    <a:p>
                      <a:pPr algn="ctr"/>
                      <a:r>
                        <a:rPr lang="en-US" sz="1200" dirty="0"/>
                        <a:t>(0.594)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0.6073</a:t>
                      </a:r>
                    </a:p>
                    <a:p>
                      <a:pPr algn="ctr"/>
                      <a:r>
                        <a:rPr lang="en-US" sz="1200" dirty="0"/>
                        <a:t>(0.594)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626450"/>
                  </a:ext>
                </a:extLst>
              </a:tr>
              <a:tr h="8586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Weekly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13.89%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14.28%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14.34%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13.97%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1827342"/>
                  </a:ext>
                </a:extLst>
              </a:tr>
              <a:tr h="10163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Most Impactful 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IMP_WM0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IMP_WM0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IMP_WM0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IMP_WM0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785018"/>
                  </a:ext>
                </a:extLst>
              </a:tr>
              <a:tr h="10972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Top/Bottom Lift</a:t>
                      </a:r>
                    </a:p>
                    <a:p>
                      <a:pPr algn="ctr"/>
                      <a:r>
                        <a:rPr lang="en-US" sz="1100" b="0" dirty="0"/>
                        <a:t>Actuals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7.77x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6.21x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6.44x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6.41x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355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4544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3A8CA-E35C-EE46-9390-C8FE8DAAD9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32220403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6BA006-D794-6197-93D1-088AAA0E22C9}"/>
              </a:ext>
            </a:extLst>
          </p:cNvPr>
          <p:cNvSpPr txBox="1">
            <a:spLocks/>
          </p:cNvSpPr>
          <p:nvPr/>
        </p:nvSpPr>
        <p:spPr>
          <a:xfrm>
            <a:off x="575691" y="380674"/>
            <a:ext cx="100584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none" spc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Clear discrepancy in continuation of age relationship</a:t>
            </a:r>
            <a:endParaRPr lang="en-US" sz="2800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5621BA4-63D3-9918-2443-FA7A47A3A1A2}"/>
              </a:ext>
            </a:extLst>
          </p:cNvPr>
          <p:cNvSpPr txBox="1">
            <a:spLocks/>
          </p:cNvSpPr>
          <p:nvPr/>
        </p:nvSpPr>
        <p:spPr>
          <a:xfrm>
            <a:off x="11317779" y="6324123"/>
            <a:ext cx="339256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i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9EE19D-4EB7-48EB-BA94-5F09BA2DAFE6}" type="slidenum">
              <a:rPr lang="en-US" smtClean="0"/>
              <a:pPr/>
              <a:t>55</a:t>
            </a:fld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B85D706-781E-C6E2-6AA0-078C54DDBD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8939404"/>
              </p:ext>
            </p:extLst>
          </p:nvPr>
        </p:nvGraphicFramePr>
        <p:xfrm>
          <a:off x="310515" y="908795"/>
          <a:ext cx="6142537" cy="5598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01FCCED-584D-ED74-4C93-B9E462E720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3446285"/>
              </p:ext>
            </p:extLst>
          </p:nvPr>
        </p:nvGraphicFramePr>
        <p:xfrm>
          <a:off x="6453052" y="908795"/>
          <a:ext cx="4572000" cy="56896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9F71237-C65C-07A9-5AE5-05E324358A9A}"/>
              </a:ext>
            </a:extLst>
          </p:cNvPr>
          <p:cNvSpPr/>
          <p:nvPr/>
        </p:nvSpPr>
        <p:spPr>
          <a:xfrm>
            <a:off x="4651684" y="1430002"/>
            <a:ext cx="841248" cy="457200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302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92C087-C6CF-6245-EBC7-09B1183A81A4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56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A98DC4-8DDC-4D79-4FED-2CE0EAE17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432000"/>
            <a:ext cx="10058400" cy="432000"/>
          </a:xfrm>
        </p:spPr>
        <p:txBody>
          <a:bodyPr/>
          <a:lstStyle/>
          <a:p>
            <a:r>
              <a:rPr lang="en-US" dirty="0"/>
              <a:t>55+ Records consistently containing multiple 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104B4-6F3F-C6E9-7E16-F3C936E34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93" y="887124"/>
            <a:ext cx="6196332" cy="576264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554538-E5D2-2F03-1405-3AE71A06E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12020"/>
              </p:ext>
            </p:extLst>
          </p:nvPr>
        </p:nvGraphicFramePr>
        <p:xfrm>
          <a:off x="6296750" y="1558231"/>
          <a:ext cx="4574450" cy="48172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4849">
                  <a:extLst>
                    <a:ext uri="{9D8B030D-6E8A-4147-A177-3AD203B41FA5}">
                      <a16:colId xmlns:a16="http://schemas.microsoft.com/office/drawing/2014/main" val="4017736837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831080356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1685604800"/>
                    </a:ext>
                  </a:extLst>
                </a:gridCol>
                <a:gridCol w="827315">
                  <a:extLst>
                    <a:ext uri="{9D8B030D-6E8A-4147-A177-3AD203B41FA5}">
                      <a16:colId xmlns:a16="http://schemas.microsoft.com/office/drawing/2014/main" val="1688094947"/>
                    </a:ext>
                  </a:extLst>
                </a:gridCol>
                <a:gridCol w="841829">
                  <a:extLst>
                    <a:ext uri="{9D8B030D-6E8A-4147-A177-3AD203B41FA5}">
                      <a16:colId xmlns:a16="http://schemas.microsoft.com/office/drawing/2014/main" val="2170086957"/>
                    </a:ext>
                  </a:extLst>
                </a:gridCol>
              </a:tblGrid>
              <a:tr h="59446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806424"/>
                  </a:ext>
                </a:extLst>
              </a:tr>
              <a:tr h="6901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Unique </a:t>
                      </a:r>
                    </a:p>
                    <a:p>
                      <a:pPr algn="ctr"/>
                      <a:r>
                        <a:rPr lang="en-US" dirty="0"/>
                        <a:t>Combos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1,859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4,451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2,956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639924"/>
                  </a:ext>
                </a:extLst>
              </a:tr>
              <a:tr h="740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 10 </a:t>
                      </a:r>
                    </a:p>
                    <a:p>
                      <a:pPr algn="ctr"/>
                      <a:r>
                        <a:rPr lang="en-US" dirty="0"/>
                        <a:t>from 55+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 (RGB)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 (RGB)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 (RGB)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49153"/>
                  </a:ext>
                </a:extLst>
              </a:tr>
              <a:tr h="12034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 of All </a:t>
                      </a:r>
                    </a:p>
                    <a:p>
                      <a:pPr algn="ctr"/>
                      <a:r>
                        <a:rPr lang="en-US" dirty="0"/>
                        <a:t>Records covered </a:t>
                      </a:r>
                    </a:p>
                    <a:p>
                      <a:pPr algn="ctr"/>
                      <a:r>
                        <a:rPr lang="en-US" dirty="0"/>
                        <a:t>by Top 10 Combos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917538"/>
                  </a:ext>
                </a:extLst>
              </a:tr>
              <a:tr h="13293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 of </a:t>
                      </a:r>
                    </a:p>
                    <a:p>
                      <a:pPr algn="ctr"/>
                      <a:r>
                        <a:rPr lang="en-US" dirty="0"/>
                        <a:t>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063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3361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F17BD8-0DED-F115-7B5F-EB9A6F42306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57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2420C2-0BB4-A692-7FF2-D3121BFC8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432000"/>
            <a:ext cx="10058400" cy="432000"/>
          </a:xfrm>
        </p:spPr>
        <p:txBody>
          <a:bodyPr/>
          <a:lstStyle/>
          <a:p>
            <a:r>
              <a:rPr lang="en-US" dirty="0"/>
              <a:t>Households that are only 55+ perform worse; indicating household makeup helps distinguish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F901A0-95AD-0E7A-8480-AC6354455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523985"/>
              </p:ext>
            </p:extLst>
          </p:nvPr>
        </p:nvGraphicFramePr>
        <p:xfrm>
          <a:off x="369105" y="1245192"/>
          <a:ext cx="10184187" cy="5404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049">
                  <a:extLst>
                    <a:ext uri="{9D8B030D-6E8A-4147-A177-3AD203B41FA5}">
                      <a16:colId xmlns:a16="http://schemas.microsoft.com/office/drawing/2014/main" val="14564466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1319844221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590449495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3977509211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4232099668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68748797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683480146"/>
                    </a:ext>
                  </a:extLst>
                </a:gridCol>
                <a:gridCol w="1554482">
                  <a:extLst>
                    <a:ext uri="{9D8B030D-6E8A-4147-A177-3AD203B41FA5}">
                      <a16:colId xmlns:a16="http://schemas.microsoft.com/office/drawing/2014/main" val="989682372"/>
                    </a:ext>
                  </a:extLst>
                </a:gridCol>
              </a:tblGrid>
              <a:tr h="1102181">
                <a:tc>
                  <a:txBody>
                    <a:bodyPr/>
                    <a:lstStyle/>
                    <a:p>
                      <a:r>
                        <a:rPr lang="en-US" dirty="0"/>
                        <a:t>Group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 Demographic Data?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 55+?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Household Age Buckets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Records </a:t>
                      </a:r>
                    </a:p>
                    <a:p>
                      <a:r>
                        <a:rPr lang="en-US" sz="1200" b="0" dirty="0"/>
                        <a:t>(Train + Test)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Train Rank</a:t>
                      </a:r>
                      <a:r>
                        <a:rPr lang="en-US" b="0" dirty="0"/>
                        <a:t> </a:t>
                      </a:r>
                      <a:r>
                        <a:rPr lang="en-US" sz="1200" b="0" dirty="0"/>
                        <a:t>(Conv)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Test Rank</a:t>
                      </a:r>
                      <a:r>
                        <a:rPr lang="en-US" b="0" dirty="0"/>
                        <a:t> </a:t>
                      </a:r>
                      <a:r>
                        <a:rPr lang="en-US" sz="1400" b="0" dirty="0"/>
                        <a:t>(Conv)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Conversion Rate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281171"/>
                  </a:ext>
                </a:extLst>
              </a:tr>
              <a:tr h="5378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8,307,874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⬆️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0.1797%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019823"/>
                  </a:ext>
                </a:extLst>
              </a:tr>
              <a:tr h="5378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2,763,266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3⬆️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0.1809%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379015"/>
                  </a:ext>
                </a:extLst>
              </a:tr>
              <a:tr h="5378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338,042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5⬆️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0.1867%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308138"/>
                  </a:ext>
                </a:extLst>
              </a:tr>
              <a:tr h="5378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451,858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6⬆️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0.1908%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175158"/>
                  </a:ext>
                </a:extLst>
              </a:tr>
              <a:tr h="5378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4,550,498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6⬆️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</a:t>
                      </a:r>
                      <a:r>
                        <a:rPr lang="en-US" b="1" dirty="0">
                          <a:solidFill>
                            <a:srgbClr val="A50021"/>
                          </a:solidFill>
                        </a:rP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0.1987%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92751"/>
                  </a:ext>
                </a:extLst>
              </a:tr>
              <a:tr h="53780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54,594,682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7⬆️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 </a:t>
                      </a:r>
                      <a:r>
                        <a:rPr lang="en-US" b="1" dirty="0">
                          <a:solidFill>
                            <a:srgbClr val="A50021"/>
                          </a:solidFill>
                        </a:rP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0.2004%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179467"/>
                  </a:ext>
                </a:extLst>
              </a:tr>
              <a:tr h="5378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19,058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b="1" dirty="0">
                          <a:solidFill>
                            <a:srgbClr val="A50021"/>
                          </a:solidFill>
                        </a:rP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8⬆️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36795"/>
                  </a:ext>
                </a:extLst>
              </a:tr>
              <a:tr h="53780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 </a:t>
                      </a:r>
                      <a:r>
                        <a:rPr lang="en-US" b="1" dirty="0">
                          <a:solidFill>
                            <a:srgbClr val="A50021"/>
                          </a:solidFill>
                        </a:rP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0.2858%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675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8639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9A82F6-BB93-2D95-BAC7-B1BB9F897A2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029EE19D-4EB7-48EB-BA94-5F09BA2DAFE6}" type="slidenum">
              <a:rPr lang="en-US" smtClean="0"/>
              <a:t>58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541B6B1-DD58-5901-BF3A-F70D9AFB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432000"/>
            <a:ext cx="10058400" cy="432000"/>
          </a:xfrm>
        </p:spPr>
        <p:txBody>
          <a:bodyPr/>
          <a:lstStyle/>
          <a:p>
            <a:r>
              <a:rPr lang="en-US" dirty="0"/>
              <a:t>Recommend maintaining baseline model; all model versions struggle with lift</a:t>
            </a:r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B3FE7FF4-991A-1C71-EC3B-1EEEF3AA33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7191832"/>
              </p:ext>
            </p:extLst>
          </p:nvPr>
        </p:nvGraphicFramePr>
        <p:xfrm>
          <a:off x="247018" y="1384222"/>
          <a:ext cx="10552043" cy="48873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9343">
                  <a:extLst>
                    <a:ext uri="{9D8B030D-6E8A-4147-A177-3AD203B41FA5}">
                      <a16:colId xmlns:a16="http://schemas.microsoft.com/office/drawing/2014/main" val="2908280626"/>
                    </a:ext>
                  </a:extLst>
                </a:gridCol>
                <a:gridCol w="1182515">
                  <a:extLst>
                    <a:ext uri="{9D8B030D-6E8A-4147-A177-3AD203B41FA5}">
                      <a16:colId xmlns:a16="http://schemas.microsoft.com/office/drawing/2014/main" val="930197540"/>
                    </a:ext>
                  </a:extLst>
                </a:gridCol>
                <a:gridCol w="1494037">
                  <a:extLst>
                    <a:ext uri="{9D8B030D-6E8A-4147-A177-3AD203B41FA5}">
                      <a16:colId xmlns:a16="http://schemas.microsoft.com/office/drawing/2014/main" val="1806865957"/>
                    </a:ext>
                  </a:extLst>
                </a:gridCol>
                <a:gridCol w="1494037">
                  <a:extLst>
                    <a:ext uri="{9D8B030D-6E8A-4147-A177-3AD203B41FA5}">
                      <a16:colId xmlns:a16="http://schemas.microsoft.com/office/drawing/2014/main" val="3483280392"/>
                    </a:ext>
                  </a:extLst>
                </a:gridCol>
                <a:gridCol w="1494037">
                  <a:extLst>
                    <a:ext uri="{9D8B030D-6E8A-4147-A177-3AD203B41FA5}">
                      <a16:colId xmlns:a16="http://schemas.microsoft.com/office/drawing/2014/main" val="3537967784"/>
                    </a:ext>
                  </a:extLst>
                </a:gridCol>
                <a:gridCol w="1494037">
                  <a:extLst>
                    <a:ext uri="{9D8B030D-6E8A-4147-A177-3AD203B41FA5}">
                      <a16:colId xmlns:a16="http://schemas.microsoft.com/office/drawing/2014/main" val="2025165662"/>
                    </a:ext>
                  </a:extLst>
                </a:gridCol>
                <a:gridCol w="1494037">
                  <a:extLst>
                    <a:ext uri="{9D8B030D-6E8A-4147-A177-3AD203B41FA5}">
                      <a16:colId xmlns:a16="http://schemas.microsoft.com/office/drawing/2014/main" val="871208936"/>
                    </a:ext>
                  </a:extLst>
                </a:gridCol>
              </a:tblGrid>
              <a:tr h="110155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Baseline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Has Demo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Has Demo Data &amp; Age 55+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Age 55+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Has Demo Data &amp; Age 55+ &amp; Household 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Age 55+ &amp; Household 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966815"/>
                  </a:ext>
                </a:extLst>
              </a:tr>
              <a:tr h="6294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AUC</a:t>
                      </a:r>
                    </a:p>
                    <a:p>
                      <a:pPr algn="ctr"/>
                      <a:r>
                        <a:rPr lang="en-US" sz="1200" dirty="0"/>
                        <a:t>(Train AUC)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0.6072</a:t>
                      </a:r>
                    </a:p>
                    <a:p>
                      <a:pPr algn="ctr"/>
                      <a:r>
                        <a:rPr lang="en-US" sz="1200" b="0" dirty="0"/>
                        <a:t>(0.594)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0.6073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0.6076</a:t>
                      </a:r>
                    </a:p>
                    <a:p>
                      <a:pPr algn="ctr"/>
                      <a:r>
                        <a:rPr lang="en-US" sz="1200" dirty="0"/>
                        <a:t>(0.594)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0.6077</a:t>
                      </a:r>
                    </a:p>
                    <a:p>
                      <a:pPr algn="ctr"/>
                      <a:r>
                        <a:rPr lang="en-US" sz="1200" dirty="0"/>
                        <a:t>(0.594)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0.6079</a:t>
                      </a:r>
                    </a:p>
                    <a:p>
                      <a:pPr algn="ctr"/>
                      <a:r>
                        <a:rPr lang="en-US" sz="1200" dirty="0"/>
                        <a:t>(0.594)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0.6075</a:t>
                      </a:r>
                    </a:p>
                    <a:p>
                      <a:pPr algn="ctr"/>
                      <a:r>
                        <a:rPr lang="en-US" sz="1200" dirty="0"/>
                        <a:t>(0.593)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626450"/>
                  </a:ext>
                </a:extLst>
              </a:tr>
              <a:tr h="8620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Weekly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13.89%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13.97%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13.96%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13.96%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13.97%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1827342"/>
                  </a:ext>
                </a:extLst>
              </a:tr>
              <a:tr h="9836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Most Impactful 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IMP_WM0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IMP_WM0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IMP_WM0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IMP_WM0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IMP_WM0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IMP_WM0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785018"/>
                  </a:ext>
                </a:extLst>
              </a:tr>
              <a:tr h="11015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Top/Bottom Lift</a:t>
                      </a:r>
                    </a:p>
                    <a:p>
                      <a:pPr algn="ctr"/>
                      <a:r>
                        <a:rPr lang="en-US" sz="1100" b="0" dirty="0"/>
                        <a:t>Actuals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7.77x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6.41x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6.53x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6.53x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2.19x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6.45x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355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3403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DriveTime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026940"/>
      </a:accent1>
      <a:accent2>
        <a:srgbClr val="00AF66"/>
      </a:accent2>
      <a:accent3>
        <a:srgbClr val="BED6AB"/>
      </a:accent3>
      <a:accent4>
        <a:srgbClr val="0C2340"/>
      </a:accent4>
      <a:accent5>
        <a:srgbClr val="075078"/>
      </a:accent5>
      <a:accent6>
        <a:srgbClr val="00ABE8"/>
      </a:accent6>
      <a:hlink>
        <a:srgbClr val="00ABE8"/>
      </a:hlink>
      <a:folHlink>
        <a:srgbClr val="075078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redit Model Impact to Purchasing" id="{F244771A-0DBA-429F-9687-C921A90CD04D}" vid="{2D6E5179-634B-4265-8ED3-7E3468FCF6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Intern Ideas</Template>
  <TotalTime>7632</TotalTime>
  <Words>2039</Words>
  <Application>Microsoft Office PowerPoint</Application>
  <PresentationFormat>Widescreen</PresentationFormat>
  <Paragraphs>745</Paragraphs>
  <Slides>58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Aptos</vt:lpstr>
      <vt:lpstr>Arial</vt:lpstr>
      <vt:lpstr>Cambria Math</vt:lpstr>
      <vt:lpstr>Century Gothic</vt:lpstr>
      <vt:lpstr>Freestyle Script</vt:lpstr>
      <vt:lpstr>Times New Roman</vt:lpstr>
      <vt:lpstr>Wingdings</vt:lpstr>
      <vt:lpstr>1_Office Theme</vt:lpstr>
      <vt:lpstr>Marketing Data Science Internship Summer 2026</vt:lpstr>
      <vt:lpstr>PowerPoint Presentation</vt:lpstr>
      <vt:lpstr>Agenda</vt:lpstr>
      <vt:lpstr>CIIM helps to understand the impact of DT ad placement</vt:lpstr>
      <vt:lpstr>Baseline model uses 4 weekly adstock features</vt:lpstr>
      <vt:lpstr>Adding features to the model will increase its predictive power</vt:lpstr>
      <vt:lpstr>Adstock temporal patterns and distribution share were too connected to overall impressions </vt:lpstr>
      <vt:lpstr>Adding features to the model will increase its predictive power</vt:lpstr>
      <vt:lpstr>Weekly averages show rough flow of behavior</vt:lpstr>
      <vt:lpstr>Quadratic equation captures smooth seasonal expectation</vt:lpstr>
      <vt:lpstr>Quadratic equation captures smooth seasonal expectation</vt:lpstr>
      <vt:lpstr>Top-performing seasonal versions struggle to separate </vt:lpstr>
      <vt:lpstr>Adding features to the model will increase its predictive power</vt:lpstr>
      <vt:lpstr>NDPs are unique units of Network x Daypart combinations on which DT ads are aired</vt:lpstr>
      <vt:lpstr>NDPs were grouped into behavioral clusters</vt:lpstr>
      <vt:lpstr>Top-performing NDP models still underperforming </vt:lpstr>
      <vt:lpstr>Adding features to the model will increase its predictive power</vt:lpstr>
      <vt:lpstr>Demographics exploration identified populations with strong relationship to conversion</vt:lpstr>
      <vt:lpstr>Sparsity of demographics data and overall structure devolved model performance</vt:lpstr>
      <vt:lpstr>While relationships were sensible and supported, introducing features to model hurt performance</vt:lpstr>
      <vt:lpstr>Findings beyond the results</vt:lpstr>
      <vt:lpstr>Appendix</vt:lpstr>
      <vt:lpstr>What is CIIM?</vt:lpstr>
      <vt:lpstr>CIIM uses ad volume to predict web visit likelihood</vt:lpstr>
      <vt:lpstr>Records are at TV x Week granularity</vt:lpstr>
      <vt:lpstr>iSpot ad measuring platform provides TV data</vt:lpstr>
      <vt:lpstr>State of the Model</vt:lpstr>
      <vt:lpstr>Logistic regression emphasizes current week impressions for predicting web visits</vt:lpstr>
      <vt:lpstr>Conversion predictions globally aligned</vt:lpstr>
      <vt:lpstr>When zooming in, model shows gaps in accuracy and consistency</vt:lpstr>
      <vt:lpstr>Pre-Launch Checks</vt:lpstr>
      <vt:lpstr>Initial data checks and exploration laid groundwork for understanding feature analyses</vt:lpstr>
      <vt:lpstr>TVs experience different classifications due to different behaviors and changing guidelines</vt:lpstr>
      <vt:lpstr>2026 dropped network investment</vt:lpstr>
      <vt:lpstr>Conversion Model 2.0 tests on new timeframe and marketing regime</vt:lpstr>
      <vt:lpstr>2026 shifting to lower levels of impressions </vt:lpstr>
      <vt:lpstr>Underlying conversion behavior stable between 2025 and 2026 </vt:lpstr>
      <vt:lpstr>Target Feature Analysis</vt:lpstr>
      <vt:lpstr>Successful features are like a SQUID…</vt:lpstr>
      <vt:lpstr>H_"α" : Monthly impression data missed details of conversion in temporal patterns and distribution</vt:lpstr>
      <vt:lpstr>Seasonality</vt:lpstr>
      <vt:lpstr>Recommend maintaining Baseline Model</vt:lpstr>
      <vt:lpstr>Seasonal Model fails to outperform Baseline Model</vt:lpstr>
      <vt:lpstr>Network Dayparts</vt:lpstr>
      <vt:lpstr>NDP-level features present a variety of challenges</vt:lpstr>
      <vt:lpstr>K-Means Clustering creates 6 groups that collapse to 4 with mapping techniques</vt:lpstr>
      <vt:lpstr>Mapping decisions </vt:lpstr>
      <vt:lpstr>Recommend maintaining baseline model</vt:lpstr>
      <vt:lpstr>Cluster 2 Feature fails on 3 fronts </vt:lpstr>
      <vt:lpstr>Income</vt:lpstr>
      <vt:lpstr>Less extreme variation in conversion rate by income</vt:lpstr>
      <vt:lpstr>Better performance for income 0-50K persists in sample</vt:lpstr>
      <vt:lpstr>Recommend maintaining baseline model; all model versions struggle with lift</vt:lpstr>
      <vt:lpstr>Age</vt:lpstr>
      <vt:lpstr>PowerPoint Presentation</vt:lpstr>
      <vt:lpstr>55+ Records consistently containing multiple ages</vt:lpstr>
      <vt:lpstr>Households that are only 55+ perform worse; indicating household makeup helps distinguish </vt:lpstr>
      <vt:lpstr>Recommend maintaining baseline model; all model versions struggle with lift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Sophie Krajmalnik</dc:creator>
  <cp:lastModifiedBy>Sophie Krajmalnik</cp:lastModifiedBy>
  <cp:revision>29</cp:revision>
  <cp:lastPrinted>2026-07-20T22:16:46Z</cp:lastPrinted>
  <dcterms:created xsi:type="dcterms:W3CDTF">2026-06-04T22:31:28Z</dcterms:created>
  <dcterms:modified xsi:type="dcterms:W3CDTF">2026-07-23T22:49:59Z</dcterms:modified>
</cp:coreProperties>
</file>