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4630400" cy="8229600"/>
  <p:notesSz cx="8229600" cy="14630400"/>
  <p:embeddedFontLst>
    <p:embeddedFont>
      <p:font typeface="Roboto Slab"/>
      <p:regular r:id="rId38"/>
    </p:embeddedFont>
    <p:embeddedFont>
      <p:font typeface="Roboto Slab"/>
      <p:regular r:id="rId39"/>
    </p:embeddedFont>
    <p:embeddedFont>
      <p:font typeface="Roboto"/>
      <p:regular r:id="rId40"/>
    </p:embeddedFont>
    <p:embeddedFont>
      <p:font typeface="Roboto"/>
      <p:regular r:id="rId41"/>
    </p:embeddedFont>
    <p:embeddedFont>
      <p:font typeface="Roboto"/>
      <p:regular r:id="rId42"/>
    </p:embeddedFont>
    <p:embeddedFont>
      <p:font typeface="Roboto"/>
      <p:regular r:id="rId4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Relationship Id="rId38" Type="http://schemas.openxmlformats.org/officeDocument/2006/relationships/font" Target="fonts/font1.fntdata"/><Relationship Id="rId39" Type="http://schemas.openxmlformats.org/officeDocument/2006/relationships/font" Target="fonts/font2.fntdata"/><Relationship Id="rId40" Type="http://schemas.openxmlformats.org/officeDocument/2006/relationships/font" Target="fonts/font3.fntdata"/><Relationship Id="rId41" Type="http://schemas.openxmlformats.org/officeDocument/2006/relationships/font" Target="fonts/font4.fntdata"/><Relationship Id="rId42" Type="http://schemas.openxmlformats.org/officeDocument/2006/relationships/font" Target="fonts/font5.fntdata"/><Relationship Id="rId43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3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5-1.png"/><Relationship Id="rId3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6-1.png"/><Relationship Id="rId3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7-1.png"/><Relationship Id="rId3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8-1.png"/><Relationship Id="rId3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9-1.png"/><Relationship Id="rId3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20-1.png"/><Relationship Id="rId3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21-1.png"/><Relationship Id="rId3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22-1.png"/><Relationship Id="rId3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23-1.png"/><Relationship Id="rId3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24-1.png"/><Relationship Id="rId3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25-1.png"/><Relationship Id="rId3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26-1.png"/><Relationship Id="rId3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27-1.png"/><Relationship Id="rId3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28-1.png"/><Relationship Id="rId3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29-1.png"/><Relationship Id="rId3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30-1.png"/><Relationship Id="rId3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31-1.png"/><Relationship Id="rId3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3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E5E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E5E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4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6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hyperlink" Target="https://seatiq.squarespace.com" TargetMode="External"/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6" Type="http://schemas.openxmlformats.org/officeDocument/2006/relationships/slideLayout" Target="../slideLayouts/slideLayout17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svg"/><Relationship Id="rId6" Type="http://schemas.openxmlformats.org/officeDocument/2006/relationships/image" Target="../media/image-19-6.png"/><Relationship Id="rId7" Type="http://schemas.openxmlformats.org/officeDocument/2006/relationships/image" Target="../media/image-19-7.svg"/><Relationship Id="rId8" Type="http://schemas.openxmlformats.org/officeDocument/2006/relationships/image" Target="../media/image-19-8.png"/><Relationship Id="rId9" Type="http://schemas.openxmlformats.org/officeDocument/2006/relationships/image" Target="../media/image-19-9.sv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svg"/><Relationship Id="rId12" Type="http://schemas.openxmlformats.org/officeDocument/2006/relationships/slideLayout" Target="../slideLayouts/slideLayout20.xml"/><Relationship Id="rId1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8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slideLayout" Target="../slideLayouts/slideLayout32.xml"/><Relationship Id="rId8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7860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796659"/>
            <a:ext cx="7556421" cy="28402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589204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5025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Problem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212538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6M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793790" y="3244334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Crashes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734753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Police-reported car crashes in USA 2023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3407093" y="2212538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40K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3407093" y="3244334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Fatalities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407093" y="3734753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Lives lost in car accidents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020395" y="2212538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2.4M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6020395" y="3244334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Injuries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020395" y="3734753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People injured in crashes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93790" y="49425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Disparity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93790" y="5523667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Short-statured drivers are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47% more likely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be severely injured and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17% more likely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die in car crashes.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4856321" y="49425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Historical Gap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856321" y="5523667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 female crash test dummy introduced in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decades after male dummies.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642" y="848916"/>
            <a:ext cx="6341626" cy="332851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42" y="4409242"/>
            <a:ext cx="6704171" cy="212181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5880" y="848916"/>
            <a:ext cx="5560933" cy="1548646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880" y="2629376"/>
            <a:ext cx="5885498" cy="1430179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5880" y="4291370"/>
            <a:ext cx="5885498" cy="1450657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7995880" y="5973842"/>
            <a:ext cx="5885498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endParaRPr lang="en-US" sz="1700" dirty="0"/>
          </a:p>
        </p:txBody>
      </p:sp>
      <p:sp>
        <p:nvSpPr>
          <p:cNvPr id="8" name="Text 1"/>
          <p:cNvSpPr/>
          <p:nvPr/>
        </p:nvSpPr>
        <p:spPr>
          <a:xfrm>
            <a:off x="4868108" y="7071955"/>
            <a:ext cx="4894183" cy="540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This is our reason why. </a:t>
            </a:r>
            <a:endParaRPr lang="en-US" sz="3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271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Meet the Team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895118"/>
            <a:ext cx="4158615" cy="41586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62805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Sophie Krajmalnik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677096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CEO, Founder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UNT Data Science '27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1895118"/>
            <a:ext cx="4158615" cy="41586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62805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Meera Bhakta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677096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Co-Founder, Chief Business Officer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UNT Biology '26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1895118"/>
            <a:ext cx="4158615" cy="415861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62805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Bethany Davis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677096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Co-Founder, Chief Technology Officer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UNT Biology '26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2789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is SEAT IQ?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9029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mobile app that uses your smartphone's cameras and sensors with AI and computer vision to optimize your driving position.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008352"/>
            <a:ext cx="1767840" cy="1767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50596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Scan &amp; Analyze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5550098"/>
            <a:ext cx="304800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smartphone cameras and sensors to analyze body composition and seating position.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78" y="3008352"/>
            <a:ext cx="1767840" cy="17678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25278" y="50596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Calculate Position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125278" y="5550098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Bioinformatics-informed algorithm determines your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ideal seating for safety, comfort, and accessibility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884" y="3008352"/>
            <a:ext cx="1767840" cy="17678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56884" y="50596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Guide &amp; Optimize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7456884" y="5550098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Receive real-time guidance to reach your recommended optimal seating position.</a:t>
            </a:r>
            <a:endParaRPr lang="en-US" sz="1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8491" y="3008352"/>
            <a:ext cx="1767840" cy="17678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788491" y="50596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Learn &amp; Improve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0788491" y="5550098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Continuously enhances recommendations through ongoing data analysis and safety modeling.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07312"/>
            <a:ext cx="7825502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39% Reduction in 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3625691"/>
            <a:ext cx="12358092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Composite Injury Severity Scores </a:t>
            </a:r>
            <a:endParaRPr lang="en-US" sz="6150" dirty="0"/>
          </a:p>
        </p:txBody>
      </p:sp>
      <p:sp>
        <p:nvSpPr>
          <p:cNvPr id="5" name="Text 2"/>
          <p:cNvSpPr/>
          <p:nvPr/>
        </p:nvSpPr>
        <p:spPr>
          <a:xfrm>
            <a:off x="793790" y="4944070"/>
            <a:ext cx="11287958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 Industry-Standard Software</a:t>
            </a:r>
            <a:endParaRPr lang="en-US" sz="6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5226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Market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133951" y="2369820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SEAT IQ is completely unique to the market.  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114669"/>
            <a:ext cx="30480" cy="873204"/>
          </a:xfrm>
          <a:prstGeom prst="rect">
            <a:avLst/>
          </a:prstGeom>
          <a:solidFill>
            <a:srgbClr val="66A8E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348" y="3243024"/>
            <a:ext cx="2152055" cy="13069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94892" y="3859054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357217" y="3469838"/>
            <a:ext cx="27574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SOM: 2.2M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357217" y="3960257"/>
            <a:ext cx="27574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Projected to reach at year 6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187077" y="4563070"/>
            <a:ext cx="8592860" cy="15240"/>
          </a:xfrm>
          <a:prstGeom prst="roundRect">
            <a:avLst>
              <a:gd name="adj" fmla="val 223256"/>
            </a:avLst>
          </a:prstGeom>
          <a:solidFill>
            <a:srgbClr val="AFCBF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381" y="4606647"/>
            <a:ext cx="4304109" cy="130694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94892" y="5060752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500" dirty="0"/>
          </a:p>
        </p:txBody>
      </p:sp>
      <p:sp>
        <p:nvSpPr>
          <p:cNvPr id="12" name="Text 8"/>
          <p:cNvSpPr/>
          <p:nvPr/>
        </p:nvSpPr>
        <p:spPr>
          <a:xfrm>
            <a:off x="6433304" y="48334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SAM: 234M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6433304" y="5323880"/>
            <a:ext cx="588799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 licensed drivers age 18-49 with high smartphone usage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6263164" y="5926693"/>
            <a:ext cx="7516773" cy="15240"/>
          </a:xfrm>
          <a:prstGeom prst="roundRect">
            <a:avLst>
              <a:gd name="adj" fmla="val 223256"/>
            </a:avLst>
          </a:prstGeom>
          <a:solidFill>
            <a:srgbClr val="5E98F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94" y="5970270"/>
            <a:ext cx="6456164" cy="130694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894773" y="6424374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500" dirty="0"/>
          </a:p>
        </p:txBody>
      </p:sp>
      <p:sp>
        <p:nvSpPr>
          <p:cNvPr id="17" name="Text 12"/>
          <p:cNvSpPr/>
          <p:nvPr/>
        </p:nvSpPr>
        <p:spPr>
          <a:xfrm>
            <a:off x="7509272" y="61970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TAM: 1.6-2B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7509272" y="6687503"/>
            <a:ext cx="322945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licensed drivers worldwide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38350"/>
            <a:ext cx="580191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Our Target Customers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7113" y="3200757"/>
            <a:ext cx="2411968" cy="14906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1366" y="4974908"/>
            <a:ext cx="29433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Safety-Focused Driver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46532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Primary driver managing family tasks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9216" y="3200757"/>
            <a:ext cx="2411968" cy="1490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97523" y="49749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Underserved Driver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546532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Requires solutions for physical accessibility challenges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1319" y="3200757"/>
            <a:ext cx="2411968" cy="14906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339626" y="49749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New Driver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546532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Inexperienced or younger, bias-aware drivers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73054"/>
            <a:ext cx="9190792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Direct to Consumer Sales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289143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year subscription term | Basic: $24.99/yr | Pro: $34.99/yr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3736300"/>
            <a:ext cx="284559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Expansion Path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93790" y="4388406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stable income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200406" y="3713559"/>
            <a:ext cx="9643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B2B Licensing &amp; Revenue Sharing   •   Data Licensing   •    Advertising &amp; Affiliate Marketing 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200406" y="4280535"/>
            <a:ext cx="964370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Insurance, Driving Schools, Dealerships, Corporate Fleets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93790" y="5437346"/>
            <a:ext cx="345817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Distribution Partners 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793790" y="6089452"/>
            <a:ext cx="352544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trust and user base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880253" y="5414605"/>
            <a:ext cx="89638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 Store • Advocacy Groups • Social Influencers • Reputable Agencies • Word of Mouth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11066"/>
            <a:ext cx="1060846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Projected Growth &amp; Revenue Milestones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4695944"/>
            <a:ext cx="13042821" cy="30480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sp>
        <p:nvSpPr>
          <p:cNvPr id="4" name="Shape 2"/>
          <p:cNvSpPr/>
          <p:nvPr/>
        </p:nvSpPr>
        <p:spPr>
          <a:xfrm>
            <a:off x="2302550" y="4242316"/>
            <a:ext cx="30480" cy="453628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2779" y="4610933"/>
            <a:ext cx="170021" cy="170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2073473"/>
            <a:ext cx="25943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Month 2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2563892"/>
            <a:ext cx="25943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Begin user acquisition with 10 initial users.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3968234" y="4695944"/>
            <a:ext cx="30480" cy="453628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463" y="4610933"/>
            <a:ext cx="170021" cy="1700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86288" y="5376386"/>
            <a:ext cx="25944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Month 5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2686288" y="5866805"/>
            <a:ext cx="2594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Launch driving school programs.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634038" y="4242316"/>
            <a:ext cx="30480" cy="453628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4267" y="4610933"/>
            <a:ext cx="170021" cy="17002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352092" y="2073473"/>
            <a:ext cx="25944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Month 10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4352092" y="2563892"/>
            <a:ext cx="2594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Launch affiliate marketing programs</a:t>
            </a:r>
            <a:endParaRPr lang="en-US" sz="1750" dirty="0"/>
          </a:p>
        </p:txBody>
      </p:sp>
      <p:sp>
        <p:nvSpPr>
          <p:cNvPr id="16" name="Shape 11"/>
          <p:cNvSpPr/>
          <p:nvPr/>
        </p:nvSpPr>
        <p:spPr>
          <a:xfrm>
            <a:off x="7299841" y="4695944"/>
            <a:ext cx="30480" cy="453628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0070" y="4610933"/>
            <a:ext cx="170021" cy="17002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17895" y="5376386"/>
            <a:ext cx="25944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Month 17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6017895" y="5866805"/>
            <a:ext cx="259449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Reach 5,000 total subscribers through direct B2C sales + early partnerships.  </a:t>
            </a:r>
            <a:endParaRPr lang="en-US" sz="1750" dirty="0"/>
          </a:p>
        </p:txBody>
      </p:sp>
      <p:sp>
        <p:nvSpPr>
          <p:cNvPr id="20" name="Shape 14"/>
          <p:cNvSpPr/>
          <p:nvPr/>
        </p:nvSpPr>
        <p:spPr>
          <a:xfrm>
            <a:off x="8965644" y="4242316"/>
            <a:ext cx="30480" cy="453628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5874" y="4610933"/>
            <a:ext cx="170021" cy="17002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683698" y="2073473"/>
            <a:ext cx="25944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Month 26</a:t>
            </a:r>
            <a:endParaRPr lang="en-US" sz="2200" dirty="0"/>
          </a:p>
        </p:txBody>
      </p:sp>
      <p:sp>
        <p:nvSpPr>
          <p:cNvPr id="23" name="Text 16"/>
          <p:cNvSpPr/>
          <p:nvPr/>
        </p:nvSpPr>
        <p:spPr>
          <a:xfrm>
            <a:off x="7683698" y="2563892"/>
            <a:ext cx="259449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Reach 20,000 users through mature B2B pipeline + organic growth.</a:t>
            </a:r>
            <a:endParaRPr lang="en-US" sz="1750" dirty="0"/>
          </a:p>
        </p:txBody>
      </p:sp>
      <p:sp>
        <p:nvSpPr>
          <p:cNvPr id="24" name="Shape 17"/>
          <p:cNvSpPr/>
          <p:nvPr/>
        </p:nvSpPr>
        <p:spPr>
          <a:xfrm>
            <a:off x="10631448" y="4695944"/>
            <a:ext cx="30480" cy="453628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1677" y="4610933"/>
            <a:ext cx="170021" cy="17002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349502" y="5376386"/>
            <a:ext cx="25944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Month 40</a:t>
            </a:r>
            <a:endParaRPr lang="en-US" sz="2200" dirty="0"/>
          </a:p>
        </p:txBody>
      </p:sp>
      <p:sp>
        <p:nvSpPr>
          <p:cNvPr id="27" name="Text 19"/>
          <p:cNvSpPr/>
          <p:nvPr/>
        </p:nvSpPr>
        <p:spPr>
          <a:xfrm>
            <a:off x="9349502" y="5866805"/>
            <a:ext cx="2594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Launch insurance partnerships at 60-80K.</a:t>
            </a:r>
            <a:endParaRPr lang="en-US" sz="1750" dirty="0"/>
          </a:p>
        </p:txBody>
      </p:sp>
      <p:sp>
        <p:nvSpPr>
          <p:cNvPr id="28" name="Text 20"/>
          <p:cNvSpPr/>
          <p:nvPr/>
        </p:nvSpPr>
        <p:spPr>
          <a:xfrm>
            <a:off x="9349502" y="6728698"/>
            <a:ext cx="25944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Begin with data licensing. </a:t>
            </a:r>
            <a:endParaRPr lang="en-US" sz="1750" dirty="0"/>
          </a:p>
        </p:txBody>
      </p:sp>
      <p:sp>
        <p:nvSpPr>
          <p:cNvPr id="29" name="Shape 21"/>
          <p:cNvSpPr/>
          <p:nvPr/>
        </p:nvSpPr>
        <p:spPr>
          <a:xfrm>
            <a:off x="12297251" y="4242316"/>
            <a:ext cx="30480" cy="453628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27481" y="4610933"/>
            <a:ext cx="170021" cy="170021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1015305" y="2073473"/>
            <a:ext cx="25944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Month 68</a:t>
            </a:r>
            <a:endParaRPr lang="en-US" sz="2200" dirty="0"/>
          </a:p>
        </p:txBody>
      </p:sp>
      <p:sp>
        <p:nvSpPr>
          <p:cNvPr id="32" name="Text 23"/>
          <p:cNvSpPr/>
          <p:nvPr/>
        </p:nvSpPr>
        <p:spPr>
          <a:xfrm>
            <a:off x="11015305" y="2563892"/>
            <a:ext cx="2594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Reach SOM with 2.2M users.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4004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Core Requirements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02456"/>
            <a:ext cx="4196358" cy="4387096"/>
          </a:xfrm>
          <a:prstGeom prst="roundRect">
            <a:avLst>
              <a:gd name="adj" fmla="val 811"/>
            </a:avLst>
          </a:prstGeom>
          <a:solidFill>
            <a:srgbClr val="202733"/>
          </a:solidFill>
          <a:ln w="30480">
            <a:solidFill>
              <a:srgbClr val="AFCB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270" y="2532936"/>
            <a:ext cx="4135398" cy="680442"/>
          </a:xfrm>
          <a:prstGeom prst="rect">
            <a:avLst/>
          </a:prstGeom>
          <a:solidFill>
            <a:srgbClr val="AFCBF8"/>
          </a:solidFill>
          <a:ln/>
        </p:spPr>
      </p:sp>
      <p:sp>
        <p:nvSpPr>
          <p:cNvPr id="5" name="Text 3"/>
          <p:cNvSpPr/>
          <p:nvPr/>
        </p:nvSpPr>
        <p:spPr>
          <a:xfrm>
            <a:off x="2721888" y="266045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051084" y="3440192"/>
            <a:ext cx="347888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Functionality &amp; Value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051084" y="4001572"/>
            <a:ext cx="3681770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Computer Vision 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Biomechanical Algorithm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Guidance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Recalibration 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Interface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51084" y="6269355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2502456"/>
            <a:ext cx="4196358" cy="4387096"/>
          </a:xfrm>
          <a:prstGeom prst="roundRect">
            <a:avLst>
              <a:gd name="adj" fmla="val 811"/>
            </a:avLst>
          </a:prstGeom>
          <a:solidFill>
            <a:srgbClr val="202733"/>
          </a:solidFill>
          <a:ln w="30480">
            <a:solidFill>
              <a:srgbClr val="AFCB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47442" y="2532936"/>
            <a:ext cx="4135398" cy="680442"/>
          </a:xfrm>
          <a:prstGeom prst="rect">
            <a:avLst/>
          </a:prstGeom>
          <a:solidFill>
            <a:srgbClr val="AFCBF8"/>
          </a:solidFill>
          <a:ln/>
        </p:spPr>
      </p:sp>
      <p:sp>
        <p:nvSpPr>
          <p:cNvPr id="11" name="Text 9"/>
          <p:cNvSpPr/>
          <p:nvPr/>
        </p:nvSpPr>
        <p:spPr>
          <a:xfrm>
            <a:off x="7145060" y="266045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5474256" y="3440192"/>
            <a:ext cx="3681770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Go-to-Market &amp; Compliance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5474256" y="4426863"/>
            <a:ext cx="3681770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Biometric Security and Privacy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IAP Compliance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474256" y="5368052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9640133" y="2502456"/>
            <a:ext cx="4196358" cy="4387096"/>
          </a:xfrm>
          <a:prstGeom prst="roundRect">
            <a:avLst>
              <a:gd name="adj" fmla="val 811"/>
            </a:avLst>
          </a:prstGeom>
          <a:solidFill>
            <a:srgbClr val="202733"/>
          </a:solidFill>
          <a:ln w="30480">
            <a:solidFill>
              <a:srgbClr val="AFCB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70613" y="2532936"/>
            <a:ext cx="4135398" cy="680442"/>
          </a:xfrm>
          <a:prstGeom prst="rect">
            <a:avLst/>
          </a:prstGeom>
          <a:solidFill>
            <a:srgbClr val="AFCBF8"/>
          </a:solidFill>
          <a:ln/>
        </p:spPr>
      </p:sp>
      <p:sp>
        <p:nvSpPr>
          <p:cNvPr id="17" name="Text 15"/>
          <p:cNvSpPr/>
          <p:nvPr/>
        </p:nvSpPr>
        <p:spPr>
          <a:xfrm>
            <a:off x="11568232" y="266045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6"/>
          <p:cNvSpPr/>
          <p:nvPr/>
        </p:nvSpPr>
        <p:spPr>
          <a:xfrm>
            <a:off x="9897427" y="3440192"/>
            <a:ext cx="3681770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Distribution &amp; Revenue Streams</a:t>
            </a:r>
            <a:endParaRPr lang="en-US" sz="2650" dirty="0"/>
          </a:p>
        </p:txBody>
      </p:sp>
      <p:sp>
        <p:nvSpPr>
          <p:cNvPr id="19" name="Text 17"/>
          <p:cNvSpPr/>
          <p:nvPr/>
        </p:nvSpPr>
        <p:spPr>
          <a:xfrm>
            <a:off x="9897427" y="4426863"/>
            <a:ext cx="3681770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Subscription Features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Analytics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Enterprise SSO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Affiliate Tracking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Storage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612696"/>
            <a:ext cx="5316260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Core Costs</a:t>
            </a:r>
            <a:endParaRPr lang="en-US" sz="4150" dirty="0"/>
          </a:p>
        </p:txBody>
      </p:sp>
      <p:sp>
        <p:nvSpPr>
          <p:cNvPr id="3" name="Shape 1"/>
          <p:cNvSpPr/>
          <p:nvPr/>
        </p:nvSpPr>
        <p:spPr>
          <a:xfrm>
            <a:off x="744260" y="1675805"/>
            <a:ext cx="938689" cy="757595"/>
          </a:xfrm>
          <a:prstGeom prst="roundRect">
            <a:avLst>
              <a:gd name="adj" fmla="val 4210"/>
            </a:avLst>
          </a:prstGeom>
          <a:solidFill>
            <a:srgbClr val="204C8E"/>
          </a:solidFill>
          <a:ln/>
        </p:spPr>
      </p:sp>
      <p:sp>
        <p:nvSpPr>
          <p:cNvPr id="4" name="Text 2"/>
          <p:cNvSpPr/>
          <p:nvPr/>
        </p:nvSpPr>
        <p:spPr>
          <a:xfrm>
            <a:off x="1064062" y="1867733"/>
            <a:ext cx="298966" cy="3737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1895594" y="1888450"/>
            <a:ext cx="2522458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 Stack and R&amp;D</a:t>
            </a:r>
            <a:endParaRPr lang="en-US" sz="2050" dirty="0"/>
          </a:p>
        </p:txBody>
      </p:sp>
      <p:sp>
        <p:nvSpPr>
          <p:cNvPr id="6" name="Shape 4"/>
          <p:cNvSpPr/>
          <p:nvPr/>
        </p:nvSpPr>
        <p:spPr>
          <a:xfrm>
            <a:off x="1789271" y="2423874"/>
            <a:ext cx="11990546" cy="11430"/>
          </a:xfrm>
          <a:prstGeom prst="roundRect">
            <a:avLst>
              <a:gd name="adj" fmla="val 279070"/>
            </a:avLst>
          </a:prstGeom>
          <a:solidFill>
            <a:srgbClr val="204C8E"/>
          </a:solidFill>
          <a:ln/>
        </p:spPr>
      </p:sp>
      <p:sp>
        <p:nvSpPr>
          <p:cNvPr id="7" name="Shape 5"/>
          <p:cNvSpPr/>
          <p:nvPr/>
        </p:nvSpPr>
        <p:spPr>
          <a:xfrm>
            <a:off x="744260" y="2539722"/>
            <a:ext cx="1877378" cy="757595"/>
          </a:xfrm>
          <a:prstGeom prst="roundRect">
            <a:avLst>
              <a:gd name="adj" fmla="val 4210"/>
            </a:avLst>
          </a:prstGeom>
          <a:solidFill>
            <a:srgbClr val="204C8E"/>
          </a:solidFill>
          <a:ln/>
        </p:spPr>
      </p:sp>
      <p:sp>
        <p:nvSpPr>
          <p:cNvPr id="8" name="Text 6"/>
          <p:cNvSpPr/>
          <p:nvPr/>
        </p:nvSpPr>
        <p:spPr>
          <a:xfrm>
            <a:off x="1533406" y="2731651"/>
            <a:ext cx="298966" cy="3737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2834283" y="2752368"/>
            <a:ext cx="1261229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Personnel</a:t>
            </a:r>
            <a:endParaRPr lang="en-US" sz="2050" dirty="0"/>
          </a:p>
        </p:txBody>
      </p:sp>
      <p:sp>
        <p:nvSpPr>
          <p:cNvPr id="10" name="Shape 8"/>
          <p:cNvSpPr/>
          <p:nvPr/>
        </p:nvSpPr>
        <p:spPr>
          <a:xfrm>
            <a:off x="2727960" y="3287792"/>
            <a:ext cx="11051858" cy="11430"/>
          </a:xfrm>
          <a:prstGeom prst="roundRect">
            <a:avLst>
              <a:gd name="adj" fmla="val 279070"/>
            </a:avLst>
          </a:prstGeom>
          <a:solidFill>
            <a:srgbClr val="204C8E"/>
          </a:solidFill>
          <a:ln/>
        </p:spPr>
      </p:sp>
      <p:sp>
        <p:nvSpPr>
          <p:cNvPr id="11" name="Shape 9"/>
          <p:cNvSpPr/>
          <p:nvPr/>
        </p:nvSpPr>
        <p:spPr>
          <a:xfrm>
            <a:off x="744260" y="3403640"/>
            <a:ext cx="2816066" cy="757595"/>
          </a:xfrm>
          <a:prstGeom prst="roundRect">
            <a:avLst>
              <a:gd name="adj" fmla="val 4210"/>
            </a:avLst>
          </a:prstGeom>
          <a:solidFill>
            <a:srgbClr val="204C8E"/>
          </a:solidFill>
          <a:ln/>
        </p:spPr>
      </p:sp>
      <p:sp>
        <p:nvSpPr>
          <p:cNvPr id="12" name="Text 10"/>
          <p:cNvSpPr/>
          <p:nvPr/>
        </p:nvSpPr>
        <p:spPr>
          <a:xfrm>
            <a:off x="2002750" y="3595568"/>
            <a:ext cx="298966" cy="3737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350" dirty="0"/>
          </a:p>
        </p:txBody>
      </p:sp>
      <p:sp>
        <p:nvSpPr>
          <p:cNvPr id="13" name="Text 11"/>
          <p:cNvSpPr/>
          <p:nvPr/>
        </p:nvSpPr>
        <p:spPr>
          <a:xfrm>
            <a:off x="3772972" y="3616285"/>
            <a:ext cx="2551033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Testing &amp; Validation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3666649" y="4151709"/>
            <a:ext cx="10113169" cy="11430"/>
          </a:xfrm>
          <a:prstGeom prst="roundRect">
            <a:avLst>
              <a:gd name="adj" fmla="val 279070"/>
            </a:avLst>
          </a:prstGeom>
          <a:solidFill>
            <a:srgbClr val="204C8E"/>
          </a:solidFill>
          <a:ln/>
        </p:spPr>
      </p:sp>
      <p:sp>
        <p:nvSpPr>
          <p:cNvPr id="15" name="Shape 13"/>
          <p:cNvSpPr/>
          <p:nvPr/>
        </p:nvSpPr>
        <p:spPr>
          <a:xfrm>
            <a:off x="744260" y="4267557"/>
            <a:ext cx="3754755" cy="757595"/>
          </a:xfrm>
          <a:prstGeom prst="roundRect">
            <a:avLst>
              <a:gd name="adj" fmla="val 4210"/>
            </a:avLst>
          </a:prstGeom>
          <a:solidFill>
            <a:srgbClr val="204C8E"/>
          </a:solidFill>
          <a:ln/>
        </p:spPr>
      </p:sp>
      <p:sp>
        <p:nvSpPr>
          <p:cNvPr id="16" name="Text 14"/>
          <p:cNvSpPr/>
          <p:nvPr/>
        </p:nvSpPr>
        <p:spPr>
          <a:xfrm>
            <a:off x="2472095" y="4459486"/>
            <a:ext cx="298966" cy="3737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2350" dirty="0"/>
          </a:p>
        </p:txBody>
      </p:sp>
      <p:sp>
        <p:nvSpPr>
          <p:cNvPr id="17" name="Text 15"/>
          <p:cNvSpPr/>
          <p:nvPr/>
        </p:nvSpPr>
        <p:spPr>
          <a:xfrm>
            <a:off x="4711660" y="4480203"/>
            <a:ext cx="2135981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General &amp; Admin</a:t>
            </a:r>
            <a:endParaRPr lang="en-US" sz="2050" dirty="0"/>
          </a:p>
        </p:txBody>
      </p:sp>
      <p:sp>
        <p:nvSpPr>
          <p:cNvPr id="18" name="Shape 16"/>
          <p:cNvSpPr/>
          <p:nvPr/>
        </p:nvSpPr>
        <p:spPr>
          <a:xfrm>
            <a:off x="4605338" y="5015627"/>
            <a:ext cx="9174480" cy="11430"/>
          </a:xfrm>
          <a:prstGeom prst="roundRect">
            <a:avLst>
              <a:gd name="adj" fmla="val 279070"/>
            </a:avLst>
          </a:prstGeom>
          <a:solidFill>
            <a:srgbClr val="204C8E"/>
          </a:solidFill>
          <a:ln/>
        </p:spPr>
      </p:sp>
      <p:sp>
        <p:nvSpPr>
          <p:cNvPr id="19" name="Shape 17"/>
          <p:cNvSpPr/>
          <p:nvPr/>
        </p:nvSpPr>
        <p:spPr>
          <a:xfrm>
            <a:off x="744260" y="5131475"/>
            <a:ext cx="4693444" cy="757595"/>
          </a:xfrm>
          <a:prstGeom prst="roundRect">
            <a:avLst>
              <a:gd name="adj" fmla="val 4210"/>
            </a:avLst>
          </a:prstGeom>
          <a:solidFill>
            <a:srgbClr val="204C8E"/>
          </a:solidFill>
          <a:ln/>
        </p:spPr>
      </p:sp>
      <p:sp>
        <p:nvSpPr>
          <p:cNvPr id="20" name="Text 18"/>
          <p:cNvSpPr/>
          <p:nvPr/>
        </p:nvSpPr>
        <p:spPr>
          <a:xfrm>
            <a:off x="2941439" y="5323403"/>
            <a:ext cx="298966" cy="3737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</a:t>
            </a:r>
            <a:endParaRPr lang="en-US" sz="2350" dirty="0"/>
          </a:p>
        </p:txBody>
      </p:sp>
      <p:sp>
        <p:nvSpPr>
          <p:cNvPr id="21" name="Text 19"/>
          <p:cNvSpPr/>
          <p:nvPr/>
        </p:nvSpPr>
        <p:spPr>
          <a:xfrm>
            <a:off x="5650349" y="5344120"/>
            <a:ext cx="226695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Sales &amp; Marketing</a:t>
            </a:r>
            <a:endParaRPr lang="en-US" sz="2050" dirty="0"/>
          </a:p>
        </p:txBody>
      </p:sp>
      <p:sp>
        <p:nvSpPr>
          <p:cNvPr id="22" name="Shape 20"/>
          <p:cNvSpPr/>
          <p:nvPr/>
        </p:nvSpPr>
        <p:spPr>
          <a:xfrm>
            <a:off x="5544026" y="5879544"/>
            <a:ext cx="8235791" cy="11430"/>
          </a:xfrm>
          <a:prstGeom prst="roundRect">
            <a:avLst>
              <a:gd name="adj" fmla="val 279070"/>
            </a:avLst>
          </a:prstGeom>
          <a:solidFill>
            <a:srgbClr val="204C8E"/>
          </a:solidFill>
          <a:ln/>
        </p:spPr>
      </p:sp>
      <p:sp>
        <p:nvSpPr>
          <p:cNvPr id="23" name="Shape 21"/>
          <p:cNvSpPr/>
          <p:nvPr/>
        </p:nvSpPr>
        <p:spPr>
          <a:xfrm>
            <a:off x="744260" y="5995392"/>
            <a:ext cx="5632133" cy="757595"/>
          </a:xfrm>
          <a:prstGeom prst="roundRect">
            <a:avLst>
              <a:gd name="adj" fmla="val 4210"/>
            </a:avLst>
          </a:prstGeom>
          <a:solidFill>
            <a:srgbClr val="204C8E"/>
          </a:solidFill>
          <a:ln/>
        </p:spPr>
      </p:sp>
      <p:sp>
        <p:nvSpPr>
          <p:cNvPr id="24" name="Text 22"/>
          <p:cNvSpPr/>
          <p:nvPr/>
        </p:nvSpPr>
        <p:spPr>
          <a:xfrm>
            <a:off x="3410783" y="6187321"/>
            <a:ext cx="298966" cy="3737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6</a:t>
            </a:r>
            <a:endParaRPr lang="en-US" sz="2350" dirty="0"/>
          </a:p>
        </p:txBody>
      </p:sp>
      <p:sp>
        <p:nvSpPr>
          <p:cNvPr id="25" name="Text 23"/>
          <p:cNvSpPr/>
          <p:nvPr/>
        </p:nvSpPr>
        <p:spPr>
          <a:xfrm>
            <a:off x="6589038" y="6208038"/>
            <a:ext cx="1845112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App Store Fees</a:t>
            </a:r>
            <a:endParaRPr lang="en-US" sz="2050" dirty="0"/>
          </a:p>
        </p:txBody>
      </p:sp>
      <p:sp>
        <p:nvSpPr>
          <p:cNvPr id="26" name="Shape 24"/>
          <p:cNvSpPr/>
          <p:nvPr/>
        </p:nvSpPr>
        <p:spPr>
          <a:xfrm>
            <a:off x="6482715" y="6743462"/>
            <a:ext cx="7297103" cy="11430"/>
          </a:xfrm>
          <a:prstGeom prst="roundRect">
            <a:avLst>
              <a:gd name="adj" fmla="val 279070"/>
            </a:avLst>
          </a:prstGeom>
          <a:solidFill>
            <a:srgbClr val="204C8E"/>
          </a:solidFill>
          <a:ln/>
        </p:spPr>
      </p:sp>
      <p:sp>
        <p:nvSpPr>
          <p:cNvPr id="27" name="Shape 25"/>
          <p:cNvSpPr/>
          <p:nvPr/>
        </p:nvSpPr>
        <p:spPr>
          <a:xfrm>
            <a:off x="744260" y="6859310"/>
            <a:ext cx="6570940" cy="757595"/>
          </a:xfrm>
          <a:prstGeom prst="roundRect">
            <a:avLst>
              <a:gd name="adj" fmla="val 4210"/>
            </a:avLst>
          </a:prstGeom>
          <a:solidFill>
            <a:srgbClr val="204C8E"/>
          </a:solidFill>
          <a:ln/>
        </p:spPr>
      </p:sp>
      <p:sp>
        <p:nvSpPr>
          <p:cNvPr id="28" name="Text 26"/>
          <p:cNvSpPr/>
          <p:nvPr/>
        </p:nvSpPr>
        <p:spPr>
          <a:xfrm>
            <a:off x="3880247" y="7051238"/>
            <a:ext cx="298966" cy="3737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7</a:t>
            </a:r>
            <a:endParaRPr lang="en-US" sz="2350" dirty="0"/>
          </a:p>
        </p:txBody>
      </p:sp>
      <p:sp>
        <p:nvSpPr>
          <p:cNvPr id="29" name="Text 27"/>
          <p:cNvSpPr/>
          <p:nvPr/>
        </p:nvSpPr>
        <p:spPr>
          <a:xfrm>
            <a:off x="7527846" y="7071955"/>
            <a:ext cx="2945844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Legal Fees &amp; Insurance </a:t>
            </a:r>
            <a:endParaRPr lang="en-US" sz="2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758" y="656153"/>
            <a:ext cx="5227558" cy="653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1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Our Ask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1045369" y="1911906"/>
            <a:ext cx="12853273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goal is to raise </a:t>
            </a:r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$815,000</a:t>
            </a:r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through friends and family, initial angel investors, and crowdfunding. 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758" y="1695093"/>
            <a:ext cx="22860" cy="754975"/>
          </a:xfrm>
          <a:prstGeom prst="rect">
            <a:avLst/>
          </a:prstGeom>
          <a:solidFill>
            <a:srgbClr val="66A8EE"/>
          </a:solidFill>
          <a:ln/>
        </p:spPr>
      </p:sp>
      <p:sp>
        <p:nvSpPr>
          <p:cNvPr id="5" name="Shape 3"/>
          <p:cNvSpPr/>
          <p:nvPr/>
        </p:nvSpPr>
        <p:spPr>
          <a:xfrm>
            <a:off x="731758" y="2771418"/>
            <a:ext cx="5824776" cy="261342"/>
          </a:xfrm>
          <a:prstGeom prst="roundRect">
            <a:avLst>
              <a:gd name="adj" fmla="val 12002"/>
            </a:avLst>
          </a:prstGeom>
          <a:solidFill>
            <a:srgbClr val="3F465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758" y="2771418"/>
            <a:ext cx="3494842" cy="2613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13339" y="2771418"/>
            <a:ext cx="481370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60%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731758" y="3281839"/>
            <a:ext cx="3470553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Product Development Team 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731758" y="3724037"/>
            <a:ext cx="6462951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Full-stack developer, ML engineer, QA engineer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435572" y="2771418"/>
            <a:ext cx="5874306" cy="261342"/>
          </a:xfrm>
          <a:prstGeom prst="roundRect">
            <a:avLst>
              <a:gd name="adj" fmla="val 12002"/>
            </a:avLst>
          </a:prstGeom>
          <a:solidFill>
            <a:srgbClr val="3F465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5572" y="2771418"/>
            <a:ext cx="881063" cy="2613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466683" y="2771418"/>
            <a:ext cx="431959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15%</a:t>
            </a:r>
            <a:endParaRPr lang="en-US" sz="2050" dirty="0"/>
          </a:p>
        </p:txBody>
      </p:sp>
      <p:sp>
        <p:nvSpPr>
          <p:cNvPr id="13" name="Text 9"/>
          <p:cNvSpPr/>
          <p:nvPr/>
        </p:nvSpPr>
        <p:spPr>
          <a:xfrm>
            <a:off x="7435572" y="3281839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Operations</a:t>
            </a:r>
            <a:endParaRPr lang="en-US" sz="2050" dirty="0"/>
          </a:p>
        </p:txBody>
      </p:sp>
      <p:sp>
        <p:nvSpPr>
          <p:cNvPr id="14" name="Text 10"/>
          <p:cNvSpPr/>
          <p:nvPr/>
        </p:nvSpPr>
        <p:spPr>
          <a:xfrm>
            <a:off x="7435572" y="3724037"/>
            <a:ext cx="6463070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Data, tech stack, hardware, simulation software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731758" y="4535448"/>
            <a:ext cx="5975866" cy="261342"/>
          </a:xfrm>
          <a:prstGeom prst="roundRect">
            <a:avLst>
              <a:gd name="adj" fmla="val 12002"/>
            </a:avLst>
          </a:prstGeom>
          <a:solidFill>
            <a:srgbClr val="3F465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758" y="4535448"/>
            <a:ext cx="418267" cy="2613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64429" y="4535448"/>
            <a:ext cx="330279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7%</a:t>
            </a:r>
            <a:endParaRPr lang="en-US" sz="2050" dirty="0"/>
          </a:p>
        </p:txBody>
      </p:sp>
      <p:sp>
        <p:nvSpPr>
          <p:cNvPr id="18" name="Text 13"/>
          <p:cNvSpPr/>
          <p:nvPr/>
        </p:nvSpPr>
        <p:spPr>
          <a:xfrm>
            <a:off x="731758" y="5045869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Legal</a:t>
            </a:r>
            <a:endParaRPr lang="en-US" sz="2050" dirty="0"/>
          </a:p>
        </p:txBody>
      </p:sp>
      <p:sp>
        <p:nvSpPr>
          <p:cNvPr id="19" name="Text 14"/>
          <p:cNvSpPr/>
          <p:nvPr/>
        </p:nvSpPr>
        <p:spPr>
          <a:xfrm>
            <a:off x="731758" y="5488067"/>
            <a:ext cx="6462951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Incorporation, patent filing, NDAs, audits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7435572" y="4535448"/>
            <a:ext cx="5973961" cy="261342"/>
          </a:xfrm>
          <a:prstGeom prst="roundRect">
            <a:avLst>
              <a:gd name="adj" fmla="val 12002"/>
            </a:avLst>
          </a:prstGeom>
          <a:solidFill>
            <a:srgbClr val="3F465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5572" y="4535448"/>
            <a:ext cx="358378" cy="2613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566338" y="4535448"/>
            <a:ext cx="332303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6%</a:t>
            </a:r>
            <a:endParaRPr lang="en-US" sz="2050" dirty="0"/>
          </a:p>
        </p:txBody>
      </p:sp>
      <p:sp>
        <p:nvSpPr>
          <p:cNvPr id="23" name="Text 17"/>
          <p:cNvSpPr/>
          <p:nvPr/>
        </p:nvSpPr>
        <p:spPr>
          <a:xfrm>
            <a:off x="7435572" y="5045869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Marketing</a:t>
            </a:r>
            <a:endParaRPr lang="en-US" sz="2050" dirty="0"/>
          </a:p>
        </p:txBody>
      </p:sp>
      <p:sp>
        <p:nvSpPr>
          <p:cNvPr id="24" name="Text 18"/>
          <p:cNvSpPr/>
          <p:nvPr/>
        </p:nvSpPr>
        <p:spPr>
          <a:xfrm>
            <a:off x="7435572" y="5488067"/>
            <a:ext cx="6463070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research, initial marketing, partner engagement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731758" y="6299478"/>
            <a:ext cx="5862995" cy="261342"/>
          </a:xfrm>
          <a:prstGeom prst="roundRect">
            <a:avLst>
              <a:gd name="adj" fmla="val 12002"/>
            </a:avLst>
          </a:prstGeom>
          <a:solidFill>
            <a:srgbClr val="3F465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758" y="6299478"/>
            <a:ext cx="586264" cy="2613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751558" y="6299478"/>
            <a:ext cx="443151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10%</a:t>
            </a:r>
            <a:endParaRPr lang="en-US" sz="2050" dirty="0"/>
          </a:p>
        </p:txBody>
      </p:sp>
      <p:sp>
        <p:nvSpPr>
          <p:cNvPr id="28" name="Text 21"/>
          <p:cNvSpPr/>
          <p:nvPr/>
        </p:nvSpPr>
        <p:spPr>
          <a:xfrm>
            <a:off x="731758" y="6809899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Buffer</a:t>
            </a:r>
            <a:endParaRPr lang="en-US" sz="2050" dirty="0"/>
          </a:p>
        </p:txBody>
      </p:sp>
      <p:sp>
        <p:nvSpPr>
          <p:cNvPr id="29" name="Text 22"/>
          <p:cNvSpPr/>
          <p:nvPr/>
        </p:nvSpPr>
        <p:spPr>
          <a:xfrm>
            <a:off x="731758" y="7252097"/>
            <a:ext cx="6462951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Reserve for flexibility and contingencies, carry over</a:t>
            </a:r>
            <a:endParaRPr lang="en-US" sz="1600" dirty="0"/>
          </a:p>
        </p:txBody>
      </p:sp>
      <p:sp>
        <p:nvSpPr>
          <p:cNvPr id="30" name="Shape 23"/>
          <p:cNvSpPr/>
          <p:nvPr/>
        </p:nvSpPr>
        <p:spPr>
          <a:xfrm>
            <a:off x="7435572" y="6299478"/>
            <a:ext cx="5975628" cy="261342"/>
          </a:xfrm>
          <a:prstGeom prst="roundRect">
            <a:avLst>
              <a:gd name="adj" fmla="val 12002"/>
            </a:avLst>
          </a:prstGeom>
          <a:solidFill>
            <a:srgbClr val="3F465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5572" y="6299478"/>
            <a:ext cx="119420" cy="2613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3568005" y="6299478"/>
            <a:ext cx="330637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2%</a:t>
            </a:r>
            <a:endParaRPr lang="en-US" sz="2050" dirty="0"/>
          </a:p>
        </p:txBody>
      </p:sp>
      <p:sp>
        <p:nvSpPr>
          <p:cNvPr id="33" name="Text 25"/>
          <p:cNvSpPr/>
          <p:nvPr/>
        </p:nvSpPr>
        <p:spPr>
          <a:xfrm>
            <a:off x="7435572" y="6809899"/>
            <a:ext cx="312300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General &amp; Administrative</a:t>
            </a:r>
            <a:endParaRPr lang="en-US" sz="2050" dirty="0"/>
          </a:p>
        </p:txBody>
      </p:sp>
      <p:sp>
        <p:nvSpPr>
          <p:cNvPr id="34" name="Text 26"/>
          <p:cNvSpPr/>
          <p:nvPr/>
        </p:nvSpPr>
        <p:spPr>
          <a:xfrm>
            <a:off x="7435572" y="7252097"/>
            <a:ext cx="6463070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Office supplies, communication, etc. 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85599"/>
            <a:ext cx="59372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Development Partners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148007"/>
            <a:ext cx="13042821" cy="50958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8229" y="2628174"/>
            <a:ext cx="3867290" cy="35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Safety and Advocacy Groups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8038229" y="3511365"/>
            <a:ext cx="4160420" cy="35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Universities (Iowa, Minnesota)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8038229" y="4393358"/>
            <a:ext cx="4746682" cy="35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Model-Based Systems Engineering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8038229" y="5290946"/>
            <a:ext cx="3903681" cy="359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Oversight Agencies (NHTSA)</a:t>
            </a:r>
            <a:endParaRPr lang="en-US" sz="2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194929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35123" y="2426494"/>
            <a:ext cx="3898583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Year 0 Milestones</a:t>
            </a:r>
            <a:endParaRPr lang="en-US" sz="30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123" y="3074432"/>
            <a:ext cx="779621" cy="93559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821900" y="3230285"/>
            <a:ext cx="4271963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File LLC Articles of Organization in Delaware</a:t>
            </a:r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 </a:t>
            </a:r>
            <a:endParaRPr lang="en-US" sz="15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123" y="4010025"/>
            <a:ext cx="779621" cy="93559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821900" y="4165878"/>
            <a:ext cx="2748320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Hire Core Development Team </a:t>
            </a:r>
            <a:endParaRPr lang="en-US" sz="15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5123" y="4945618"/>
            <a:ext cx="779621" cy="93559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821900" y="5101471"/>
            <a:ext cx="2866787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Engage with Potential Partners</a:t>
            </a:r>
            <a:endParaRPr lang="en-US" sz="1500" dirty="0"/>
          </a:p>
        </p:txBody>
      </p:sp>
      <p:sp>
        <p:nvSpPr>
          <p:cNvPr id="10" name="Text 4"/>
          <p:cNvSpPr/>
          <p:nvPr/>
        </p:nvSpPr>
        <p:spPr>
          <a:xfrm>
            <a:off x="2821900" y="5409367"/>
            <a:ext cx="9873258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2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5123" y="5881211"/>
            <a:ext cx="779621" cy="93559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821900" y="6037064"/>
            <a:ext cx="3418046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Generate Proof of Concept Algorithm </a:t>
            </a:r>
            <a:endParaRPr lang="en-US" sz="15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5123" y="6816804"/>
            <a:ext cx="779621" cy="935593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2821900" y="6972657"/>
            <a:ext cx="4537829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Market Crowdfunding for Feedback and Funding </a:t>
            </a:r>
            <a:endParaRPr lang="en-US" sz="1500" dirty="0"/>
          </a:p>
        </p:txBody>
      </p:sp>
      <p:sp>
        <p:nvSpPr>
          <p:cNvPr id="15" name="Text 7"/>
          <p:cNvSpPr/>
          <p:nvPr/>
        </p:nvSpPr>
        <p:spPr>
          <a:xfrm>
            <a:off x="2821900" y="7280553"/>
            <a:ext cx="9873258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348" y="608290"/>
            <a:ext cx="5259586" cy="70129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552575"/>
            <a:ext cx="7556421" cy="284023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687116" y="4732973"/>
            <a:ext cx="576965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i="1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 New Driving Experience, Prioritizing You</a:t>
            </a:r>
            <a:endParaRPr lang="en-US" sz="2200" dirty="0"/>
          </a:p>
        </p:txBody>
      </p:sp>
      <p:pic>
        <p:nvPicPr>
          <p:cNvPr id="6" name="Image 3" descr="preencoded.png">
            <a:hlinkClick r:id="rId5" tooltip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8410" y="5427464"/>
            <a:ext cx="2207181" cy="623768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793790" y="6306383"/>
            <a:ext cx="7556421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team@seat-iq.com</a:t>
            </a:r>
            <a:endParaRPr lang="en-US" sz="1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93" y="581263"/>
            <a:ext cx="10264378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Cap Table &amp; Ownership by Funding Rounds</a:t>
            </a:r>
            <a:endParaRPr lang="en-US" sz="3950" dirty="0"/>
          </a:p>
        </p:txBody>
      </p:sp>
      <p:sp>
        <p:nvSpPr>
          <p:cNvPr id="3" name="Shape 1"/>
          <p:cNvSpPr/>
          <p:nvPr/>
        </p:nvSpPr>
        <p:spPr>
          <a:xfrm>
            <a:off x="706993" y="1572339"/>
            <a:ext cx="13216414" cy="3770709"/>
          </a:xfrm>
          <a:prstGeom prst="roundRect">
            <a:avLst>
              <a:gd name="adj" fmla="val 804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4613" y="1579959"/>
            <a:ext cx="13201174" cy="53649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6781" y="1695450"/>
            <a:ext cx="3816668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Equity Holders 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144929" y="1695450"/>
            <a:ext cx="268676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Ownership (Pre-funding)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43173" y="1695450"/>
            <a:ext cx="3052405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Round 1 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1707058" y="1695450"/>
            <a:ext cx="2006798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Seed Round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14613" y="2116455"/>
            <a:ext cx="13201174" cy="53649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6781" y="2231946"/>
            <a:ext cx="3816668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Founders (CEO, CTO, CFO)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144929" y="2231946"/>
            <a:ext cx="268676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80%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243173" y="2231946"/>
            <a:ext cx="3052405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70%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1707058" y="2231946"/>
            <a:ext cx="2006798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60%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14613" y="2652951"/>
            <a:ext cx="13201174" cy="53649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16781" y="2768441"/>
            <a:ext cx="3816668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Option Pool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144929" y="2768441"/>
            <a:ext cx="268676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15%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243173" y="2768441"/>
            <a:ext cx="3052405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15%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1707058" y="2768441"/>
            <a:ext cx="2006798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15%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14613" y="3189446"/>
            <a:ext cx="13201174" cy="53649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16781" y="3304937"/>
            <a:ext cx="3816668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Advisors 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5144929" y="3304937"/>
            <a:ext cx="268676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5%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243173" y="3304937"/>
            <a:ext cx="3052405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5%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1707058" y="3304937"/>
            <a:ext cx="2006798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5%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714613" y="3725942"/>
            <a:ext cx="13201174" cy="53649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16781" y="3841433"/>
            <a:ext cx="3816668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Friends and Family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5144929" y="3841433"/>
            <a:ext cx="268676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0%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243173" y="3841433"/>
            <a:ext cx="3052405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10%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1707058" y="3841433"/>
            <a:ext cx="2006798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10%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714613" y="4262438"/>
            <a:ext cx="13201174" cy="53649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16781" y="4377928"/>
            <a:ext cx="3816668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Seed Investors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5144929" y="4377928"/>
            <a:ext cx="268676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0%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8243173" y="4377928"/>
            <a:ext cx="3052405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0%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11707058" y="4377928"/>
            <a:ext cx="2006798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10%</a:t>
            </a:r>
            <a:endParaRPr lang="en-US" sz="1550" dirty="0"/>
          </a:p>
        </p:txBody>
      </p:sp>
      <p:sp>
        <p:nvSpPr>
          <p:cNvPr id="34" name="Shape 32"/>
          <p:cNvSpPr/>
          <p:nvPr/>
        </p:nvSpPr>
        <p:spPr>
          <a:xfrm>
            <a:off x="714613" y="4798933"/>
            <a:ext cx="13201174" cy="53649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916781" y="4914424"/>
            <a:ext cx="3816668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Total: 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5144929" y="4914424"/>
            <a:ext cx="268676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100%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8243173" y="4914424"/>
            <a:ext cx="3052405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100%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11707058" y="4914424"/>
            <a:ext cx="2006798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100%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706993" y="5707380"/>
            <a:ext cx="6361748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u="sng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Equity Conditions:</a:t>
            </a:r>
            <a:endParaRPr lang="en-US" sz="1550" dirty="0"/>
          </a:p>
        </p:txBody>
      </p:sp>
      <p:sp>
        <p:nvSpPr>
          <p:cNvPr id="40" name="Text 38"/>
          <p:cNvSpPr/>
          <p:nvPr/>
        </p:nvSpPr>
        <p:spPr>
          <a:xfrm>
            <a:off x="706993" y="6174819"/>
            <a:ext cx="6361748" cy="1410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year vesting period</a:t>
            </a:r>
            <a:endParaRPr lang="en-US" sz="155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year cliff</a:t>
            </a:r>
            <a:endParaRPr lang="en-US" sz="155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Option pool reserved for future hiring</a:t>
            </a:r>
            <a:endParaRPr lang="en-US" sz="155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Advisor equity typically 0.5%-1%</a:t>
            </a:r>
            <a:endParaRPr lang="en-US" sz="1550" dirty="0"/>
          </a:p>
        </p:txBody>
      </p:sp>
      <p:sp>
        <p:nvSpPr>
          <p:cNvPr id="41" name="Text 39"/>
          <p:cNvSpPr/>
          <p:nvPr/>
        </p:nvSpPr>
        <p:spPr>
          <a:xfrm>
            <a:off x="7569279" y="5707380"/>
            <a:ext cx="6361748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u="sng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Fundraising: </a:t>
            </a:r>
            <a:endParaRPr lang="en-US" sz="1550" dirty="0"/>
          </a:p>
        </p:txBody>
      </p:sp>
      <p:sp>
        <p:nvSpPr>
          <p:cNvPr id="42" name="Text 40"/>
          <p:cNvSpPr/>
          <p:nvPr/>
        </p:nvSpPr>
        <p:spPr>
          <a:xfrm>
            <a:off x="7569279" y="6174819"/>
            <a:ext cx="6361748" cy="1410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Conversations with friend and family</a:t>
            </a:r>
            <a:endParaRPr lang="en-US" sz="155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Crowdfunding to create beta test pool as well</a:t>
            </a:r>
            <a:endParaRPr lang="en-US" sz="155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Backed by incubator or NSF grant for scientific rigor</a:t>
            </a:r>
            <a:endParaRPr lang="en-US" sz="155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Search for city economic development fund ex. McKinney, TX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3737" y="486847"/>
            <a:ext cx="4341614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Core Costs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323737" y="1295400"/>
            <a:ext cx="3905607" cy="520898"/>
          </a:xfrm>
          <a:prstGeom prst="roundRect">
            <a:avLst>
              <a:gd name="adj" fmla="val 480089"/>
            </a:avLst>
          </a:prstGeom>
          <a:solidFill>
            <a:srgbClr val="3F4652"/>
          </a:solidFill>
          <a:ln/>
        </p:spPr>
      </p:sp>
      <p:sp>
        <p:nvSpPr>
          <p:cNvPr id="4" name="Text 2"/>
          <p:cNvSpPr/>
          <p:nvPr/>
        </p:nvSpPr>
        <p:spPr>
          <a:xfrm>
            <a:off x="3146346" y="1393031"/>
            <a:ext cx="260390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1497330" y="1949172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 Stack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97330" y="2300168"/>
            <a:ext cx="3558421" cy="161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Begin with outsourcing then move in-house</a:t>
            </a:r>
            <a:endParaRPr lang="en-US" sz="135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Begin at build</a:t>
            </a:r>
            <a:endParaRPr lang="en-US" sz="135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functionality and revenue stream requirements</a:t>
            </a:r>
            <a:endParaRPr lang="en-US" sz="135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Scales with user and revenue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62218" y="1295400"/>
            <a:ext cx="3905726" cy="520898"/>
          </a:xfrm>
          <a:prstGeom prst="roundRect">
            <a:avLst>
              <a:gd name="adj" fmla="val 480089"/>
            </a:avLst>
          </a:prstGeom>
          <a:solidFill>
            <a:srgbClr val="3F4652"/>
          </a:solidFill>
          <a:ln/>
        </p:spPr>
      </p:sp>
      <p:sp>
        <p:nvSpPr>
          <p:cNvPr id="8" name="Text 6"/>
          <p:cNvSpPr/>
          <p:nvPr/>
        </p:nvSpPr>
        <p:spPr>
          <a:xfrm>
            <a:off x="7184827" y="1393031"/>
            <a:ext cx="260390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5535811" y="1949172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Personnel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535811" y="2300168"/>
            <a:ext cx="3558540" cy="1564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developers, QA, UI/UX designer at build</a:t>
            </a:r>
            <a:endParaRPr lang="en-US" sz="135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C-suite take on various roles until expansion merits hiring</a:t>
            </a:r>
            <a:endParaRPr lang="en-US" sz="135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Expand as company scales with sales, marketing, account managers, HR, accountant 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400818" y="1295400"/>
            <a:ext cx="3905726" cy="520898"/>
          </a:xfrm>
          <a:prstGeom prst="roundRect">
            <a:avLst>
              <a:gd name="adj" fmla="val 480089"/>
            </a:avLst>
          </a:prstGeom>
          <a:solidFill>
            <a:srgbClr val="3F4652"/>
          </a:solidFill>
          <a:ln/>
        </p:spPr>
      </p:sp>
      <p:sp>
        <p:nvSpPr>
          <p:cNvPr id="12" name="Text 10"/>
          <p:cNvSpPr/>
          <p:nvPr/>
        </p:nvSpPr>
        <p:spPr>
          <a:xfrm>
            <a:off x="11223427" y="1393031"/>
            <a:ext cx="260390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9574411" y="1949172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Testing &amp; Validation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574411" y="2300168"/>
            <a:ext cx="355854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 with standards and risk mitigation in mind.</a:t>
            </a:r>
            <a:endParaRPr lang="en-US" sz="135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Includes an annual security audit, NHTSA stamps and other oversight agency approvals, plus maintenance fees.</a:t>
            </a:r>
            <a:endParaRPr lang="en-US" sz="135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Peaks in early years then decreases, flat with regular audits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323737" y="4416385"/>
            <a:ext cx="3905607" cy="520898"/>
          </a:xfrm>
          <a:prstGeom prst="roundRect">
            <a:avLst>
              <a:gd name="adj" fmla="val 480089"/>
            </a:avLst>
          </a:prstGeom>
          <a:solidFill>
            <a:srgbClr val="3F4652"/>
          </a:solidFill>
          <a:ln/>
        </p:spPr>
      </p:sp>
      <p:sp>
        <p:nvSpPr>
          <p:cNvPr id="16" name="Text 14"/>
          <p:cNvSpPr/>
          <p:nvPr/>
        </p:nvSpPr>
        <p:spPr>
          <a:xfrm>
            <a:off x="3146346" y="4514017"/>
            <a:ext cx="260390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2050" dirty="0"/>
          </a:p>
        </p:txBody>
      </p:sp>
      <p:sp>
        <p:nvSpPr>
          <p:cNvPr id="17" name="Text 15"/>
          <p:cNvSpPr/>
          <p:nvPr/>
        </p:nvSpPr>
        <p:spPr>
          <a:xfrm>
            <a:off x="1497330" y="5070158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App Store Fees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97330" y="5421154"/>
            <a:ext cx="3558421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Folded into per-sale revenue and grows with user volume</a:t>
            </a:r>
            <a:endParaRPr lang="en-US" sz="135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costs are bypassed with B2B sales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362218" y="4416385"/>
            <a:ext cx="3905726" cy="520898"/>
          </a:xfrm>
          <a:prstGeom prst="roundRect">
            <a:avLst>
              <a:gd name="adj" fmla="val 480089"/>
            </a:avLst>
          </a:prstGeom>
          <a:solidFill>
            <a:srgbClr val="3F4652"/>
          </a:solidFill>
          <a:ln/>
        </p:spPr>
      </p:sp>
      <p:sp>
        <p:nvSpPr>
          <p:cNvPr id="20" name="Text 18"/>
          <p:cNvSpPr/>
          <p:nvPr/>
        </p:nvSpPr>
        <p:spPr>
          <a:xfrm>
            <a:off x="7184827" y="4514017"/>
            <a:ext cx="260390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</a:t>
            </a:r>
            <a:endParaRPr lang="en-US" sz="2050" dirty="0"/>
          </a:p>
        </p:txBody>
      </p:sp>
      <p:sp>
        <p:nvSpPr>
          <p:cNvPr id="21" name="Text 19"/>
          <p:cNvSpPr/>
          <p:nvPr/>
        </p:nvSpPr>
        <p:spPr>
          <a:xfrm>
            <a:off x="5535811" y="5070158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General &amp; Admin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535811" y="5421154"/>
            <a:ext cx="3558540" cy="214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Starts with fully remote work and a small stipend for office use</a:t>
            </a:r>
            <a:endParaRPr lang="en-US" sz="135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Covers SaaS tools like Zoom and Microsoft Office, bookkeeping needs, HR needs</a:t>
            </a:r>
            <a:endParaRPr lang="en-US" sz="135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Legal fees and liability insurance</a:t>
            </a:r>
            <a:endParaRPr lang="en-US" sz="135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Talent acquisition </a:t>
            </a:r>
            <a:endParaRPr lang="en-US" sz="135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Grows with hiring and larger accounts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400818" y="4416385"/>
            <a:ext cx="3905726" cy="520898"/>
          </a:xfrm>
          <a:prstGeom prst="roundRect">
            <a:avLst>
              <a:gd name="adj" fmla="val 480089"/>
            </a:avLst>
          </a:prstGeom>
          <a:solidFill>
            <a:srgbClr val="3F4652"/>
          </a:solidFill>
          <a:ln/>
        </p:spPr>
      </p:sp>
      <p:sp>
        <p:nvSpPr>
          <p:cNvPr id="24" name="Text 22"/>
          <p:cNvSpPr/>
          <p:nvPr/>
        </p:nvSpPr>
        <p:spPr>
          <a:xfrm>
            <a:off x="11223427" y="4514017"/>
            <a:ext cx="260390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6</a:t>
            </a:r>
            <a:endParaRPr lang="en-US" sz="2050" dirty="0"/>
          </a:p>
        </p:txBody>
      </p:sp>
      <p:sp>
        <p:nvSpPr>
          <p:cNvPr id="25" name="Text 23"/>
          <p:cNvSpPr/>
          <p:nvPr/>
        </p:nvSpPr>
        <p:spPr>
          <a:xfrm>
            <a:off x="9574411" y="5070158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Sales &amp; Marketing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574411" y="5421154"/>
            <a:ext cx="3558540" cy="127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Includes paid acquisition, event costs, and tools.</a:t>
            </a:r>
            <a:endParaRPr lang="en-US" sz="1350" dirty="0"/>
          </a:p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Expands drastically as the business moves to B2B and scales with company growth.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574411" y="6773704"/>
            <a:ext cx="3558540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90568" y="473273"/>
            <a:ext cx="4075748" cy="509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Initial Valuation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0387" y="1290161"/>
            <a:ext cx="4293156" cy="2370058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578" y="1290161"/>
            <a:ext cx="3740587" cy="241434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90568" y="3968115"/>
            <a:ext cx="11249144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endParaRPr lang="en-US" sz="12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5446" y="4323993"/>
            <a:ext cx="7499390" cy="3432215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37344" y="5180925"/>
            <a:ext cx="482175" cy="482175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9307757" y="6678831"/>
            <a:ext cx="1407950" cy="27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Market</a:t>
            </a:r>
            <a:endParaRPr lang="en-US" sz="1700" dirty="0"/>
          </a:p>
        </p:txBody>
      </p:sp>
      <p:sp>
        <p:nvSpPr>
          <p:cNvPr id="9" name="Text 3"/>
          <p:cNvSpPr/>
          <p:nvPr/>
        </p:nvSpPr>
        <p:spPr>
          <a:xfrm>
            <a:off x="9307757" y="7027203"/>
            <a:ext cx="1407950" cy="447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(No competitor, new to market, large opportunity, attention)</a:t>
            </a:r>
            <a:endParaRPr lang="en-US" sz="105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72133" y="5181829"/>
            <a:ext cx="482175" cy="48217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7533354" y="6678831"/>
            <a:ext cx="1407950" cy="27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Team</a:t>
            </a:r>
            <a:endParaRPr lang="en-US" sz="1700" dirty="0"/>
          </a:p>
        </p:txBody>
      </p:sp>
      <p:sp>
        <p:nvSpPr>
          <p:cNvPr id="12" name="Text 5"/>
          <p:cNvSpPr/>
          <p:nvPr/>
        </p:nvSpPr>
        <p:spPr>
          <a:xfrm>
            <a:off x="7533354" y="7027203"/>
            <a:ext cx="1407950" cy="447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(Founder understanding, MBSE advisor)</a:t>
            </a:r>
            <a:endParaRPr lang="en-US" sz="105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07373" y="5181829"/>
            <a:ext cx="482175" cy="48217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5768594" y="6753418"/>
            <a:ext cx="1407950" cy="27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IP</a:t>
            </a:r>
            <a:endParaRPr lang="en-US" sz="1700" dirty="0"/>
          </a:p>
        </p:txBody>
      </p:sp>
      <p:sp>
        <p:nvSpPr>
          <p:cNvPr id="15" name="Text 7"/>
          <p:cNvSpPr/>
          <p:nvPr/>
        </p:nvSpPr>
        <p:spPr>
          <a:xfrm>
            <a:off x="5768594" y="7101789"/>
            <a:ext cx="1407950" cy="298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(Hard to replicate, possibility of moat)</a:t>
            </a:r>
            <a:endParaRPr lang="en-US" sz="105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32969" y="5181829"/>
            <a:ext cx="482175" cy="482175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3965260" y="6543219"/>
            <a:ext cx="1407950" cy="542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Technology &amp; Progress</a:t>
            </a:r>
            <a:endParaRPr lang="en-US" sz="1700" dirty="0"/>
          </a:p>
        </p:txBody>
      </p:sp>
      <p:sp>
        <p:nvSpPr>
          <p:cNvPr id="18" name="Text 9"/>
          <p:cNvSpPr/>
          <p:nvPr/>
        </p:nvSpPr>
        <p:spPr>
          <a:xfrm>
            <a:off x="3965260" y="7162814"/>
            <a:ext cx="1407950" cy="447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(Proof of Concept, prototype algorithm, app wireframe)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520065"/>
            <a:ext cx="7314962" cy="644723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3737" y="7166729"/>
            <a:ext cx="4341614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endParaRPr lang="en-US" sz="3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6733" y="520065"/>
            <a:ext cx="7856696" cy="644723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3737" y="7166729"/>
            <a:ext cx="4341614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endParaRPr lang="en-US" sz="3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1369" y="562213"/>
            <a:ext cx="7967424" cy="710505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1038"/>
            <a:ext cx="590764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COMPLIANCE LANDSCAPE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338739"/>
            <a:ext cx="532423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5E98F1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Government &amp; Regulatory Bodies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793790" y="2104192"/>
            <a:ext cx="13042821" cy="5444252"/>
          </a:xfrm>
          <a:prstGeom prst="roundRect">
            <a:avLst>
              <a:gd name="adj" fmla="val 625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111812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8462" y="2255520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Organization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289108" y="2255520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45943" y="2255520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Estimated Cost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802779" y="2255520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Needed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01410" y="2762131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28462" y="2905839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FTC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289108" y="2905839"/>
            <a:ext cx="27955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Consumer protection, data privacy enforcement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45943" y="2905839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Legal review: ~$5K–$15K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0802779" y="2905839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Pre-launch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801410" y="3775353"/>
            <a:ext cx="13027581" cy="137612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28462" y="3919061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FDA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4289108" y="3919061"/>
            <a:ext cx="279558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Ensure app is NOT classified as medical device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545943" y="3919061"/>
            <a:ext cx="27955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Legal classification: ~$5K–$10K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0802779" y="3919061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Pre-launch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5151477"/>
            <a:ext cx="13027581" cy="137612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8462" y="5295186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NHTSA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4289108" y="5295186"/>
            <a:ext cx="279558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Vehicle safety guidance, potential certification alignment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545943" y="5295186"/>
            <a:ext cx="27955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Testing/validation: ~$10K–$30K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10802779" y="5295186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Year 2–3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801410" y="6527602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28462" y="6671310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State Laws (CA, TX, IL)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4289108" y="6671310"/>
            <a:ext cx="27955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Biometric data compliance (e.g., BIPA in Illinois)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7545943" y="6671310"/>
            <a:ext cx="27955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Legal + audits: ~$10K–$25K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10802779" y="6671310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Pre-launch</a:t>
            </a:r>
            <a:endParaRPr lang="en-US" sz="1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72408"/>
            <a:ext cx="572285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5E98F1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Industry Standards &amp; Certifications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793790" y="2051328"/>
            <a:ext cx="13042821" cy="5005864"/>
          </a:xfrm>
          <a:prstGeom prst="roundRect">
            <a:avLst>
              <a:gd name="adj" fmla="val 68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058948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462" y="2202656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289108" y="2202656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Purpose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45943" y="2202656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802779" y="2202656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Needed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2709267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28462" y="2852976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ISO 26262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4289108" y="2852976"/>
            <a:ext cx="27955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Functional safety in vehicles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45943" y="2852976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$15K–$50K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0802779" y="2852976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Year 2–4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01410" y="3722489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28462" y="386619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ISO 11226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4289108" y="3866198"/>
            <a:ext cx="27955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Ergonomic posture standards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545943" y="3866198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$5K–$15K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0802779" y="386619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 validation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801410" y="4735711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28462" y="4879419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ISO 9241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4289108" y="4879419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Human-system interaction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545943" y="4879419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$5K–$20K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0802779" y="4879419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UX validation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801410" y="5386030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28462" y="5529739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SAE International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4289108" y="5529739"/>
            <a:ext cx="27955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Automotive engineering standards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7545943" y="5529739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$5K–$15K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10802779" y="5529739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Scaling phase</a:t>
            </a:r>
            <a:endParaRPr lang="en-US" sz="1750" dirty="0"/>
          </a:p>
        </p:txBody>
      </p:sp>
      <p:sp>
        <p:nvSpPr>
          <p:cNvPr id="29" name="Shape 27"/>
          <p:cNvSpPr/>
          <p:nvPr/>
        </p:nvSpPr>
        <p:spPr>
          <a:xfrm>
            <a:off x="801410" y="6399252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028462" y="6542961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SOC 2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4289108" y="6542961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security for B2B trust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7545943" y="6542961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$20K–$60K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10802779" y="6542961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Year 2–3</a:t>
            </a:r>
            <a:endParaRPr lang="en-US" sz="1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97568"/>
            <a:ext cx="46835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5E98F1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Platform &amp; Legal Compliance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793790" y="2376488"/>
            <a:ext cx="13042821" cy="4355544"/>
          </a:xfrm>
          <a:prstGeom prst="roundRect">
            <a:avLst>
              <a:gd name="adj" fmla="val 781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384108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462" y="2527816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Requirement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289108" y="2527816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Purpose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45943" y="2527816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802779" y="2527816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Needed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3034427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28462" y="3178135"/>
            <a:ext cx="279939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 Store Policies (Apple/Google)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4289108" y="3178135"/>
            <a:ext cx="27955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 approval &amp; privacy compliance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45943" y="3178135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 fees + rev share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0802779" y="3178135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Launch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01410" y="4047649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28462" y="4191357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ADA Compliance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4289108" y="4191357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Accessibility for all users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545943" y="4191357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$5K–$15K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0802779" y="4191357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Pre-launch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801410" y="4697968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28462" y="4841677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HIPAA (if applicable)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4289108" y="4841677"/>
            <a:ext cx="27955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Health data protection (only if medical claims)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545943" y="4841677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$10K–$50K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0802779" y="4841677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Conditional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801410" y="5711190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28462" y="585489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COPPA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4289108" y="5854898"/>
            <a:ext cx="27955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Child data protection (&lt;13 users)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7545943" y="5854898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$5K–$10K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10802779" y="585489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targeting minors</a:t>
            </a:r>
            <a:endParaRPr lang="en-US" sz="1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228" y="631746"/>
            <a:ext cx="4522827" cy="36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5E98F1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Saftey, Advocacy &amp; Accessibility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82228" y="1332190"/>
            <a:ext cx="13265944" cy="5150287"/>
          </a:xfrm>
          <a:prstGeom prst="roundRect">
            <a:avLst>
              <a:gd name="adj" fmla="val 568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9848" y="1339810"/>
            <a:ext cx="13250704" cy="50613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84753" y="1447919"/>
            <a:ext cx="291905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01239" y="1447919"/>
            <a:ext cx="291524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13915" y="1447919"/>
            <a:ext cx="291524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826591" y="1447919"/>
            <a:ext cx="291905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Needed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9848" y="1845945"/>
            <a:ext cx="13250704" cy="79605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84753" y="1954054"/>
            <a:ext cx="291905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IIHS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01239" y="1954054"/>
            <a:ext cx="2915245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Vehicle safety research alignment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513915" y="1954054"/>
            <a:ext cx="291524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Partnership-based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826591" y="1954054"/>
            <a:ext cx="291905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Year 2+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9848" y="2641997"/>
            <a:ext cx="13250704" cy="50613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84753" y="2750106"/>
            <a:ext cx="291905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 Roads Alliance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01239" y="2750106"/>
            <a:ext cx="291524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Road safety advocacy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513915" y="2750106"/>
            <a:ext cx="291524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 / partnership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826591" y="2750106"/>
            <a:ext cx="291905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Year 1+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9848" y="3148132"/>
            <a:ext cx="13250704" cy="50613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84753" y="3256240"/>
            <a:ext cx="291905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CarFit Program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201239" y="3256240"/>
            <a:ext cx="291524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Driver ergonomics &amp; positioning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513915" y="3256240"/>
            <a:ext cx="291524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 / collaboration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826591" y="3256240"/>
            <a:ext cx="291905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Early validation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89848" y="3654266"/>
            <a:ext cx="13250704" cy="79605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84753" y="3762375"/>
            <a:ext cx="291905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NAWHSL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201239" y="3762375"/>
            <a:ext cx="2915245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Women-focused safety leadership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513915" y="3762375"/>
            <a:ext cx="291524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Partnership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826591" y="3762375"/>
            <a:ext cx="291905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Growth phase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89848" y="4450318"/>
            <a:ext cx="13250704" cy="50613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84753" y="4558427"/>
            <a:ext cx="291905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Women Drive Too / HERide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201239" y="4558427"/>
            <a:ext cx="291524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Underserved driver advocacy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513915" y="4558427"/>
            <a:ext cx="291524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Partnership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826591" y="4558427"/>
            <a:ext cx="291905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Early adoption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89848" y="4956453"/>
            <a:ext cx="13250704" cy="50613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884753" y="5064562"/>
            <a:ext cx="291905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 Riders Program (TX)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201239" y="5064562"/>
            <a:ext cx="291524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Driver safety education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513915" y="5064562"/>
            <a:ext cx="291524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0826591" y="5064562"/>
            <a:ext cx="291905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Regional pilots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89848" y="5462588"/>
            <a:ext cx="13250704" cy="50613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884753" y="5570696"/>
            <a:ext cx="291905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Women in the Driver’s Seat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4201239" y="5570696"/>
            <a:ext cx="291524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Inclusive design insights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7513915" y="5570696"/>
            <a:ext cx="291524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Partnership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0826591" y="5570696"/>
            <a:ext cx="291905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Early design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689848" y="5968722"/>
            <a:ext cx="13250704" cy="50613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884753" y="6076831"/>
            <a:ext cx="291905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4201239" y="6076831"/>
            <a:ext cx="291524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7513915" y="6076831"/>
            <a:ext cx="291524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0826591" y="6076831"/>
            <a:ext cx="291905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682228" y="6670834"/>
            <a:ext cx="13265944" cy="927021"/>
          </a:xfrm>
          <a:prstGeom prst="roundRect">
            <a:avLst>
              <a:gd name="adj" fmla="val 3154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9848" y="6678454"/>
            <a:ext cx="13250704" cy="45589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89848" y="6678454"/>
            <a:ext cx="13250704" cy="455890"/>
          </a:xfrm>
          <a:prstGeom prst="roundRect">
            <a:avLst>
              <a:gd name="adj" fmla="val 6414"/>
            </a:avLst>
          </a:prstGeom>
          <a:solidFill>
            <a:srgbClr val="202733"/>
          </a:solidFill>
          <a:ln/>
        </p:spPr>
      </p:sp>
      <p:sp>
        <p:nvSpPr>
          <p:cNvPr id="52" name="Text 50"/>
          <p:cNvSpPr/>
          <p:nvPr/>
        </p:nvSpPr>
        <p:spPr>
          <a:xfrm>
            <a:off x="884753" y="6786562"/>
            <a:ext cx="12860893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Estimated Compliance Investment: ~$50K – $150K (Early–Mid Stage)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689848" y="7134344"/>
            <a:ext cx="13250704" cy="45589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884753" y="7242453"/>
            <a:ext cx="12860893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Critical for user trust, safety validation, and B2B partnerships.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6014" y="474226"/>
            <a:ext cx="11738253" cy="65582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46014" y="7223760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endParaRPr lang="en-US" sz="3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23129"/>
            <a:ext cx="1051452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Business Model &amp; Fundraising Strategy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2263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Business Model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2788087"/>
            <a:ext cx="130428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B2B licensing: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partnerships with dealerships, fleets, and insurance providers to scale distribution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Subscription model: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recurring revenue through Basic and Pro tiers with premium features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Distribution: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app stores and strategic partnerships and integrations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37554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Fundraising Strategy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93790" y="5141000"/>
            <a:ext cx="130428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Pre-seed: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grants, incubators, and friends &amp; family funding to build and validate early product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Seed: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early investors to fund development, hiring, and market entry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Growth: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scale through B2B partnerships, user expansion, and data-driven insights 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664344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12056"/>
            <a:ext cx="56974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Input &amp; Output Model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74463"/>
            <a:ext cx="13042821" cy="4642961"/>
          </a:xfrm>
          <a:prstGeom prst="roundRect">
            <a:avLst>
              <a:gd name="adj" fmla="val 733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38208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224" y="2525792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Input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45824" y="2525792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801410" y="3032403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28224" y="3176111"/>
            <a:ext cx="60563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Development team (developers, quality assurance, user interface/user experience)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45824" y="3176111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Functional SeatIQ mobile application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01410" y="4045625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28224" y="4189333"/>
            <a:ext cx="60563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Technology &amp; software (app development tools, cloud services)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45824" y="4189333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seating guidance &amp; safety feedback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1410" y="5058847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28224" y="5202555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(user positioning data, driving behavior insights)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45824" y="5202555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data insights for optimization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5709166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8224" y="5852874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Funding (grants, early investment)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545824" y="5852874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Subscription revenue (Basic &amp; Pro users)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801410" y="6359485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28224" y="6503194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Partnerships (insurance companies, dealerships)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545824" y="6503194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B2B licensing revenue</a:t>
            </a:r>
            <a:endParaRPr lang="en-US" sz="1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5701"/>
            <a:ext cx="84657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B2B Partnerships &amp; Distribution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08108"/>
            <a:ext cx="13042821" cy="5375672"/>
          </a:xfrm>
          <a:prstGeom prst="roundRect">
            <a:avLst>
              <a:gd name="adj" fmla="val 633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015728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462" y="2159437"/>
            <a:ext cx="235648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Partners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3846195" y="2159437"/>
            <a:ext cx="232267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we will sell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630114" y="2159437"/>
            <a:ext cx="21363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we will deliver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227701" y="2159437"/>
            <a:ext cx="20204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Value to partners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709440" y="2159437"/>
            <a:ext cx="18927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streams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01410" y="2666048"/>
            <a:ext cx="13027581" cy="471011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28462" y="2809756"/>
            <a:ext cx="2356485" cy="2313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Dealerships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Fleet companies (commercial vehicles, delivery services)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Insurance providers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3846195" y="2809756"/>
            <a:ext cx="2322671" cy="3039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Bulk licensing agreements with organizations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Pricing based on number of users or vehicles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Tiered plans (Basic vs Pro)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6630114" y="2809756"/>
            <a:ext cx="2136338" cy="4490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Partners will receive batches of secure access codes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Codes will be distributed to drivers/customers during onboarding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Users activate SeatIQ through the mobile app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9227701" y="2809756"/>
            <a:ext cx="2020491" cy="4490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Improves driver safety and reduces risk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data insights for insurance and fleet optimization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Enhances customer experience at dealerships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1709440" y="2809756"/>
            <a:ext cx="18927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Recurring B2B licensing fees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11709440" y="3671649"/>
            <a:ext cx="1892737" cy="2608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Subscription upgrades (Basic to Pro version)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Long term contracts with partners</a:t>
            </a:r>
            <a:endParaRPr lang="en-US" sz="1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12846" y="526733"/>
            <a:ext cx="4796552" cy="498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Operational Assumptions</a:t>
            </a:r>
            <a:endParaRPr lang="en-US" sz="3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2846" y="1727716"/>
            <a:ext cx="3593425" cy="114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72270" y="2318147"/>
            <a:ext cx="2053947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Timeline &amp; Marketing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1972270" y="2634496"/>
            <a:ext cx="3274576" cy="1412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Media hype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Advocacy and influencer traction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B2C growth shows demand for B2B growth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Insurance companies are latest launch due to proof of demand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Beta test users develop word of mouth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Development timeline</a:t>
            </a:r>
            <a:endParaRPr lang="en-US" sz="12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309" y="1488519"/>
            <a:ext cx="3593544" cy="1143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77733" y="2078950"/>
            <a:ext cx="1993583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Oversight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5677733" y="2395299"/>
            <a:ext cx="3274695" cy="1025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Meet compliance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Federal laws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Biofidelity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 run beta tests with minimal compliance 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891" y="1249323"/>
            <a:ext cx="3593544" cy="1143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83316" y="1839754"/>
            <a:ext cx="1993583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Technology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9383316" y="2156103"/>
            <a:ext cx="3274695" cy="1877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MediaPipe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Speed of recommendation &amp; update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improvement 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Proof of concept &amp; existing tools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Pain/comfort, accessibility, safety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Integration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available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Physical limitation 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devs, QA, and UI/UX —&gt; MVP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2846" y="4811077"/>
            <a:ext cx="3593425" cy="11430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72270" y="5401508"/>
            <a:ext cx="1993583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Customers (B2C)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1972270" y="5717858"/>
            <a:ext cx="3274576" cy="1238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Expansion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Comfortable with data collection 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Drive regularly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Experience pain point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Will pay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Will change behavior</a:t>
            </a:r>
            <a:endParaRPr lang="en-US" sz="12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8309" y="4571881"/>
            <a:ext cx="3593544" cy="11430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677733" y="5162312"/>
            <a:ext cx="1993583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Customers (B2B)</a:t>
            </a:r>
            <a:endParaRPr lang="en-US" sz="1550" dirty="0"/>
          </a:p>
        </p:txBody>
      </p:sp>
      <p:sp>
        <p:nvSpPr>
          <p:cNvPr id="17" name="Text 10"/>
          <p:cNvSpPr/>
          <p:nvPr/>
        </p:nvSpPr>
        <p:spPr>
          <a:xfrm>
            <a:off x="5677733" y="5478661"/>
            <a:ext cx="3274695" cy="1199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Company operations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Independent operations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Volume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Enough diversity through channels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SOM, 35% B2C, 25% Wholesale, 40% Revenue Sharing</a:t>
            </a:r>
            <a:endParaRPr lang="en-US" sz="12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3891" y="4332684"/>
            <a:ext cx="3593544" cy="11430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383316" y="4923115"/>
            <a:ext cx="1993583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Costs &amp; Pricing</a:t>
            </a:r>
            <a:endParaRPr lang="en-US" sz="1550" dirty="0"/>
          </a:p>
        </p:txBody>
      </p:sp>
      <p:sp>
        <p:nvSpPr>
          <p:cNvPr id="20" name="Text 12"/>
          <p:cNvSpPr/>
          <p:nvPr/>
        </p:nvSpPr>
        <p:spPr>
          <a:xfrm>
            <a:off x="9383316" y="5239464"/>
            <a:ext cx="3274695" cy="2303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Appealing and stable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&gt; cost for all streams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can be sold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20% wholesale discount w/ upfront purchase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sharing split 95/5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yr subscription mandatory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80% basic, 20% Pro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10% churn yr 1 - 2, 6% after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B2B sales bypass app store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Outsource tech —&gt; move in-house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Staged hiring with C-suite in hands-on roles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2026-04-30T21:12:17Z</dcterms:created>
  <dcterms:modified xsi:type="dcterms:W3CDTF">2026-04-30T21:12:17Z</dcterms:modified>
</cp:coreProperties>
</file>